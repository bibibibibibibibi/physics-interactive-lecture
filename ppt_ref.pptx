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ctiveX/activeX1.bin" ContentType="application/vnd.ms-office.activeX"/>
  <Override PartName="/ppt/activeX/activeX1.xml" ContentType="application/vnd.ms-office.activeX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98" r:id="rId4"/>
    <p:sldId id="303" r:id="rId6"/>
    <p:sldId id="256" r:id="rId7"/>
    <p:sldId id="304" r:id="rId8"/>
    <p:sldId id="300" r:id="rId9"/>
    <p:sldId id="305" r:id="rId10"/>
    <p:sldId id="306" r:id="rId11"/>
    <p:sldId id="302" r:id="rId12"/>
    <p:sldId id="310" r:id="rId13"/>
    <p:sldId id="311" r:id="rId14"/>
    <p:sldId id="312" r:id="rId15"/>
    <p:sldId id="313" r:id="rId16"/>
    <p:sldId id="315" r:id="rId17"/>
    <p:sldId id="316" r:id="rId18"/>
    <p:sldId id="317" r:id="rId19"/>
    <p:sldId id="319" r:id="rId20"/>
  </p:sldIdLst>
  <p:sldSz cx="9144000" cy="6858000" type="screen4x3"/>
  <p:notesSz cx="6858000" cy="9144000"/>
  <p:custShowLst>
    <p:custShow name="自定义放映 1" id="0">
      <p:sldLst/>
    </p:custShow>
  </p:custShow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FFCC"/>
    <a:srgbClr val="009900"/>
    <a:srgbClr val="CC0000"/>
    <a:srgbClr val="000099"/>
    <a:srgbClr val="0000CC"/>
    <a:srgbClr val="000066"/>
    <a:srgbClr val="FFFF66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7318"/>
    <p:restoredTop sz="92736"/>
  </p:normalViewPr>
  <p:slideViewPr>
    <p:cSldViewPr showGuides="1">
      <p:cViewPr varScale="1">
        <p:scale>
          <a:sx n="150" d="100"/>
          <a:sy n="150" d="100"/>
        </p:scale>
        <p:origin x="19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00000000-0000-0000-0000-000000000000}" ax:persistence="persistStorage" r:id="rId1"/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e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.wmf"/><Relationship Id="rId8" Type="http://schemas.openxmlformats.org/officeDocument/2006/relationships/image" Target="../media/image20.wmf"/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emf"/><Relationship Id="rId4" Type="http://schemas.openxmlformats.org/officeDocument/2006/relationships/image" Target="../media/image16.emf"/><Relationship Id="rId3" Type="http://schemas.openxmlformats.org/officeDocument/2006/relationships/image" Target="../media/image7.wmf"/><Relationship Id="rId2" Type="http://schemas.openxmlformats.org/officeDocument/2006/relationships/image" Target="../media/image15.wmf"/><Relationship Id="rId11" Type="http://schemas.openxmlformats.org/officeDocument/2006/relationships/image" Target="../media/image23.wmf"/><Relationship Id="rId10" Type="http://schemas.openxmlformats.org/officeDocument/2006/relationships/image" Target="../media/image22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38.wmf"/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5" Type="http://schemas.openxmlformats.org/officeDocument/2006/relationships/image" Target="../media/image54.wmf"/><Relationship Id="rId24" Type="http://schemas.openxmlformats.org/officeDocument/2006/relationships/image" Target="../media/image53.wmf"/><Relationship Id="rId23" Type="http://schemas.openxmlformats.org/officeDocument/2006/relationships/image" Target="../media/image52.wmf"/><Relationship Id="rId22" Type="http://schemas.openxmlformats.org/officeDocument/2006/relationships/image" Target="../media/image51.wmf"/><Relationship Id="rId21" Type="http://schemas.openxmlformats.org/officeDocument/2006/relationships/image" Target="../media/image50.wmf"/><Relationship Id="rId20" Type="http://schemas.openxmlformats.org/officeDocument/2006/relationships/image" Target="../media/image49.wmf"/><Relationship Id="rId2" Type="http://schemas.openxmlformats.org/officeDocument/2006/relationships/image" Target="../media/image32.wmf"/><Relationship Id="rId19" Type="http://schemas.openxmlformats.org/officeDocument/2006/relationships/image" Target="../media/image48.wmf"/><Relationship Id="rId18" Type="http://schemas.openxmlformats.org/officeDocument/2006/relationships/image" Target="../media/image47.wmf"/><Relationship Id="rId17" Type="http://schemas.openxmlformats.org/officeDocument/2006/relationships/image" Target="../media/image46.wmf"/><Relationship Id="rId16" Type="http://schemas.openxmlformats.org/officeDocument/2006/relationships/image" Target="../media/image45.wmf"/><Relationship Id="rId15" Type="http://schemas.openxmlformats.org/officeDocument/2006/relationships/image" Target="../media/image44.wmf"/><Relationship Id="rId14" Type="http://schemas.openxmlformats.org/officeDocument/2006/relationships/image" Target="../media/image43.wmf"/><Relationship Id="rId13" Type="http://schemas.openxmlformats.org/officeDocument/2006/relationships/image" Target="../media/image42.wmf"/><Relationship Id="rId12" Type="http://schemas.openxmlformats.org/officeDocument/2006/relationships/image" Target="../media/image41.wmf"/><Relationship Id="rId11" Type="http://schemas.openxmlformats.org/officeDocument/2006/relationships/image" Target="../media/image40.wmf"/><Relationship Id="rId10" Type="http://schemas.openxmlformats.org/officeDocument/2006/relationships/image" Target="../media/image39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63.wmf"/><Relationship Id="rId8" Type="http://schemas.openxmlformats.org/officeDocument/2006/relationships/image" Target="../media/image62.wmf"/><Relationship Id="rId7" Type="http://schemas.openxmlformats.org/officeDocument/2006/relationships/image" Target="../media/image61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0" Type="http://schemas.openxmlformats.org/officeDocument/2006/relationships/image" Target="../media/image64.wmf"/><Relationship Id="rId1" Type="http://schemas.openxmlformats.org/officeDocument/2006/relationships/image" Target="../media/image55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2" Type="http://schemas.openxmlformats.org/officeDocument/2006/relationships/image" Target="../media/image64.wmf"/><Relationship Id="rId11" Type="http://schemas.openxmlformats.org/officeDocument/2006/relationships/image" Target="../media/image63.wmf"/><Relationship Id="rId10" Type="http://schemas.openxmlformats.org/officeDocument/2006/relationships/image" Target="../media/image62.wmf"/><Relationship Id="rId1" Type="http://schemas.openxmlformats.org/officeDocument/2006/relationships/image" Target="../media/image65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3.wmf"/><Relationship Id="rId8" Type="http://schemas.openxmlformats.org/officeDocument/2006/relationships/image" Target="../media/image62.wmf"/><Relationship Id="rId7" Type="http://schemas.openxmlformats.org/officeDocument/2006/relationships/image" Target="../media/image61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Relationship Id="rId3" Type="http://schemas.openxmlformats.org/officeDocument/2006/relationships/image" Target="../media/image57.wmf"/><Relationship Id="rId2" Type="http://schemas.openxmlformats.org/officeDocument/2006/relationships/image" Target="../media/image70.wmf"/><Relationship Id="rId12" Type="http://schemas.openxmlformats.org/officeDocument/2006/relationships/image" Target="../media/image68.wmf"/><Relationship Id="rId11" Type="http://schemas.openxmlformats.org/officeDocument/2006/relationships/image" Target="../media/image65.wmf"/><Relationship Id="rId10" Type="http://schemas.openxmlformats.org/officeDocument/2006/relationships/image" Target="../media/image64.wmf"/><Relationship Id="rId1" Type="http://schemas.openxmlformats.org/officeDocument/2006/relationships/image" Target="../media/image6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1.vml.rels><?xml version="1.0" encoding="UTF-8" standalone="yes"?>
<Relationships xmlns="http://schemas.openxmlformats.org/package/2006/relationships"><Relationship Id="rId7" Type="http://schemas.openxmlformats.org/officeDocument/2006/relationships/image" Target="../media/image78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3" Type="http://schemas.openxmlformats.org/officeDocument/2006/relationships/image" Target="../media/image6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2.vml.rels><?xml version="1.0" encoding="UTF-8" standalone="yes"?>
<Relationships xmlns="http://schemas.openxmlformats.org/package/2006/relationships"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e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8" Type="http://schemas.openxmlformats.org/officeDocument/2006/relationships/image" Target="../media/image93.wmf"/><Relationship Id="rId7" Type="http://schemas.openxmlformats.org/officeDocument/2006/relationships/image" Target="../media/image92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9" Type="http://schemas.openxmlformats.org/officeDocument/2006/relationships/image" Target="../media/image97.wmf"/><Relationship Id="rId18" Type="http://schemas.openxmlformats.org/officeDocument/2006/relationships/image" Target="../media/image96.wmf"/><Relationship Id="rId17" Type="http://schemas.openxmlformats.org/officeDocument/2006/relationships/image" Target="../media/image95.wmf"/><Relationship Id="rId16" Type="http://schemas.openxmlformats.org/officeDocument/2006/relationships/image" Target="../media/image94.wmf"/><Relationship Id="rId15" Type="http://schemas.openxmlformats.org/officeDocument/2006/relationships/image" Target="../media/image63.wmf"/><Relationship Id="rId14" Type="http://schemas.openxmlformats.org/officeDocument/2006/relationships/image" Target="../media/image62.wmf"/><Relationship Id="rId13" Type="http://schemas.openxmlformats.org/officeDocument/2006/relationships/image" Target="../media/image61.wmf"/><Relationship Id="rId12" Type="http://schemas.openxmlformats.org/officeDocument/2006/relationships/image" Target="../media/image60.wmf"/><Relationship Id="rId11" Type="http://schemas.openxmlformats.org/officeDocument/2006/relationships/image" Target="../media/image59.wmf"/><Relationship Id="rId10" Type="http://schemas.openxmlformats.org/officeDocument/2006/relationships/image" Target="../media/image58.wmf"/><Relationship Id="rId1" Type="http://schemas.openxmlformats.org/officeDocument/2006/relationships/image" Target="../media/image8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4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512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钟的图片来自  </a:t>
            </a:r>
            <a:r>
              <a:rPr lang="en-US" altLang="zh-CN" dirty="0"/>
              <a:t>http://www2.chinagif.com:8180/gif/goods/clock/03.asp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126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图片来自</a:t>
            </a:r>
            <a:r>
              <a:rPr lang="en-US" altLang="zh-CN" dirty="0"/>
              <a:t>http://www2.chinagif.com:8180/gif/animal/mosquito/01.asp#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zh-CN" noProof="1"/>
              <a:t>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72"/>
          <p:cNvSpPr>
            <a:spLocks noChangeArrowheads="1"/>
          </p:cNvSpPr>
          <p:nvPr/>
        </p:nvSpPr>
        <p:spPr bwMode="auto">
          <a:xfrm>
            <a:off x="3459163" y="115888"/>
            <a:ext cx="5576888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9-1  简谐振动 振幅 周期和频率 相位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auto">
          <a:xfrm>
            <a:off x="3132138" y="6400800"/>
            <a:ext cx="2895600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130550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第九章  振动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1"/>
          <p:cNvCxnSpPr/>
          <p:nvPr/>
        </p:nvCxnSpPr>
        <p:spPr>
          <a:xfrm flipH="1">
            <a:off x="3527235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614907" y="583022"/>
            <a:ext cx="5018808" cy="2357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6588125" y="63817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800">
                <a:solidFill>
                  <a:srgbClr val="0000CC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3" name="Rectangle 117"/>
          <p:cNvSpPr>
            <a:spLocks noChangeArrowheads="1"/>
          </p:cNvSpPr>
          <p:nvPr/>
        </p:nvSpPr>
        <p:spPr bwMode="auto">
          <a:xfrm>
            <a:off x="6588125" y="6381750"/>
            <a:ext cx="21336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lvl="0" algn="r" eaLnBrk="1" hangingPunct="1"/>
            <a:fld id="{9A0DB2DC-4C9A-4742-B13C-FB6460FD3503}" type="slidenum">
              <a:rPr lang="zh-CN" altLang="en-US" sz="1800" dirty="0">
                <a:solidFill>
                  <a:srgbClr val="0000CC"/>
                </a:solidFill>
                <a:latin typeface="Calibri" panose="020F0502020204030204" pitchFamily="34" charset="0"/>
              </a:rPr>
            </a:fld>
            <a:endParaRPr lang="zh-CN" altLang="en-US" sz="1800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pic>
        <p:nvPicPr>
          <p:cNvPr id="1034" name="Picture 12" descr="C:\Users\qdx\Desktop\Aticles\20141011\temp_01.gif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271462" y="19050"/>
            <a:ext cx="14351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物理学第七版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15"/>
          <p:cNvSpPr>
            <a:spLocks noChangeArrowheads="1"/>
          </p:cNvSpPr>
          <p:nvPr/>
        </p:nvSpPr>
        <p:spPr bwMode="auto">
          <a:xfrm>
            <a:off x="3132138" y="6400800"/>
            <a:ext cx="2895600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130550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第九章  振动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1"/>
          <p:cNvCxnSpPr/>
          <p:nvPr/>
        </p:nvCxnSpPr>
        <p:spPr>
          <a:xfrm flipH="1">
            <a:off x="3527235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6588125" y="63817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800">
                <a:solidFill>
                  <a:srgbClr val="0000CC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5" name="Rectangle 24"/>
          <p:cNvSpPr>
            <a:spLocks noChangeArrowheads="1"/>
          </p:cNvSpPr>
          <p:nvPr/>
        </p:nvSpPr>
        <p:spPr bwMode="auto">
          <a:xfrm>
            <a:off x="6588125" y="6381750"/>
            <a:ext cx="21336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lvl="0" algn="r" eaLnBrk="1" hangingPunct="1"/>
            <a:fld id="{9A0DB2DC-4C9A-4742-B13C-FB6460FD3503}" type="slidenum">
              <a:rPr lang="zh-CN" altLang="en-US" sz="1800" dirty="0">
                <a:solidFill>
                  <a:srgbClr val="0000CC"/>
                </a:solidFill>
                <a:latin typeface="Calibri" panose="020F0502020204030204" pitchFamily="34" charset="0"/>
              </a:rPr>
            </a:fld>
            <a:endParaRPr lang="zh-CN" altLang="en-US" sz="1800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sp>
        <p:nvSpPr>
          <p:cNvPr id="2056" name="Rectangle 16"/>
          <p:cNvSpPr>
            <a:spLocks noChangeArrowheads="1"/>
          </p:cNvSpPr>
          <p:nvPr/>
        </p:nvSpPr>
        <p:spPr bwMode="auto">
          <a:xfrm>
            <a:off x="7031038" y="90488"/>
            <a:ext cx="1566863" cy="534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本章目录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7000890" y="596900"/>
            <a:ext cx="1548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2" descr="C:\Users\qdx\Desktop\Aticles\20141011\temp_01.gif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271462" y="19050"/>
            <a:ext cx="14351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物理学第七版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oleObject" Target="../embeddings/oleObject3.bin"/><Relationship Id="rId7" Type="http://schemas.openxmlformats.org/officeDocument/2006/relationships/image" Target="../media/image7.w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9" Type="http://schemas.openxmlformats.org/officeDocument/2006/relationships/vmlDrawing" Target="../drawings/vmlDrawing1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2.wmf"/><Relationship Id="rId16" Type="http://schemas.openxmlformats.org/officeDocument/2006/relationships/oleObject" Target="../embeddings/oleObject7.bin"/><Relationship Id="rId15" Type="http://schemas.openxmlformats.org/officeDocument/2006/relationships/image" Target="../media/image11.wmf"/><Relationship Id="rId14" Type="http://schemas.openxmlformats.org/officeDocument/2006/relationships/oleObject" Target="../embeddings/oleObject6.bin"/><Relationship Id="rId13" Type="http://schemas.openxmlformats.org/officeDocument/2006/relationships/image" Target="../media/image10.wmf"/><Relationship Id="rId12" Type="http://schemas.openxmlformats.org/officeDocument/2006/relationships/oleObject" Target="../embeddings/oleObject5.bin"/><Relationship Id="rId11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control" Target="../activeX/activeX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7" Type="http://schemas.openxmlformats.org/officeDocument/2006/relationships/vmlDrawing" Target="../drawings/vmlDrawing3.vml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23.wmf"/><Relationship Id="rId24" Type="http://schemas.openxmlformats.org/officeDocument/2006/relationships/oleObject" Target="../embeddings/oleObject19.bin"/><Relationship Id="rId23" Type="http://schemas.openxmlformats.org/officeDocument/2006/relationships/image" Target="../media/image22.wmf"/><Relationship Id="rId22" Type="http://schemas.openxmlformats.org/officeDocument/2006/relationships/oleObject" Target="../embeddings/oleObject18.bin"/><Relationship Id="rId21" Type="http://schemas.openxmlformats.org/officeDocument/2006/relationships/oleObject" Target="../embeddings/oleObject17.bin"/><Relationship Id="rId20" Type="http://schemas.openxmlformats.org/officeDocument/2006/relationships/image" Target="../media/image21.wmf"/><Relationship Id="rId2" Type="http://schemas.openxmlformats.org/officeDocument/2006/relationships/image" Target="../media/image14.wmf"/><Relationship Id="rId19" Type="http://schemas.openxmlformats.org/officeDocument/2006/relationships/oleObject" Target="../embeddings/oleObject16.bin"/><Relationship Id="rId18" Type="http://schemas.openxmlformats.org/officeDocument/2006/relationships/image" Target="../media/image20.wmf"/><Relationship Id="rId17" Type="http://schemas.openxmlformats.org/officeDocument/2006/relationships/oleObject" Target="../embeddings/oleObject15.bin"/><Relationship Id="rId16" Type="http://schemas.openxmlformats.org/officeDocument/2006/relationships/image" Target="../media/image19.wmf"/><Relationship Id="rId15" Type="http://schemas.openxmlformats.org/officeDocument/2006/relationships/oleObject" Target="../embeddings/oleObject14.bin"/><Relationship Id="rId14" Type="http://schemas.openxmlformats.org/officeDocument/2006/relationships/image" Target="../media/image18.wmf"/><Relationship Id="rId13" Type="http://schemas.openxmlformats.org/officeDocument/2006/relationships/oleObject" Target="../embeddings/oleObject13.bin"/><Relationship Id="rId12" Type="http://schemas.openxmlformats.org/officeDocument/2006/relationships/image" Target="../media/image17.e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6.emf"/><Relationship Id="rId1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wmf"/><Relationship Id="rId8" Type="http://schemas.openxmlformats.org/officeDocument/2006/relationships/oleObject" Target="../embeddings/oleObject27.bin"/><Relationship Id="rId7" Type="http://schemas.openxmlformats.org/officeDocument/2006/relationships/image" Target="../media/image29.wmf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7.wmf"/><Relationship Id="rId11" Type="http://schemas.openxmlformats.org/officeDocument/2006/relationships/vmlDrawing" Target="../drawings/vmlDrawing5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2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33.wmf"/><Relationship Id="rId55" Type="http://schemas.openxmlformats.org/officeDocument/2006/relationships/vmlDrawing" Target="../drawings/vmlDrawing6.vml"/><Relationship Id="rId54" Type="http://schemas.openxmlformats.org/officeDocument/2006/relationships/slideLayout" Target="../slideLayouts/slideLayout7.xml"/><Relationship Id="rId53" Type="http://schemas.openxmlformats.org/officeDocument/2006/relationships/image" Target="../media/image54.wmf"/><Relationship Id="rId52" Type="http://schemas.openxmlformats.org/officeDocument/2006/relationships/oleObject" Target="../embeddings/oleObject55.bin"/><Relationship Id="rId51" Type="http://schemas.openxmlformats.org/officeDocument/2006/relationships/image" Target="../media/image53.wmf"/><Relationship Id="rId50" Type="http://schemas.openxmlformats.org/officeDocument/2006/relationships/oleObject" Target="../embeddings/oleObject54.bin"/><Relationship Id="rId5" Type="http://schemas.openxmlformats.org/officeDocument/2006/relationships/oleObject" Target="../embeddings/oleObject30.bin"/><Relationship Id="rId49" Type="http://schemas.openxmlformats.org/officeDocument/2006/relationships/image" Target="../media/image52.wmf"/><Relationship Id="rId48" Type="http://schemas.openxmlformats.org/officeDocument/2006/relationships/oleObject" Target="../embeddings/oleObject53.bin"/><Relationship Id="rId47" Type="http://schemas.openxmlformats.org/officeDocument/2006/relationships/image" Target="../media/image51.wmf"/><Relationship Id="rId46" Type="http://schemas.openxmlformats.org/officeDocument/2006/relationships/oleObject" Target="../embeddings/oleObject52.bin"/><Relationship Id="rId45" Type="http://schemas.openxmlformats.org/officeDocument/2006/relationships/image" Target="../media/image50.wmf"/><Relationship Id="rId44" Type="http://schemas.openxmlformats.org/officeDocument/2006/relationships/oleObject" Target="../embeddings/oleObject51.bin"/><Relationship Id="rId43" Type="http://schemas.openxmlformats.org/officeDocument/2006/relationships/image" Target="../media/image49.wmf"/><Relationship Id="rId42" Type="http://schemas.openxmlformats.org/officeDocument/2006/relationships/oleObject" Target="../embeddings/oleObject50.bin"/><Relationship Id="rId41" Type="http://schemas.openxmlformats.org/officeDocument/2006/relationships/image" Target="../media/image48.wmf"/><Relationship Id="rId40" Type="http://schemas.openxmlformats.org/officeDocument/2006/relationships/oleObject" Target="../embeddings/oleObject49.bin"/><Relationship Id="rId4" Type="http://schemas.openxmlformats.org/officeDocument/2006/relationships/image" Target="../media/image32.wmf"/><Relationship Id="rId39" Type="http://schemas.openxmlformats.org/officeDocument/2006/relationships/image" Target="../media/image47.wmf"/><Relationship Id="rId38" Type="http://schemas.openxmlformats.org/officeDocument/2006/relationships/oleObject" Target="../embeddings/oleObject48.bin"/><Relationship Id="rId37" Type="http://schemas.openxmlformats.org/officeDocument/2006/relationships/image" Target="../media/image46.wmf"/><Relationship Id="rId36" Type="http://schemas.openxmlformats.org/officeDocument/2006/relationships/oleObject" Target="../embeddings/oleObject47.bin"/><Relationship Id="rId35" Type="http://schemas.openxmlformats.org/officeDocument/2006/relationships/oleObject" Target="../embeddings/oleObject46.bin"/><Relationship Id="rId34" Type="http://schemas.openxmlformats.org/officeDocument/2006/relationships/oleObject" Target="../embeddings/oleObject45.bin"/><Relationship Id="rId33" Type="http://schemas.openxmlformats.org/officeDocument/2006/relationships/image" Target="../media/image45.wmf"/><Relationship Id="rId32" Type="http://schemas.openxmlformats.org/officeDocument/2006/relationships/oleObject" Target="../embeddings/oleObject44.bin"/><Relationship Id="rId31" Type="http://schemas.openxmlformats.org/officeDocument/2006/relationships/image" Target="../media/image44.wmf"/><Relationship Id="rId30" Type="http://schemas.openxmlformats.org/officeDocument/2006/relationships/oleObject" Target="../embeddings/oleObject43.bin"/><Relationship Id="rId3" Type="http://schemas.openxmlformats.org/officeDocument/2006/relationships/oleObject" Target="../embeddings/oleObject29.bin"/><Relationship Id="rId29" Type="http://schemas.openxmlformats.org/officeDocument/2006/relationships/image" Target="../media/image43.wmf"/><Relationship Id="rId28" Type="http://schemas.openxmlformats.org/officeDocument/2006/relationships/oleObject" Target="../embeddings/oleObject42.bin"/><Relationship Id="rId27" Type="http://schemas.openxmlformats.org/officeDocument/2006/relationships/oleObject" Target="../embeddings/oleObject41.bin"/><Relationship Id="rId26" Type="http://schemas.openxmlformats.org/officeDocument/2006/relationships/image" Target="../media/image42.wmf"/><Relationship Id="rId25" Type="http://schemas.openxmlformats.org/officeDocument/2006/relationships/oleObject" Target="../embeddings/oleObject40.bin"/><Relationship Id="rId24" Type="http://schemas.openxmlformats.org/officeDocument/2006/relationships/image" Target="../media/image41.wmf"/><Relationship Id="rId23" Type="http://schemas.openxmlformats.org/officeDocument/2006/relationships/oleObject" Target="../embeddings/oleObject39.bin"/><Relationship Id="rId22" Type="http://schemas.openxmlformats.org/officeDocument/2006/relationships/image" Target="../media/image40.wmf"/><Relationship Id="rId21" Type="http://schemas.openxmlformats.org/officeDocument/2006/relationships/oleObject" Target="../embeddings/oleObject38.bin"/><Relationship Id="rId20" Type="http://schemas.openxmlformats.org/officeDocument/2006/relationships/image" Target="../media/image39.wmf"/><Relationship Id="rId2" Type="http://schemas.openxmlformats.org/officeDocument/2006/relationships/image" Target="../media/image31.wmf"/><Relationship Id="rId19" Type="http://schemas.openxmlformats.org/officeDocument/2006/relationships/oleObject" Target="../embeddings/oleObject37.bin"/><Relationship Id="rId18" Type="http://schemas.openxmlformats.org/officeDocument/2006/relationships/image" Target="../media/image15.wmf"/><Relationship Id="rId17" Type="http://schemas.openxmlformats.org/officeDocument/2006/relationships/oleObject" Target="../embeddings/oleObject36.bin"/><Relationship Id="rId16" Type="http://schemas.openxmlformats.org/officeDocument/2006/relationships/image" Target="../media/image38.wmf"/><Relationship Id="rId15" Type="http://schemas.openxmlformats.org/officeDocument/2006/relationships/oleObject" Target="../embeddings/oleObject35.bin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2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58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57.bin"/><Relationship Id="rId22" Type="http://schemas.openxmlformats.org/officeDocument/2006/relationships/vmlDrawing" Target="../drawings/vmlDrawing7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64.wmf"/><Relationship Id="rId2" Type="http://schemas.openxmlformats.org/officeDocument/2006/relationships/image" Target="../media/image55.wmf"/><Relationship Id="rId19" Type="http://schemas.openxmlformats.org/officeDocument/2006/relationships/oleObject" Target="../embeddings/oleObject65.bin"/><Relationship Id="rId18" Type="http://schemas.openxmlformats.org/officeDocument/2006/relationships/image" Target="../media/image63.w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62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61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60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59.wmf"/><Relationship Id="rId1" Type="http://schemas.openxmlformats.org/officeDocument/2006/relationships/oleObject" Target="../embeddings/oleObject5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wmf"/><Relationship Id="rId8" Type="http://schemas.openxmlformats.org/officeDocument/2006/relationships/oleObject" Target="../embeddings/oleObject69.bin"/><Relationship Id="rId7" Type="http://schemas.openxmlformats.org/officeDocument/2006/relationships/image" Target="../media/image3.png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67.bin"/><Relationship Id="rId27" Type="http://schemas.openxmlformats.org/officeDocument/2006/relationships/vmlDrawing" Target="../drawings/vmlDrawing8.vml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64.wmf"/><Relationship Id="rId24" Type="http://schemas.openxmlformats.org/officeDocument/2006/relationships/oleObject" Target="../embeddings/oleObject77.bin"/><Relationship Id="rId23" Type="http://schemas.openxmlformats.org/officeDocument/2006/relationships/image" Target="../media/image63.wmf"/><Relationship Id="rId22" Type="http://schemas.openxmlformats.org/officeDocument/2006/relationships/oleObject" Target="../embeddings/oleObject76.bin"/><Relationship Id="rId21" Type="http://schemas.openxmlformats.org/officeDocument/2006/relationships/image" Target="../media/image62.wmf"/><Relationship Id="rId20" Type="http://schemas.openxmlformats.org/officeDocument/2006/relationships/oleObject" Target="../embeddings/oleObject75.bin"/><Relationship Id="rId2" Type="http://schemas.openxmlformats.org/officeDocument/2006/relationships/image" Target="../media/image65.wmf"/><Relationship Id="rId19" Type="http://schemas.openxmlformats.org/officeDocument/2006/relationships/image" Target="../media/image61.wmf"/><Relationship Id="rId18" Type="http://schemas.openxmlformats.org/officeDocument/2006/relationships/oleObject" Target="../embeddings/oleObject74.bin"/><Relationship Id="rId17" Type="http://schemas.openxmlformats.org/officeDocument/2006/relationships/image" Target="../media/image60.wmf"/><Relationship Id="rId16" Type="http://schemas.openxmlformats.org/officeDocument/2006/relationships/oleObject" Target="../embeddings/oleObject73.bin"/><Relationship Id="rId15" Type="http://schemas.openxmlformats.org/officeDocument/2006/relationships/image" Target="../media/image59.wmf"/><Relationship Id="rId14" Type="http://schemas.openxmlformats.org/officeDocument/2006/relationships/oleObject" Target="../embeddings/oleObject72.bin"/><Relationship Id="rId13" Type="http://schemas.openxmlformats.org/officeDocument/2006/relationships/image" Target="../media/image58.wmf"/><Relationship Id="rId12" Type="http://schemas.openxmlformats.org/officeDocument/2006/relationships/oleObject" Target="../embeddings/oleObject71.bin"/><Relationship Id="rId11" Type="http://schemas.openxmlformats.org/officeDocument/2006/relationships/image" Target="../media/image57.wmf"/><Relationship Id="rId10" Type="http://schemas.openxmlformats.org/officeDocument/2006/relationships/oleObject" Target="../embeddings/oleObject70.bin"/><Relationship Id="rId1" Type="http://schemas.openxmlformats.org/officeDocument/2006/relationships/oleObject" Target="../embeddings/oleObject6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oleObject" Target="../embeddings/oleObject81.bin"/><Relationship Id="rId7" Type="http://schemas.openxmlformats.org/officeDocument/2006/relationships/image" Target="../media/image57.wmf"/><Relationship Id="rId6" Type="http://schemas.openxmlformats.org/officeDocument/2006/relationships/oleObject" Target="../embeddings/oleObject80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79.bin"/><Relationship Id="rId3" Type="http://schemas.openxmlformats.org/officeDocument/2006/relationships/image" Target="../media/image3.png"/><Relationship Id="rId27" Type="http://schemas.openxmlformats.org/officeDocument/2006/relationships/vmlDrawing" Target="../drawings/vmlDrawing9.vml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68.wmf"/><Relationship Id="rId24" Type="http://schemas.openxmlformats.org/officeDocument/2006/relationships/oleObject" Target="../embeddings/oleObject89.bin"/><Relationship Id="rId23" Type="http://schemas.openxmlformats.org/officeDocument/2006/relationships/image" Target="../media/image65.wmf"/><Relationship Id="rId22" Type="http://schemas.openxmlformats.org/officeDocument/2006/relationships/oleObject" Target="../embeddings/oleObject88.bin"/><Relationship Id="rId21" Type="http://schemas.openxmlformats.org/officeDocument/2006/relationships/image" Target="../media/image64.wmf"/><Relationship Id="rId20" Type="http://schemas.openxmlformats.org/officeDocument/2006/relationships/oleObject" Target="../embeddings/oleObject87.bin"/><Relationship Id="rId2" Type="http://schemas.openxmlformats.org/officeDocument/2006/relationships/image" Target="../media/image69.wmf"/><Relationship Id="rId19" Type="http://schemas.openxmlformats.org/officeDocument/2006/relationships/image" Target="../media/image63.wmf"/><Relationship Id="rId18" Type="http://schemas.openxmlformats.org/officeDocument/2006/relationships/oleObject" Target="../embeddings/oleObject86.bin"/><Relationship Id="rId17" Type="http://schemas.openxmlformats.org/officeDocument/2006/relationships/image" Target="../media/image62.wmf"/><Relationship Id="rId16" Type="http://schemas.openxmlformats.org/officeDocument/2006/relationships/oleObject" Target="../embeddings/oleObject85.bin"/><Relationship Id="rId15" Type="http://schemas.openxmlformats.org/officeDocument/2006/relationships/image" Target="../media/image61.wmf"/><Relationship Id="rId14" Type="http://schemas.openxmlformats.org/officeDocument/2006/relationships/oleObject" Target="../embeddings/oleObject84.bin"/><Relationship Id="rId13" Type="http://schemas.openxmlformats.org/officeDocument/2006/relationships/image" Target="../media/image60.wmf"/><Relationship Id="rId12" Type="http://schemas.openxmlformats.org/officeDocument/2006/relationships/oleObject" Target="../embeddings/oleObject83.bin"/><Relationship Id="rId11" Type="http://schemas.openxmlformats.org/officeDocument/2006/relationships/image" Target="../media/image59.wmf"/><Relationship Id="rId10" Type="http://schemas.openxmlformats.org/officeDocument/2006/relationships/oleObject" Target="../embeddings/oleObject82.bin"/><Relationship Id="rId1" Type="http://schemas.openxmlformats.org/officeDocument/2006/relationships/oleObject" Target="../embeddings/oleObject78.bin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2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71.wmf"/><Relationship Id="rId1" Type="http://schemas.openxmlformats.org/officeDocument/2006/relationships/oleObject" Target="../embeddings/oleObject90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6.bin"/><Relationship Id="rId8" Type="http://schemas.openxmlformats.org/officeDocument/2006/relationships/image" Target="../media/image75.wmf"/><Relationship Id="rId7" Type="http://schemas.openxmlformats.org/officeDocument/2006/relationships/oleObject" Target="../embeddings/oleObject95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73.wmf"/><Relationship Id="rId16" Type="http://schemas.openxmlformats.org/officeDocument/2006/relationships/vmlDrawing" Target="../drawings/vmlDrawing11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78.wmf"/><Relationship Id="rId13" Type="http://schemas.openxmlformats.org/officeDocument/2006/relationships/oleObject" Target="../embeddings/oleObject98.bin"/><Relationship Id="rId12" Type="http://schemas.openxmlformats.org/officeDocument/2006/relationships/image" Target="../media/image77.wmf"/><Relationship Id="rId11" Type="http://schemas.openxmlformats.org/officeDocument/2006/relationships/oleObject" Target="../embeddings/oleObject97.bin"/><Relationship Id="rId10" Type="http://schemas.openxmlformats.org/officeDocument/2006/relationships/image" Target="../media/image76.wmf"/><Relationship Id="rId1" Type="http://schemas.openxmlformats.org/officeDocument/2006/relationships/oleObject" Target="../embeddings/oleObject92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3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81.e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79.wmf"/><Relationship Id="rId15" Type="http://schemas.openxmlformats.org/officeDocument/2006/relationships/vmlDrawing" Target="../drawings/vmlDrawing12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85.png"/><Relationship Id="rId12" Type="http://schemas.openxmlformats.org/officeDocument/2006/relationships/image" Target="../media/image84.wmf"/><Relationship Id="rId11" Type="http://schemas.openxmlformats.org/officeDocument/2006/relationships/oleObject" Target="../embeddings/oleObject104.bin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9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89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107.bin"/><Relationship Id="rId42" Type="http://schemas.openxmlformats.org/officeDocument/2006/relationships/vmlDrawing" Target="../drawings/vmlDrawing13.vml"/><Relationship Id="rId41" Type="http://schemas.openxmlformats.org/officeDocument/2006/relationships/slideLayout" Target="../slideLayouts/slideLayout7.xml"/><Relationship Id="rId40" Type="http://schemas.openxmlformats.org/officeDocument/2006/relationships/image" Target="../media/image97.wmf"/><Relationship Id="rId4" Type="http://schemas.openxmlformats.org/officeDocument/2006/relationships/image" Target="../media/image87.wmf"/><Relationship Id="rId39" Type="http://schemas.openxmlformats.org/officeDocument/2006/relationships/oleObject" Target="../embeddings/oleObject123.bin"/><Relationship Id="rId38" Type="http://schemas.openxmlformats.org/officeDocument/2006/relationships/image" Target="../media/image96.wmf"/><Relationship Id="rId37" Type="http://schemas.openxmlformats.org/officeDocument/2006/relationships/oleObject" Target="../embeddings/oleObject122.bin"/><Relationship Id="rId36" Type="http://schemas.openxmlformats.org/officeDocument/2006/relationships/image" Target="../media/image95.wmf"/><Relationship Id="rId35" Type="http://schemas.openxmlformats.org/officeDocument/2006/relationships/oleObject" Target="../embeddings/oleObject121.bin"/><Relationship Id="rId34" Type="http://schemas.openxmlformats.org/officeDocument/2006/relationships/image" Target="../media/image94.wmf"/><Relationship Id="rId33" Type="http://schemas.openxmlformats.org/officeDocument/2006/relationships/oleObject" Target="../embeddings/oleObject120.bin"/><Relationship Id="rId32" Type="http://schemas.openxmlformats.org/officeDocument/2006/relationships/image" Target="../media/image63.wmf"/><Relationship Id="rId31" Type="http://schemas.openxmlformats.org/officeDocument/2006/relationships/oleObject" Target="../embeddings/oleObject119.bin"/><Relationship Id="rId30" Type="http://schemas.openxmlformats.org/officeDocument/2006/relationships/image" Target="../media/image62.wmf"/><Relationship Id="rId3" Type="http://schemas.openxmlformats.org/officeDocument/2006/relationships/oleObject" Target="../embeddings/oleObject106.bin"/><Relationship Id="rId29" Type="http://schemas.openxmlformats.org/officeDocument/2006/relationships/oleObject" Target="../embeddings/oleObject118.bin"/><Relationship Id="rId28" Type="http://schemas.openxmlformats.org/officeDocument/2006/relationships/image" Target="../media/image61.wmf"/><Relationship Id="rId27" Type="http://schemas.openxmlformats.org/officeDocument/2006/relationships/oleObject" Target="../embeddings/oleObject117.bin"/><Relationship Id="rId26" Type="http://schemas.openxmlformats.org/officeDocument/2006/relationships/image" Target="../media/image60.wmf"/><Relationship Id="rId25" Type="http://schemas.openxmlformats.org/officeDocument/2006/relationships/oleObject" Target="../embeddings/oleObject116.bin"/><Relationship Id="rId24" Type="http://schemas.openxmlformats.org/officeDocument/2006/relationships/image" Target="../media/image59.wmf"/><Relationship Id="rId23" Type="http://schemas.openxmlformats.org/officeDocument/2006/relationships/oleObject" Target="../embeddings/oleObject115.bin"/><Relationship Id="rId22" Type="http://schemas.openxmlformats.org/officeDocument/2006/relationships/image" Target="../media/image58.wmf"/><Relationship Id="rId21" Type="http://schemas.openxmlformats.org/officeDocument/2006/relationships/oleObject" Target="../embeddings/oleObject114.bin"/><Relationship Id="rId20" Type="http://schemas.openxmlformats.org/officeDocument/2006/relationships/image" Target="../media/image57.wmf"/><Relationship Id="rId2" Type="http://schemas.openxmlformats.org/officeDocument/2006/relationships/image" Target="../media/image86.wmf"/><Relationship Id="rId19" Type="http://schemas.openxmlformats.org/officeDocument/2006/relationships/oleObject" Target="../embeddings/oleObject113.bin"/><Relationship Id="rId18" Type="http://schemas.openxmlformats.org/officeDocument/2006/relationships/image" Target="../media/image93.wmf"/><Relationship Id="rId17" Type="http://schemas.openxmlformats.org/officeDocument/2006/relationships/oleObject" Target="../embeddings/oleObject112.bin"/><Relationship Id="rId16" Type="http://schemas.openxmlformats.org/officeDocument/2006/relationships/image" Target="../media/image92.wmf"/><Relationship Id="rId15" Type="http://schemas.openxmlformats.org/officeDocument/2006/relationships/oleObject" Target="../embeddings/oleObject111.bin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110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109.bin"/><Relationship Id="rId10" Type="http://schemas.openxmlformats.org/officeDocument/2006/relationships/image" Target="../media/image5.png"/><Relationship Id="rId1" Type="http://schemas.openxmlformats.org/officeDocument/2006/relationships/oleObject" Target="../embeddings/oleObject10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44" name="Rectangle 28"/>
          <p:cNvSpPr/>
          <p:nvPr/>
        </p:nvSpPr>
        <p:spPr>
          <a:xfrm>
            <a:off x="1143000" y="2122488"/>
            <a:ext cx="73152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物体或物体的某一部分在一定位置附近来回往复的运动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47" name="Rectangle 31"/>
          <p:cNvSpPr/>
          <p:nvPr/>
        </p:nvSpPr>
        <p:spPr>
          <a:xfrm>
            <a:off x="762000" y="3581400"/>
            <a:ext cx="22860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实例: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6048" name="Rectangle 32"/>
          <p:cNvSpPr/>
          <p:nvPr/>
        </p:nvSpPr>
        <p:spPr>
          <a:xfrm>
            <a:off x="1066800" y="4343400"/>
            <a:ext cx="3857625" cy="12731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　　 心脏的跳动、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钟摆、乐器、地震等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6049" name="Rectangle 33"/>
          <p:cNvSpPr/>
          <p:nvPr/>
        </p:nvSpPr>
        <p:spPr>
          <a:xfrm>
            <a:off x="685800" y="1457325"/>
            <a:ext cx="77724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1  机械振动</a:t>
            </a:r>
            <a:endParaRPr lang="zh-CN" altLang="en-US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6060" name="Group 44"/>
          <p:cNvGrpSpPr/>
          <p:nvPr/>
        </p:nvGrpSpPr>
        <p:grpSpPr>
          <a:xfrm>
            <a:off x="6629400" y="2981325"/>
            <a:ext cx="1981200" cy="600075"/>
            <a:chOff x="4176" y="1837"/>
            <a:chExt cx="1248" cy="378"/>
          </a:xfrm>
        </p:grpSpPr>
        <p:sp>
          <p:nvSpPr>
            <p:cNvPr id="4107" name="AutoShape 37"/>
            <p:cNvSpPr/>
            <p:nvPr/>
          </p:nvSpPr>
          <p:spPr>
            <a:xfrm>
              <a:off x="4176" y="1837"/>
              <a:ext cx="1248" cy="378"/>
            </a:xfrm>
            <a:prstGeom prst="wedgeEllipseCallout">
              <a:avLst>
                <a:gd name="adj1" fmla="val 10338"/>
                <a:gd name="adj2" fmla="val -112699"/>
              </a:avLst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20000"/>
                </a:lnSpc>
              </a:pP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20000"/>
                </a:lnSpc>
              </a:pP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8" name="Rectangle 40"/>
            <p:cNvSpPr/>
            <p:nvPr/>
          </p:nvSpPr>
          <p:spPr>
            <a:xfrm>
              <a:off x="4224" y="1843"/>
              <a:ext cx="11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平衡位置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103" name="Text Box 42"/>
          <p:cNvSpPr txBox="1"/>
          <p:nvPr/>
        </p:nvSpPr>
        <p:spPr>
          <a:xfrm>
            <a:off x="228600" y="869950"/>
            <a:ext cx="6629400" cy="644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rgbClr val="CC0000"/>
                </a:solidFill>
                <a:latin typeface="Times New Roman" panose="02020603050405020304" pitchFamily="18" charset="0"/>
              </a:rPr>
              <a:t>   一   简谐振动</a:t>
            </a:r>
            <a:endParaRPr lang="zh-CN" altLang="en-US" sz="36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4" name="Rectangle 47"/>
          <p:cNvSpPr/>
          <p:nvPr/>
        </p:nvSpPr>
        <p:spPr>
          <a:xfrm>
            <a:off x="1588" y="28479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Rectangle 54"/>
          <p:cNvSpPr/>
          <p:nvPr/>
        </p:nvSpPr>
        <p:spPr>
          <a:xfrm>
            <a:off x="1588" y="2203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86077" name="Picture 61" descr="00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0" y="3581400"/>
            <a:ext cx="2667000" cy="2660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8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44" grpId="0"/>
      <p:bldP spid="86047" grpId="0"/>
      <p:bldP spid="86048" grpId="0"/>
      <p:bldP spid="860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3299" name="Text Box 3"/>
          <p:cNvSpPr txBox="1"/>
          <p:nvPr/>
        </p:nvSpPr>
        <p:spPr>
          <a:xfrm>
            <a:off x="838200" y="1614488"/>
            <a:ext cx="7656513" cy="682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  <a:buBlip>
                <a:blip r:embed="rId1"/>
              </a:buBlip>
            </a:pPr>
            <a:r>
              <a:rPr lang="zh-CN" altLang="en-US" sz="2800" dirty="0"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简谐振动  </a:t>
            </a:r>
            <a:r>
              <a:rPr lang="zh-CN" altLang="en-US" dirty="0">
                <a:latin typeface="宋体" panose="02010600030101010101" pitchFamily="2" charset="-122"/>
              </a:rPr>
              <a:t>最简单、最基本的振动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83300" name="Text Box 4"/>
          <p:cNvSpPr txBox="1"/>
          <p:nvPr/>
        </p:nvSpPr>
        <p:spPr>
          <a:xfrm>
            <a:off x="1143000" y="4191000"/>
            <a:ext cx="5486400" cy="682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谐振子  </a:t>
            </a:r>
            <a:r>
              <a:rPr lang="zh-CN" altLang="en-US" dirty="0">
                <a:latin typeface="宋体" panose="02010600030101010101" pitchFamily="2" charset="-122"/>
              </a:rPr>
              <a:t>作简谐振动的物体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pSp>
        <p:nvGrpSpPr>
          <p:cNvPr id="183308" name="Group 12"/>
          <p:cNvGrpSpPr/>
          <p:nvPr/>
        </p:nvGrpSpPr>
        <p:grpSpPr>
          <a:xfrm>
            <a:off x="1295400" y="2286000"/>
            <a:ext cx="5867400" cy="1514475"/>
            <a:chOff x="960" y="1296"/>
            <a:chExt cx="3696" cy="954"/>
          </a:xfrm>
        </p:grpSpPr>
        <p:sp>
          <p:nvSpPr>
            <p:cNvPr id="6150" name="Text Box 6"/>
            <p:cNvSpPr txBox="1"/>
            <p:nvPr/>
          </p:nvSpPr>
          <p:spPr>
            <a:xfrm>
              <a:off x="960" y="1632"/>
              <a:ext cx="1220" cy="43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简谐振动</a:t>
              </a: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6151" name="Text Box 7"/>
            <p:cNvSpPr txBox="1"/>
            <p:nvPr/>
          </p:nvSpPr>
          <p:spPr>
            <a:xfrm>
              <a:off x="3469" y="1632"/>
              <a:ext cx="1187" cy="438"/>
            </a:xfrm>
            <a:prstGeom prst="rect">
              <a:avLst/>
            </a:prstGeom>
            <a:solidFill>
              <a:srgbClr val="FCF7FF"/>
            </a:solidFill>
            <a:ln w="19050" cap="flat" cmpd="sng">
              <a:solidFill>
                <a:srgbClr val="CC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复杂振动</a:t>
              </a: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6152" name="Text Box 8"/>
            <p:cNvSpPr txBox="1"/>
            <p:nvPr/>
          </p:nvSpPr>
          <p:spPr>
            <a:xfrm>
              <a:off x="2534" y="1296"/>
              <a:ext cx="778" cy="4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宋体" panose="02010600030101010101" pitchFamily="2" charset="-122"/>
                </a:rPr>
                <a:t>合成</a:t>
              </a:r>
              <a:endParaRPr lang="zh-CN" altLang="en-US" dirty="0">
                <a:solidFill>
                  <a:srgbClr val="CC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53" name="Text Box 9"/>
            <p:cNvSpPr txBox="1"/>
            <p:nvPr/>
          </p:nvSpPr>
          <p:spPr>
            <a:xfrm>
              <a:off x="2534" y="1824"/>
              <a:ext cx="778" cy="4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  <a:latin typeface="宋体" panose="02010600030101010101" pitchFamily="2" charset="-122"/>
                </a:rPr>
                <a:t>分解</a:t>
              </a:r>
              <a:endParaRPr lang="zh-CN" altLang="en-US" dirty="0">
                <a:solidFill>
                  <a:srgbClr val="33CC33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54" name="AutoShape 10"/>
            <p:cNvSpPr/>
            <p:nvPr/>
          </p:nvSpPr>
          <p:spPr>
            <a:xfrm>
              <a:off x="2273" y="1728"/>
              <a:ext cx="1071" cy="144"/>
            </a:xfrm>
            <a:prstGeom prst="leftRightArrow">
              <a:avLst>
                <a:gd name="adj1" fmla="val 50000"/>
                <a:gd name="adj2" fmla="val 148750"/>
              </a:avLst>
            </a:prstGeom>
            <a:gradFill rotWithShape="0">
              <a:gsLst>
                <a:gs pos="0">
                  <a:srgbClr val="760000"/>
                </a:gs>
                <a:gs pos="50000">
                  <a:srgbClr val="FF0000"/>
                </a:gs>
                <a:gs pos="100000">
                  <a:srgbClr val="760000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149" name="Rectangle 11"/>
          <p:cNvSpPr/>
          <p:nvPr/>
        </p:nvSpPr>
        <p:spPr>
          <a:xfrm>
            <a:off x="877888" y="958850"/>
            <a:ext cx="51419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2  简谐振动</a:t>
            </a:r>
            <a:endParaRPr lang="zh-CN" altLang="en-US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/>
      <p:bldP spid="18330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 Box 40"/>
          <p:cNvSpPr txBox="1"/>
          <p:nvPr/>
        </p:nvSpPr>
        <p:spPr>
          <a:xfrm>
            <a:off x="647700" y="847725"/>
            <a:ext cx="47244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  <a:buBlip>
                <a:blip r:embed="rId1"/>
              </a:buBlip>
            </a:pPr>
            <a:r>
              <a:rPr lang="zh-CN" altLang="en-US" sz="2800" dirty="0">
                <a:solidFill>
                  <a:srgbClr val="CC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弹簧振子的振动</a:t>
            </a:r>
            <a:endParaRPr lang="zh-CN" altLang="en-US" b="0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sp>
        <p:nvSpPr>
          <p:cNvPr id="7171" name="Rectangle 195"/>
          <p:cNvSpPr/>
          <p:nvPr/>
        </p:nvSpPr>
        <p:spPr>
          <a:xfrm>
            <a:off x="800100" y="1905000"/>
            <a:ext cx="7924800" cy="2362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66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2" name="Oval 191"/>
          <p:cNvSpPr/>
          <p:nvPr/>
        </p:nvSpPr>
        <p:spPr>
          <a:xfrm>
            <a:off x="5032375" y="2420938"/>
            <a:ext cx="1000125" cy="9906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5C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7173" name="Group 35"/>
          <p:cNvGrpSpPr/>
          <p:nvPr/>
        </p:nvGrpSpPr>
        <p:grpSpPr>
          <a:xfrm>
            <a:off x="1338263" y="2573338"/>
            <a:ext cx="3694112" cy="609600"/>
            <a:chOff x="1104" y="2064"/>
            <a:chExt cx="2400" cy="384"/>
          </a:xfrm>
        </p:grpSpPr>
        <p:grpSp>
          <p:nvGrpSpPr>
            <p:cNvPr id="7191" name="Group 4"/>
            <p:cNvGrpSpPr/>
            <p:nvPr/>
          </p:nvGrpSpPr>
          <p:grpSpPr>
            <a:xfrm>
              <a:off x="1469" y="2064"/>
              <a:ext cx="208" cy="384"/>
              <a:chOff x="1632" y="2064"/>
              <a:chExt cx="336" cy="384"/>
            </a:xfrm>
          </p:grpSpPr>
          <p:sp>
            <p:nvSpPr>
              <p:cNvPr id="7219" name="Line 2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7220" name="Line 3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7192" name="Group 5"/>
            <p:cNvGrpSpPr/>
            <p:nvPr/>
          </p:nvGrpSpPr>
          <p:grpSpPr>
            <a:xfrm>
              <a:off x="1677" y="2064"/>
              <a:ext cx="209" cy="384"/>
              <a:chOff x="1632" y="2064"/>
              <a:chExt cx="336" cy="384"/>
            </a:xfrm>
          </p:grpSpPr>
          <p:sp>
            <p:nvSpPr>
              <p:cNvPr id="7217" name="Line 6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7218" name="Line 7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7193" name="Group 8"/>
            <p:cNvGrpSpPr/>
            <p:nvPr/>
          </p:nvGrpSpPr>
          <p:grpSpPr>
            <a:xfrm>
              <a:off x="1886" y="2064"/>
              <a:ext cx="209" cy="384"/>
              <a:chOff x="1632" y="2064"/>
              <a:chExt cx="336" cy="384"/>
            </a:xfrm>
          </p:grpSpPr>
          <p:sp>
            <p:nvSpPr>
              <p:cNvPr id="7215" name="Line 9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7216" name="Line 10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7194" name="Group 11"/>
            <p:cNvGrpSpPr/>
            <p:nvPr/>
          </p:nvGrpSpPr>
          <p:grpSpPr>
            <a:xfrm>
              <a:off x="2095" y="2064"/>
              <a:ext cx="209" cy="384"/>
              <a:chOff x="1632" y="2064"/>
              <a:chExt cx="336" cy="384"/>
            </a:xfrm>
          </p:grpSpPr>
          <p:sp>
            <p:nvSpPr>
              <p:cNvPr id="7213" name="Line 12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7214" name="Line 13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7195" name="Group 14"/>
            <p:cNvGrpSpPr/>
            <p:nvPr/>
          </p:nvGrpSpPr>
          <p:grpSpPr>
            <a:xfrm>
              <a:off x="2304" y="2064"/>
              <a:ext cx="209" cy="384"/>
              <a:chOff x="1632" y="2064"/>
              <a:chExt cx="336" cy="384"/>
            </a:xfrm>
          </p:grpSpPr>
          <p:sp>
            <p:nvSpPr>
              <p:cNvPr id="7211" name="Line 15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7212" name="Line 16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7196" name="Group 17"/>
            <p:cNvGrpSpPr/>
            <p:nvPr/>
          </p:nvGrpSpPr>
          <p:grpSpPr>
            <a:xfrm>
              <a:off x="2513" y="2064"/>
              <a:ext cx="209" cy="384"/>
              <a:chOff x="1632" y="2064"/>
              <a:chExt cx="336" cy="384"/>
            </a:xfrm>
          </p:grpSpPr>
          <p:sp>
            <p:nvSpPr>
              <p:cNvPr id="7209" name="Line 18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7210" name="Line 19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7197" name="Group 20"/>
            <p:cNvGrpSpPr/>
            <p:nvPr/>
          </p:nvGrpSpPr>
          <p:grpSpPr>
            <a:xfrm>
              <a:off x="2722" y="2064"/>
              <a:ext cx="209" cy="384"/>
              <a:chOff x="1632" y="2064"/>
              <a:chExt cx="336" cy="384"/>
            </a:xfrm>
          </p:grpSpPr>
          <p:sp>
            <p:nvSpPr>
              <p:cNvPr id="7207" name="Line 21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7208" name="Line 22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7198" name="Group 23"/>
            <p:cNvGrpSpPr/>
            <p:nvPr/>
          </p:nvGrpSpPr>
          <p:grpSpPr>
            <a:xfrm>
              <a:off x="2931" y="2064"/>
              <a:ext cx="208" cy="384"/>
              <a:chOff x="1632" y="2064"/>
              <a:chExt cx="336" cy="384"/>
            </a:xfrm>
          </p:grpSpPr>
          <p:sp>
            <p:nvSpPr>
              <p:cNvPr id="7205" name="Line 24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7206" name="Line 25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sp>
          <p:nvSpPr>
            <p:cNvPr id="7199" name="Line 27"/>
            <p:cNvSpPr/>
            <p:nvPr/>
          </p:nvSpPr>
          <p:spPr>
            <a:xfrm flipH="1">
              <a:off x="1290" y="2064"/>
              <a:ext cx="59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7200" name="Line 28"/>
            <p:cNvSpPr/>
            <p:nvPr/>
          </p:nvSpPr>
          <p:spPr>
            <a:xfrm>
              <a:off x="1349" y="2064"/>
              <a:ext cx="12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7201" name="Line 29"/>
            <p:cNvSpPr/>
            <p:nvPr/>
          </p:nvSpPr>
          <p:spPr>
            <a:xfrm>
              <a:off x="1104" y="2352"/>
              <a:ext cx="18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7202" name="Line 31"/>
            <p:cNvSpPr/>
            <p:nvPr/>
          </p:nvSpPr>
          <p:spPr>
            <a:xfrm flipH="1">
              <a:off x="3139" y="2064"/>
              <a:ext cx="9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7203" name="Line 32"/>
            <p:cNvSpPr/>
            <p:nvPr/>
          </p:nvSpPr>
          <p:spPr>
            <a:xfrm>
              <a:off x="3229" y="2064"/>
              <a:ext cx="89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7204" name="Line 33"/>
            <p:cNvSpPr/>
            <p:nvPr/>
          </p:nvSpPr>
          <p:spPr>
            <a:xfrm>
              <a:off x="3318" y="2304"/>
              <a:ext cx="18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</p:grpSp>
      <p:sp>
        <p:nvSpPr>
          <p:cNvPr id="7174" name="Line 37"/>
          <p:cNvSpPr/>
          <p:nvPr/>
        </p:nvSpPr>
        <p:spPr>
          <a:xfrm>
            <a:off x="1338263" y="3411538"/>
            <a:ext cx="67706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sm" len="lg"/>
            <a:tailEnd type="none" w="sm" len="lg"/>
          </a:ln>
        </p:spPr>
      </p:sp>
      <p:sp>
        <p:nvSpPr>
          <p:cNvPr id="7175" name="Rectangle 38" descr="浅色下对角线"/>
          <p:cNvSpPr/>
          <p:nvPr/>
        </p:nvSpPr>
        <p:spPr>
          <a:xfrm>
            <a:off x="1338263" y="3411538"/>
            <a:ext cx="6770687" cy="304800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6" name="Rectangle 39" descr="浅色上对角线"/>
          <p:cNvSpPr/>
          <p:nvPr/>
        </p:nvSpPr>
        <p:spPr>
          <a:xfrm>
            <a:off x="1108075" y="2344738"/>
            <a:ext cx="230188" cy="1371600"/>
          </a:xfrm>
          <a:prstGeom prst="rect">
            <a:avLst/>
          </a:prstGeom>
          <a:blipFill rotWithShape="0">
            <a:blip r:embed="rId3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7" name="Line 149"/>
          <p:cNvSpPr/>
          <p:nvPr/>
        </p:nvSpPr>
        <p:spPr>
          <a:xfrm>
            <a:off x="7262813" y="2116138"/>
            <a:ext cx="0" cy="1600200"/>
          </a:xfrm>
          <a:prstGeom prst="line">
            <a:avLst/>
          </a:prstGeom>
          <a:ln w="28575" cap="flat" cmpd="sng">
            <a:solidFill>
              <a:srgbClr val="0000FF"/>
            </a:solidFill>
            <a:prstDash val="dash"/>
            <a:headEnd type="none" w="sm" len="lg"/>
            <a:tailEnd type="none" w="sm" len="lg"/>
          </a:ln>
        </p:spPr>
      </p:sp>
      <p:sp>
        <p:nvSpPr>
          <p:cNvPr id="7178" name="Line 150"/>
          <p:cNvSpPr/>
          <p:nvPr/>
        </p:nvSpPr>
        <p:spPr>
          <a:xfrm>
            <a:off x="3878263" y="2116138"/>
            <a:ext cx="0" cy="1600200"/>
          </a:xfrm>
          <a:prstGeom prst="line">
            <a:avLst/>
          </a:prstGeom>
          <a:ln w="28575" cap="flat" cmpd="sng">
            <a:solidFill>
              <a:srgbClr val="0000FF"/>
            </a:solidFill>
            <a:prstDash val="dash"/>
            <a:headEnd type="none" w="sm" len="lg"/>
            <a:tailEnd type="none" w="sm" len="lg"/>
          </a:ln>
        </p:spPr>
      </p:sp>
      <p:sp>
        <p:nvSpPr>
          <p:cNvPr id="7179" name="Line 153"/>
          <p:cNvSpPr/>
          <p:nvPr/>
        </p:nvSpPr>
        <p:spPr>
          <a:xfrm>
            <a:off x="1338263" y="3411538"/>
            <a:ext cx="6853237" cy="17462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headEnd type="none" w="sm" len="lg"/>
            <a:tailEnd type="triangle" w="sm" len="med"/>
          </a:ln>
        </p:spPr>
      </p:sp>
      <p:sp>
        <p:nvSpPr>
          <p:cNvPr id="7180" name="Line 159"/>
          <p:cNvSpPr/>
          <p:nvPr/>
        </p:nvSpPr>
        <p:spPr>
          <a:xfrm>
            <a:off x="1338263" y="2497138"/>
            <a:ext cx="3694112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dash"/>
            <a:headEnd type="triangle" w="sm" len="lg"/>
            <a:tailEnd type="triangle" w="sm" len="lg"/>
          </a:ln>
        </p:spPr>
      </p:sp>
      <p:graphicFrame>
        <p:nvGraphicFramePr>
          <p:cNvPr id="7181" name="Object 160"/>
          <p:cNvGraphicFramePr>
            <a:graphicFrameLocks noChangeAspect="1"/>
          </p:cNvGraphicFramePr>
          <p:nvPr/>
        </p:nvGraphicFramePr>
        <p:xfrm>
          <a:off x="2781300" y="2051050"/>
          <a:ext cx="944563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4" imgW="723900" imgH="330200" progId="Equation.3">
                  <p:embed/>
                </p:oleObj>
              </mc:Choice>
              <mc:Fallback>
                <p:oleObj name="" r:id="rId4" imgW="723900" imgH="3302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81300" y="2051050"/>
                        <a:ext cx="944563" cy="42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Text Box 161"/>
          <p:cNvSpPr txBox="1"/>
          <p:nvPr/>
        </p:nvSpPr>
        <p:spPr>
          <a:xfrm>
            <a:off x="5494338" y="2649538"/>
            <a:ext cx="1857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endParaRPr lang="zh-CN" altLang="zh-CN" sz="24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83" name="Object 177"/>
          <p:cNvGraphicFramePr>
            <a:graphicFrameLocks noChangeAspect="1"/>
          </p:cNvGraphicFramePr>
          <p:nvPr/>
        </p:nvGraphicFramePr>
        <p:xfrm>
          <a:off x="8262938" y="3276600"/>
          <a:ext cx="26987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6" imgW="177800" imgH="190500" progId="Equation.3">
                  <p:embed/>
                </p:oleObj>
              </mc:Choice>
              <mc:Fallback>
                <p:oleObj name="" r:id="rId6" imgW="177800" imgH="1905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62938" y="3276600"/>
                        <a:ext cx="269875" cy="287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179"/>
          <p:cNvGraphicFramePr>
            <a:graphicFrameLocks noChangeAspect="1"/>
          </p:cNvGraphicFramePr>
          <p:nvPr/>
        </p:nvGraphicFramePr>
        <p:xfrm>
          <a:off x="5356225" y="2771775"/>
          <a:ext cx="35242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8" imgW="118110" imgH="89535" progId="Equation.DSMT4">
                  <p:embed/>
                </p:oleObj>
              </mc:Choice>
              <mc:Fallback>
                <p:oleObj name="" r:id="rId8" imgW="118110" imgH="89535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56225" y="2771775"/>
                        <a:ext cx="352425" cy="290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5" name="Line 112"/>
          <p:cNvSpPr/>
          <p:nvPr/>
        </p:nvSpPr>
        <p:spPr>
          <a:xfrm>
            <a:off x="5570538" y="2116138"/>
            <a:ext cx="0" cy="1600200"/>
          </a:xfrm>
          <a:prstGeom prst="line">
            <a:avLst/>
          </a:prstGeom>
          <a:ln w="28575" cap="flat" cmpd="sng">
            <a:solidFill>
              <a:srgbClr val="0000FF"/>
            </a:solidFill>
            <a:prstDash val="dash"/>
            <a:headEnd type="none" w="sm" len="lg"/>
            <a:tailEnd type="none" w="sm" len="lg"/>
          </a:ln>
        </p:spPr>
      </p:sp>
      <p:graphicFrame>
        <p:nvGraphicFramePr>
          <p:cNvPr id="7186" name="Object 188"/>
          <p:cNvGraphicFramePr>
            <a:graphicFrameLocks noChangeAspect="1"/>
          </p:cNvGraphicFramePr>
          <p:nvPr/>
        </p:nvGraphicFramePr>
        <p:xfrm>
          <a:off x="5372100" y="3810000"/>
          <a:ext cx="33655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0" imgW="165100" imgH="190500" progId="Equation.3">
                  <p:embed/>
                </p:oleObj>
              </mc:Choice>
              <mc:Fallback>
                <p:oleObj name="" r:id="rId10" imgW="165100" imgH="1905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72100" y="3810000"/>
                        <a:ext cx="336550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189"/>
          <p:cNvGraphicFramePr>
            <a:graphicFrameLocks noChangeAspect="1"/>
          </p:cNvGraphicFramePr>
          <p:nvPr/>
        </p:nvGraphicFramePr>
        <p:xfrm>
          <a:off x="3390900" y="3790950"/>
          <a:ext cx="5667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2" imgW="393700" imgH="228600" progId="Equation.3">
                  <p:embed/>
                </p:oleObj>
              </mc:Choice>
              <mc:Fallback>
                <p:oleObj name="" r:id="rId12" imgW="393700" imgH="2286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90900" y="3790950"/>
                        <a:ext cx="566738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190"/>
          <p:cNvGraphicFramePr>
            <a:graphicFrameLocks noChangeAspect="1"/>
          </p:cNvGraphicFramePr>
          <p:nvPr/>
        </p:nvGraphicFramePr>
        <p:xfrm>
          <a:off x="7048500" y="3797300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4" imgW="215900" imgH="228600" progId="Equation.3">
                  <p:embed/>
                </p:oleObj>
              </mc:Choice>
              <mc:Fallback>
                <p:oleObj name="" r:id="rId14" imgW="215900" imgH="2286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048500" y="3797300"/>
                        <a:ext cx="2921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9" name="Line 192"/>
          <p:cNvSpPr/>
          <p:nvPr/>
        </p:nvSpPr>
        <p:spPr>
          <a:xfrm flipV="1">
            <a:off x="5032375" y="2344738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sm" len="lg"/>
            <a:tailEnd type="none" w="sm" len="lg"/>
          </a:ln>
        </p:spPr>
      </p:sp>
      <p:graphicFrame>
        <p:nvGraphicFramePr>
          <p:cNvPr id="152" name="Object 176"/>
          <p:cNvGraphicFramePr>
            <a:graphicFrameLocks noChangeAspect="1"/>
          </p:cNvGraphicFramePr>
          <p:nvPr/>
        </p:nvGraphicFramePr>
        <p:xfrm>
          <a:off x="4495800" y="4343400"/>
          <a:ext cx="22098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6" imgW="799465" imgH="215900" progId="Equation.3">
                  <p:embed/>
                </p:oleObj>
              </mc:Choice>
              <mc:Fallback>
                <p:oleObj name="" r:id="rId16" imgW="799465" imgH="2159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95800" y="4343400"/>
                        <a:ext cx="2209800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23" name="Rectangle 3"/>
          <p:cNvSpPr/>
          <p:nvPr/>
        </p:nvSpPr>
        <p:spPr>
          <a:xfrm>
            <a:off x="1371600" y="3962400"/>
            <a:ext cx="3886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振动的成因：</a:t>
            </a:r>
            <a:endParaRPr lang="en-US" altLang="zh-CN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25" name="Rectangle 5"/>
          <p:cNvSpPr/>
          <p:nvPr/>
        </p:nvSpPr>
        <p:spPr>
          <a:xfrm>
            <a:off x="1752600" y="4724400"/>
            <a:ext cx="32766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回复力+惯性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" r:id="rId1" imgW="5754687" imgH="2446337"/>
        </mc:Choice>
        <mc:Fallback>
          <p:control name="" r:id="rId1" imgW="5754687" imgH="2446337">
            <p:pic>
              <p:nvPicPr>
                <p:cNvPr id="8196" name="ShockwaveFlash2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331913" y="1135063"/>
                  <a:ext cx="5754687" cy="2446337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/>
      <p:bldP spid="1843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4" name="Group 101"/>
          <p:cNvGrpSpPr/>
          <p:nvPr/>
        </p:nvGrpSpPr>
        <p:grpSpPr>
          <a:xfrm>
            <a:off x="5394325" y="3124200"/>
            <a:ext cx="2133600" cy="1012825"/>
            <a:chOff x="3168" y="2064"/>
            <a:chExt cx="1344" cy="638"/>
          </a:xfrm>
        </p:grpSpPr>
        <p:graphicFrame>
          <p:nvGraphicFramePr>
            <p:cNvPr id="9279" name="Object 49"/>
            <p:cNvGraphicFramePr>
              <a:graphicFrameLocks noChangeAspect="1"/>
            </p:cNvGraphicFramePr>
            <p:nvPr/>
          </p:nvGraphicFramePr>
          <p:xfrm>
            <a:off x="3696" y="2064"/>
            <a:ext cx="816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1" imgW="609600" imgH="469900" progId="Equation.3">
                    <p:embed/>
                  </p:oleObj>
                </mc:Choice>
                <mc:Fallback>
                  <p:oleObj name="" r:id="rId1" imgW="609600" imgH="4699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696" y="2064"/>
                          <a:ext cx="816" cy="6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80" name="Text Box 53"/>
            <p:cNvSpPr txBox="1"/>
            <p:nvPr/>
          </p:nvSpPr>
          <p:spPr>
            <a:xfrm>
              <a:off x="3168" y="2213"/>
              <a:ext cx="51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令  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219" name="Rectangle 79"/>
          <p:cNvSpPr/>
          <p:nvPr/>
        </p:nvSpPr>
        <p:spPr>
          <a:xfrm>
            <a:off x="698500" y="1460500"/>
            <a:ext cx="7696200" cy="16970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66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0" name="Oval 71"/>
          <p:cNvSpPr/>
          <p:nvPr/>
        </p:nvSpPr>
        <p:spPr>
          <a:xfrm>
            <a:off x="6299200" y="1681163"/>
            <a:ext cx="914400" cy="966787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5C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1" name="Line 3"/>
          <p:cNvSpPr/>
          <p:nvPr/>
        </p:nvSpPr>
        <p:spPr>
          <a:xfrm>
            <a:off x="1414463" y="2286000"/>
            <a:ext cx="21907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grpSp>
        <p:nvGrpSpPr>
          <p:cNvPr id="9222" name="Group 4"/>
          <p:cNvGrpSpPr/>
          <p:nvPr/>
        </p:nvGrpSpPr>
        <p:grpSpPr>
          <a:xfrm>
            <a:off x="1633538" y="1873250"/>
            <a:ext cx="4476750" cy="549275"/>
            <a:chOff x="1180" y="3312"/>
            <a:chExt cx="2920" cy="384"/>
          </a:xfrm>
        </p:grpSpPr>
        <p:grpSp>
          <p:nvGrpSpPr>
            <p:cNvPr id="9251" name="Group 5"/>
            <p:cNvGrpSpPr/>
            <p:nvPr/>
          </p:nvGrpSpPr>
          <p:grpSpPr>
            <a:xfrm>
              <a:off x="1438" y="3312"/>
              <a:ext cx="299" cy="384"/>
              <a:chOff x="1632" y="2064"/>
              <a:chExt cx="336" cy="384"/>
            </a:xfrm>
          </p:grpSpPr>
          <p:sp>
            <p:nvSpPr>
              <p:cNvPr id="9277" name="Line 6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9278" name="Line 7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9252" name="Group 8"/>
            <p:cNvGrpSpPr/>
            <p:nvPr/>
          </p:nvGrpSpPr>
          <p:grpSpPr>
            <a:xfrm>
              <a:off x="1737" y="3312"/>
              <a:ext cx="301" cy="384"/>
              <a:chOff x="1632" y="2064"/>
              <a:chExt cx="336" cy="384"/>
            </a:xfrm>
          </p:grpSpPr>
          <p:sp>
            <p:nvSpPr>
              <p:cNvPr id="9275" name="Line 9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9276" name="Line 10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9253" name="Group 11"/>
            <p:cNvGrpSpPr/>
            <p:nvPr/>
          </p:nvGrpSpPr>
          <p:grpSpPr>
            <a:xfrm>
              <a:off x="2038" y="3312"/>
              <a:ext cx="301" cy="384"/>
              <a:chOff x="1632" y="2064"/>
              <a:chExt cx="336" cy="384"/>
            </a:xfrm>
          </p:grpSpPr>
          <p:sp>
            <p:nvSpPr>
              <p:cNvPr id="9273" name="Line 12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9274" name="Line 13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9254" name="Group 14"/>
            <p:cNvGrpSpPr/>
            <p:nvPr/>
          </p:nvGrpSpPr>
          <p:grpSpPr>
            <a:xfrm>
              <a:off x="2339" y="3312"/>
              <a:ext cx="301" cy="384"/>
              <a:chOff x="1632" y="2064"/>
              <a:chExt cx="336" cy="384"/>
            </a:xfrm>
          </p:grpSpPr>
          <p:sp>
            <p:nvSpPr>
              <p:cNvPr id="9271" name="Line 15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9272" name="Line 16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9255" name="Group 17"/>
            <p:cNvGrpSpPr/>
            <p:nvPr/>
          </p:nvGrpSpPr>
          <p:grpSpPr>
            <a:xfrm>
              <a:off x="2640" y="3312"/>
              <a:ext cx="301" cy="384"/>
              <a:chOff x="1632" y="2064"/>
              <a:chExt cx="336" cy="384"/>
            </a:xfrm>
          </p:grpSpPr>
          <p:sp>
            <p:nvSpPr>
              <p:cNvPr id="9269" name="Line 18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9270" name="Line 19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9256" name="Group 20"/>
            <p:cNvGrpSpPr/>
            <p:nvPr/>
          </p:nvGrpSpPr>
          <p:grpSpPr>
            <a:xfrm>
              <a:off x="2941" y="3312"/>
              <a:ext cx="301" cy="384"/>
              <a:chOff x="1632" y="2064"/>
              <a:chExt cx="336" cy="384"/>
            </a:xfrm>
          </p:grpSpPr>
          <p:sp>
            <p:nvSpPr>
              <p:cNvPr id="9267" name="Line 21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9268" name="Line 22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9257" name="Group 23"/>
            <p:cNvGrpSpPr/>
            <p:nvPr/>
          </p:nvGrpSpPr>
          <p:grpSpPr>
            <a:xfrm>
              <a:off x="3242" y="3312"/>
              <a:ext cx="301" cy="384"/>
              <a:chOff x="1632" y="2064"/>
              <a:chExt cx="336" cy="384"/>
            </a:xfrm>
          </p:grpSpPr>
          <p:sp>
            <p:nvSpPr>
              <p:cNvPr id="9265" name="Line 24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9266" name="Line 25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9258" name="Group 26"/>
            <p:cNvGrpSpPr/>
            <p:nvPr/>
          </p:nvGrpSpPr>
          <p:grpSpPr>
            <a:xfrm>
              <a:off x="3543" y="3312"/>
              <a:ext cx="299" cy="384"/>
              <a:chOff x="1632" y="2064"/>
              <a:chExt cx="336" cy="384"/>
            </a:xfrm>
          </p:grpSpPr>
          <p:sp>
            <p:nvSpPr>
              <p:cNvPr id="9263" name="Line 27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9264" name="Line 28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9259" name="Line 29"/>
            <p:cNvSpPr/>
            <p:nvPr/>
          </p:nvSpPr>
          <p:spPr>
            <a:xfrm flipH="1">
              <a:off x="1180" y="3312"/>
              <a:ext cx="85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9260" name="Line 30"/>
            <p:cNvSpPr/>
            <p:nvPr/>
          </p:nvSpPr>
          <p:spPr>
            <a:xfrm>
              <a:off x="1265" y="3312"/>
              <a:ext cx="173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9261" name="Line 31"/>
            <p:cNvSpPr/>
            <p:nvPr/>
          </p:nvSpPr>
          <p:spPr>
            <a:xfrm flipH="1">
              <a:off x="3842" y="3312"/>
              <a:ext cx="13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9262" name="Line 32"/>
            <p:cNvSpPr/>
            <p:nvPr/>
          </p:nvSpPr>
          <p:spPr>
            <a:xfrm>
              <a:off x="3972" y="3312"/>
              <a:ext cx="128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  <p:sp>
        <p:nvSpPr>
          <p:cNvPr id="9223" name="Line 33"/>
          <p:cNvSpPr/>
          <p:nvPr/>
        </p:nvSpPr>
        <p:spPr>
          <a:xfrm>
            <a:off x="6110288" y="2217738"/>
            <a:ext cx="293687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9224" name="Line 35"/>
          <p:cNvSpPr/>
          <p:nvPr/>
        </p:nvSpPr>
        <p:spPr>
          <a:xfrm>
            <a:off x="1414463" y="2628900"/>
            <a:ext cx="64579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9225" name="Rectangle 36" descr="浅色下对角线"/>
          <p:cNvSpPr/>
          <p:nvPr/>
        </p:nvSpPr>
        <p:spPr>
          <a:xfrm>
            <a:off x="1414463" y="2628900"/>
            <a:ext cx="6457950" cy="273050"/>
          </a:xfrm>
          <a:prstGeom prst="rect">
            <a:avLst/>
          </a:prstGeom>
          <a:blipFill rotWithShape="0">
            <a:blip r:embed="rId3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6" name="Rectangle 37" descr="浅色上对角线"/>
          <p:cNvSpPr/>
          <p:nvPr/>
        </p:nvSpPr>
        <p:spPr>
          <a:xfrm>
            <a:off x="1193800" y="1668463"/>
            <a:ext cx="220663" cy="1233487"/>
          </a:xfrm>
          <a:prstGeom prst="rect">
            <a:avLst/>
          </a:prstGeom>
          <a:blipFill rotWithShape="0">
            <a:blip r:embed="rId4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7" name="Line 38"/>
          <p:cNvSpPr/>
          <p:nvPr/>
        </p:nvSpPr>
        <p:spPr>
          <a:xfrm>
            <a:off x="1414463" y="2628900"/>
            <a:ext cx="6457950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9228" name="Line 43"/>
          <p:cNvSpPr/>
          <p:nvPr/>
        </p:nvSpPr>
        <p:spPr>
          <a:xfrm flipH="1">
            <a:off x="6756400" y="1622425"/>
            <a:ext cx="14288" cy="1077913"/>
          </a:xfrm>
          <a:prstGeom prst="line">
            <a:avLst/>
          </a:prstGeom>
          <a:ln w="19050" cap="flat" cmpd="sng">
            <a:solidFill>
              <a:srgbClr val="CCFFCC"/>
            </a:solidFill>
            <a:prstDash val="dash"/>
            <a:headEnd type="none" w="med" len="med"/>
            <a:tailEnd type="none" w="sm" len="lg"/>
          </a:ln>
        </p:spPr>
      </p:sp>
      <p:graphicFrame>
        <p:nvGraphicFramePr>
          <p:cNvPr id="9229" name="Object 44"/>
          <p:cNvGraphicFramePr>
            <a:graphicFrameLocks noChangeAspect="1"/>
          </p:cNvGraphicFramePr>
          <p:nvPr/>
        </p:nvGraphicFramePr>
        <p:xfrm>
          <a:off x="6604000" y="2624138"/>
          <a:ext cx="295275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5" imgW="177800" imgH="190500" progId="Equation.3">
                  <p:embed/>
                </p:oleObj>
              </mc:Choice>
              <mc:Fallback>
                <p:oleObj name="" r:id="rId5" imgW="177800" imgH="1905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04000" y="2624138"/>
                        <a:ext cx="295275" cy="300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Line 45"/>
          <p:cNvSpPr/>
          <p:nvPr/>
        </p:nvSpPr>
        <p:spPr>
          <a:xfrm flipH="1">
            <a:off x="5384800" y="2227263"/>
            <a:ext cx="117475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sm" len="lg"/>
          </a:ln>
        </p:spPr>
      </p:sp>
      <p:graphicFrame>
        <p:nvGraphicFramePr>
          <p:cNvPr id="9231" name="Object 66"/>
          <p:cNvGraphicFramePr>
            <a:graphicFrameLocks noChangeAspect="1"/>
          </p:cNvGraphicFramePr>
          <p:nvPr/>
        </p:nvGraphicFramePr>
        <p:xfrm>
          <a:off x="7899400" y="2395538"/>
          <a:ext cx="3683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7" imgW="177800" imgH="190500" progId="Equation.3">
                  <p:embed/>
                </p:oleObj>
              </mc:Choice>
              <mc:Fallback>
                <p:oleObj name="" r:id="rId7" imgW="177800" imgH="1905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99400" y="2395538"/>
                        <a:ext cx="368300" cy="371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" name="Object 67"/>
          <p:cNvGraphicFramePr>
            <a:graphicFrameLocks noChangeAspect="1"/>
          </p:cNvGraphicFramePr>
          <p:nvPr/>
        </p:nvGraphicFramePr>
        <p:xfrm>
          <a:off x="5595938" y="1536700"/>
          <a:ext cx="3921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9" imgW="118110" imgH="134620" progId="Equation.3">
                  <p:embed/>
                </p:oleObj>
              </mc:Choice>
              <mc:Fallback>
                <p:oleObj name="" r:id="rId9" imgW="118110" imgH="13462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95938" y="1536700"/>
                        <a:ext cx="392112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68"/>
          <p:cNvGraphicFramePr>
            <a:graphicFrameLocks noChangeAspect="1"/>
          </p:cNvGraphicFramePr>
          <p:nvPr/>
        </p:nvGraphicFramePr>
        <p:xfrm>
          <a:off x="6592888" y="2030413"/>
          <a:ext cx="341312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1" imgW="118110" imgH="89535" progId="Equation.3">
                  <p:embed/>
                </p:oleObj>
              </mc:Choice>
              <mc:Fallback>
                <p:oleObj name="" r:id="rId11" imgW="118110" imgH="89535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92888" y="2030413"/>
                        <a:ext cx="341312" cy="268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4" name="Oval 73"/>
          <p:cNvSpPr/>
          <p:nvPr/>
        </p:nvSpPr>
        <p:spPr>
          <a:xfrm>
            <a:off x="5308600" y="2589213"/>
            <a:ext cx="76200" cy="80962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35" name="Rectangle 84"/>
          <p:cNvSpPr/>
          <p:nvPr/>
        </p:nvSpPr>
        <p:spPr>
          <a:xfrm>
            <a:off x="685800" y="862013"/>
            <a:ext cx="5486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3   弹簧振子的运动分析</a:t>
            </a:r>
            <a:endParaRPr lang="zh-CN" altLang="en-US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2" name="组合 63"/>
          <p:cNvGrpSpPr/>
          <p:nvPr/>
        </p:nvGrpSpPr>
        <p:grpSpPr>
          <a:xfrm>
            <a:off x="685800" y="4038600"/>
            <a:ext cx="2819400" cy="1046163"/>
            <a:chOff x="685800" y="4038600"/>
            <a:chExt cx="2819400" cy="1046584"/>
          </a:xfrm>
        </p:grpSpPr>
        <p:sp>
          <p:nvSpPr>
            <p:cNvPr id="9247" name="矩形 62"/>
            <p:cNvSpPr/>
            <p:nvPr/>
          </p:nvSpPr>
          <p:spPr>
            <a:xfrm>
              <a:off x="1259632" y="4077072"/>
              <a:ext cx="2232248" cy="10081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9248" name="Group 98"/>
            <p:cNvGrpSpPr/>
            <p:nvPr/>
          </p:nvGrpSpPr>
          <p:grpSpPr>
            <a:xfrm>
              <a:off x="685800" y="4038600"/>
              <a:ext cx="2819400" cy="1022350"/>
              <a:chOff x="480" y="2688"/>
              <a:chExt cx="1776" cy="644"/>
            </a:xfrm>
          </p:grpSpPr>
          <p:graphicFrame>
            <p:nvGraphicFramePr>
              <p:cNvPr id="9249" name="Object 51"/>
              <p:cNvGraphicFramePr>
                <a:graphicFrameLocks noChangeAspect="1"/>
              </p:cNvGraphicFramePr>
              <p:nvPr/>
            </p:nvGraphicFramePr>
            <p:xfrm>
              <a:off x="864" y="2688"/>
              <a:ext cx="1392" cy="6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8" name="" r:id="rId13" imgW="927100" imgH="482600" progId="Equation.DSMT4">
                      <p:embed/>
                    </p:oleObj>
                  </mc:Choice>
                  <mc:Fallback>
                    <p:oleObj name="" r:id="rId13" imgW="927100" imgH="482600" progId="Equation.DSMT4">
                      <p:embed/>
                      <p:pic>
                        <p:nvPicPr>
                          <p:cNvPr id="0" name="图片 3107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864" y="2688"/>
                            <a:ext cx="1392" cy="6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50" name="Text Box 85"/>
              <p:cNvSpPr txBox="1"/>
              <p:nvPr/>
            </p:nvSpPr>
            <p:spPr>
              <a:xfrm>
                <a:off x="480" y="2838"/>
                <a:ext cx="373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得</a:t>
                </a:r>
                <a:endPara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7" name="Group 99"/>
          <p:cNvGrpSpPr/>
          <p:nvPr/>
        </p:nvGrpSpPr>
        <p:grpSpPr>
          <a:xfrm>
            <a:off x="5318125" y="4297363"/>
            <a:ext cx="2378075" cy="579437"/>
            <a:chOff x="3158" y="2851"/>
            <a:chExt cx="1498" cy="365"/>
          </a:xfrm>
        </p:grpSpPr>
        <p:graphicFrame>
          <p:nvGraphicFramePr>
            <p:cNvPr id="9245" name="Object 50"/>
            <p:cNvGraphicFramePr>
              <a:graphicFrameLocks noChangeAspect="1"/>
            </p:cNvGraphicFramePr>
            <p:nvPr/>
          </p:nvGraphicFramePr>
          <p:xfrm>
            <a:off x="3696" y="2865"/>
            <a:ext cx="96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15" imgW="736600" imgH="228600" progId="Equation.3">
                    <p:embed/>
                  </p:oleObj>
                </mc:Choice>
                <mc:Fallback>
                  <p:oleObj name="" r:id="rId15" imgW="736600" imgH="2286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696" y="2865"/>
                          <a:ext cx="960" cy="3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6" name="Text Box 86"/>
            <p:cNvSpPr txBox="1"/>
            <p:nvPr/>
          </p:nvSpPr>
          <p:spPr>
            <a:xfrm>
              <a:off x="3158" y="2851"/>
              <a:ext cx="37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solidFill>
                    <a:srgbClr val="CC0000"/>
                  </a:solidFill>
                  <a:latin typeface="宋体" panose="02010600030101010101" pitchFamily="2" charset="-122"/>
                </a:rPr>
                <a:t>即</a:t>
              </a:r>
              <a:endParaRPr lang="zh-CN" altLang="en-US" dirty="0">
                <a:solidFill>
                  <a:srgbClr val="CC0000"/>
                </a:solidFill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9238" name="Object 70"/>
          <p:cNvGraphicFramePr>
            <a:graphicFrameLocks noChangeAspect="1"/>
          </p:cNvGraphicFramePr>
          <p:nvPr/>
        </p:nvGraphicFramePr>
        <p:xfrm>
          <a:off x="5183188" y="2624138"/>
          <a:ext cx="319087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7" imgW="165100" imgH="190500" progId="Equation.3">
                  <p:embed/>
                </p:oleObj>
              </mc:Choice>
              <mc:Fallback>
                <p:oleObj name="" r:id="rId17" imgW="165100" imgH="1905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83188" y="2624138"/>
                        <a:ext cx="319087" cy="388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9" name="Object 95"/>
          <p:cNvGraphicFramePr>
            <a:graphicFrameLocks noChangeAspect="1"/>
          </p:cNvGraphicFramePr>
          <p:nvPr/>
        </p:nvGraphicFramePr>
        <p:xfrm>
          <a:off x="3657600" y="3086100"/>
          <a:ext cx="127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9" imgW="127000" imgH="253365" progId="Equation.3">
                  <p:embed/>
                </p:oleObj>
              </mc:Choice>
              <mc:Fallback>
                <p:oleObj name="" r:id="rId19" imgW="127000" imgH="25336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57600" y="3086100"/>
                        <a:ext cx="127000" cy="25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0" name="Object 96"/>
          <p:cNvGraphicFramePr>
            <a:graphicFrameLocks noChangeAspect="1"/>
          </p:cNvGraphicFramePr>
          <p:nvPr/>
        </p:nvGraphicFramePr>
        <p:xfrm>
          <a:off x="3657600" y="3086100"/>
          <a:ext cx="127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21" imgW="127000" imgH="253365" progId="Equation.3">
                  <p:embed/>
                </p:oleObj>
              </mc:Choice>
              <mc:Fallback>
                <p:oleObj name="" r:id="rId21" imgW="127000" imgH="25336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57600" y="3086100"/>
                        <a:ext cx="127000" cy="25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100"/>
          <p:cNvGraphicFramePr>
            <a:graphicFrameLocks noChangeAspect="1"/>
          </p:cNvGraphicFramePr>
          <p:nvPr/>
        </p:nvGraphicFramePr>
        <p:xfrm>
          <a:off x="1295400" y="3352800"/>
          <a:ext cx="2286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2" imgW="1078865" imgH="203200" progId="Equation.3">
                  <p:embed/>
                </p:oleObj>
              </mc:Choice>
              <mc:Fallback>
                <p:oleObj name="" r:id="rId22" imgW="1078865" imgH="2032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295400" y="3352800"/>
                        <a:ext cx="2286000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" name="Group 107"/>
          <p:cNvGrpSpPr/>
          <p:nvPr/>
        </p:nvGrpSpPr>
        <p:grpSpPr>
          <a:xfrm>
            <a:off x="684213" y="5160963"/>
            <a:ext cx="7772400" cy="1076325"/>
            <a:chOff x="431" y="3203"/>
            <a:chExt cx="4896" cy="678"/>
          </a:xfrm>
        </p:grpSpPr>
        <p:sp>
          <p:nvSpPr>
            <p:cNvPr id="2" name="Text Box 102"/>
            <p:cNvSpPr txBox="1">
              <a:spLocks noChangeArrowheads="1"/>
            </p:cNvSpPr>
            <p:nvPr/>
          </p:nvSpPr>
          <p:spPr bwMode="auto">
            <a:xfrm>
              <a:off x="431" y="3203"/>
              <a:ext cx="4896" cy="678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rgbClr val="FFFFFF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rgbClr val="9933FF"/>
              </a:solidFill>
              <a:miter lim="800000"/>
            </a:ln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kern="1200" cap="none" spc="0" normalizeH="0" baseline="0" noProof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简谐振动的特征：</a:t>
              </a:r>
              <a:r>
                <a:rPr kumimoji="0" lang="zh-CN" altLang="en-US" kern="1200" cap="none" spc="0" normalizeH="0" baseline="0" noProof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加速度   与位移的大小</a:t>
              </a:r>
              <a:r>
                <a:rPr kumimoji="0" lang="en-US" altLang="zh-CN" b="0" i="1" kern="1200" cap="none" spc="0" normalizeH="0" baseline="0" noProof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zh-CN" altLang="en-US" kern="1200" cap="none" spc="0" normalizeH="0" baseline="0" noProof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成正比，方向相反</a:t>
              </a:r>
              <a:endParaRPr kumimoji="0" lang="en-US" altLang="zh-CN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9244" name="Object 104"/>
            <p:cNvGraphicFramePr>
              <a:graphicFrameLocks noChangeAspect="1"/>
            </p:cNvGraphicFramePr>
            <p:nvPr/>
          </p:nvGraphicFramePr>
          <p:xfrm>
            <a:off x="3334" y="3294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24" imgW="152400" imgH="152400" progId="Equation.3">
                    <p:embed/>
                  </p:oleObj>
                </mc:Choice>
                <mc:Fallback>
                  <p:oleObj name="" r:id="rId24" imgW="152400" imgH="1524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334" y="3294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5384" name="Group 40"/>
          <p:cNvGrpSpPr/>
          <p:nvPr/>
        </p:nvGrpSpPr>
        <p:grpSpPr>
          <a:xfrm>
            <a:off x="762000" y="1752600"/>
            <a:ext cx="7772400" cy="1066800"/>
            <a:chOff x="480" y="1104"/>
            <a:chExt cx="4896" cy="672"/>
          </a:xfrm>
        </p:grpSpPr>
        <p:sp>
          <p:nvSpPr>
            <p:cNvPr id="185381" name="Rectangle 37"/>
            <p:cNvSpPr>
              <a:spLocks noChangeArrowheads="1"/>
            </p:cNvSpPr>
            <p:nvPr/>
          </p:nvSpPr>
          <p:spPr bwMode="auto">
            <a:xfrm>
              <a:off x="480" y="1104"/>
              <a:ext cx="1392" cy="67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chemeClr val="folHlink">
                    <a:gamma/>
                    <a:tint val="0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hlink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257" name="Group 35"/>
            <p:cNvGrpSpPr/>
            <p:nvPr/>
          </p:nvGrpSpPr>
          <p:grpSpPr>
            <a:xfrm>
              <a:off x="2640" y="1104"/>
              <a:ext cx="2736" cy="528"/>
              <a:chOff x="2160" y="576"/>
              <a:chExt cx="960" cy="1104"/>
            </a:xfrm>
          </p:grpSpPr>
          <p:sp>
            <p:nvSpPr>
              <p:cNvPr id="10258" name="AutoShape 34"/>
              <p:cNvSpPr/>
              <p:nvPr/>
            </p:nvSpPr>
            <p:spPr>
              <a:xfrm>
                <a:off x="2160" y="576"/>
                <a:ext cx="960" cy="1104"/>
              </a:xfrm>
              <a:prstGeom prst="wedgeRoundRectCallout">
                <a:avLst>
                  <a:gd name="adj1" fmla="val -79481"/>
                  <a:gd name="adj2" fmla="val 31431"/>
                  <a:gd name="adj3" fmla="val 16667"/>
                </a:avLst>
              </a:prstGeom>
              <a:gradFill rotWithShape="0">
                <a:gsLst>
                  <a:gs pos="0">
                    <a:srgbClr val="CCFFCC"/>
                  </a:gs>
                  <a:gs pos="50000">
                    <a:srgbClr val="FFFFFF"/>
                  </a:gs>
                  <a:gs pos="100000">
                    <a:srgbClr val="CCFFCC"/>
                  </a:gs>
                </a:gsLst>
                <a:lin ang="5400000" scaled="1"/>
                <a:tileRect/>
              </a:gradFill>
              <a:ln w="9525" cap="flat" cmpd="sng">
                <a:solidFill>
                  <a:srgbClr val="0066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 eaLnBrk="1" hangingPunct="1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59" name="Text Box 27"/>
              <p:cNvSpPr txBox="1"/>
              <p:nvPr/>
            </p:nvSpPr>
            <p:spPr>
              <a:xfrm>
                <a:off x="2208" y="624"/>
                <a:ext cx="912" cy="7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简谐振动的微分方程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85372" name="Group 28"/>
          <p:cNvGrpSpPr/>
          <p:nvPr/>
        </p:nvGrpSpPr>
        <p:grpSpPr>
          <a:xfrm>
            <a:off x="914400" y="4670425"/>
            <a:ext cx="5562600" cy="1346200"/>
            <a:chOff x="576" y="2942"/>
            <a:chExt cx="3504" cy="848"/>
          </a:xfrm>
        </p:grpSpPr>
        <p:sp>
          <p:nvSpPr>
            <p:cNvPr id="185365" name="AutoShape 21"/>
            <p:cNvSpPr>
              <a:spLocks noChangeArrowheads="1"/>
            </p:cNvSpPr>
            <p:nvPr/>
          </p:nvSpPr>
          <p:spPr bwMode="auto">
            <a:xfrm>
              <a:off x="1584" y="2950"/>
              <a:ext cx="240" cy="288"/>
            </a:xfrm>
            <a:prstGeom prst="wedgeRectCallout">
              <a:avLst>
                <a:gd name="adj1" fmla="val -77083"/>
                <a:gd name="adj2" fmla="val 104861"/>
              </a:avLst>
            </a:prstGeom>
            <a:gradFill rotWithShape="0">
              <a:gsLst>
                <a:gs pos="0">
                  <a:srgbClr val="CCFFCC"/>
                </a:gs>
                <a:gs pos="50000">
                  <a:schemeClr val="bg1"/>
                </a:gs>
                <a:gs pos="100000">
                  <a:srgbClr val="CCFFCC"/>
                </a:gs>
              </a:gsLst>
              <a:lin ang="5400000" scaled="1"/>
            </a:gradFill>
            <a:ln w="9525">
              <a:solidFill>
                <a:srgbClr val="009900"/>
              </a:solidFill>
              <a:miter lim="800000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350" name="AutoShape 6"/>
            <p:cNvSpPr>
              <a:spLocks noChangeArrowheads="1"/>
            </p:cNvSpPr>
            <p:nvPr/>
          </p:nvSpPr>
          <p:spPr bwMode="auto">
            <a:xfrm>
              <a:off x="2800" y="2942"/>
              <a:ext cx="240" cy="288"/>
            </a:xfrm>
            <a:prstGeom prst="wedgeRectCallout">
              <a:avLst>
                <a:gd name="adj1" fmla="val 69583"/>
                <a:gd name="adj2" fmla="val 115972"/>
              </a:avLst>
            </a:prstGeom>
            <a:gradFill rotWithShape="0">
              <a:gsLst>
                <a:gs pos="0">
                  <a:srgbClr val="CCFFCC"/>
                </a:gs>
                <a:gs pos="50000">
                  <a:schemeClr val="bg1"/>
                </a:gs>
                <a:gs pos="100000">
                  <a:srgbClr val="CCFFCC"/>
                </a:gs>
              </a:gsLst>
              <a:lin ang="5400000" scaled="1"/>
            </a:gradFill>
            <a:ln w="9525">
              <a:solidFill>
                <a:srgbClr val="009900"/>
              </a:solidFill>
              <a:miter lim="800000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49" name="Text Box 7"/>
            <p:cNvSpPr txBox="1">
              <a:spLocks noChangeArrowheads="1"/>
            </p:cNvSpPr>
            <p:nvPr/>
          </p:nvSpPr>
          <p:spPr bwMode="auto">
            <a:xfrm>
              <a:off x="576" y="3422"/>
              <a:ext cx="3504" cy="368"/>
            </a:xfrm>
            <a:prstGeom prst="rect">
              <a:avLst/>
            </a:prstGeom>
            <a:gradFill rotWithShape="0">
              <a:gsLst>
                <a:gs pos="0">
                  <a:srgbClr val="CCFFCC"/>
                </a:gs>
                <a:gs pos="50000">
                  <a:schemeClr val="bg1"/>
                </a:gs>
                <a:gs pos="100000">
                  <a:srgbClr val="CCFFCC"/>
                </a:gs>
              </a:gsLst>
              <a:lin ang="5400000" scaled="1"/>
            </a:gradFill>
            <a:ln w="9525">
              <a:solidFill>
                <a:srgbClr val="009900"/>
              </a:solidFill>
              <a:miter lim="800000"/>
            </a:ln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kern="1200" cap="none" spc="0" normalizeH="0" baseline="0" noProof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积分常量，根据初始条件确定</a:t>
              </a:r>
              <a:endParaRPr kumimoji="0" lang="zh-CN" altLang="en-US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85352" name="Object 8"/>
          <p:cNvGraphicFramePr>
            <a:graphicFrameLocks noChangeAspect="1"/>
          </p:cNvGraphicFramePr>
          <p:nvPr/>
        </p:nvGraphicFramePr>
        <p:xfrm>
          <a:off x="1828800" y="4648200"/>
          <a:ext cx="32004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1333500" imgH="241300" progId="Equation.3">
                  <p:embed/>
                </p:oleObj>
              </mc:Choice>
              <mc:Fallback>
                <p:oleObj name="" r:id="rId1" imgW="1333500" imgH="2413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28800" y="4648200"/>
                        <a:ext cx="320040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11"/>
          <p:cNvSpPr/>
          <p:nvPr/>
        </p:nvSpPr>
        <p:spPr>
          <a:xfrm>
            <a:off x="725488" y="990600"/>
            <a:ext cx="14081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解方程</a:t>
            </a:r>
            <a:endParaRPr lang="zh-CN" altLang="en-US" sz="3600" b="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5356" name="Rectangle 12"/>
          <p:cNvSpPr/>
          <p:nvPr/>
        </p:nvSpPr>
        <p:spPr>
          <a:xfrm>
            <a:off x="685800" y="2819400"/>
            <a:ext cx="41910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设初始条件为:</a:t>
            </a:r>
            <a:endParaRPr lang="zh-CN" altLang="en-US" baseline="-250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5357" name="Rectangle 13"/>
          <p:cNvSpPr/>
          <p:nvPr/>
        </p:nvSpPr>
        <p:spPr>
          <a:xfrm>
            <a:off x="762000" y="4572000"/>
            <a:ext cx="10001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解得</a:t>
            </a:r>
            <a:endParaRPr lang="zh-CN" altLang="en-US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248" name="Object 19"/>
          <p:cNvGraphicFramePr>
            <a:graphicFrameLocks noChangeAspect="1"/>
          </p:cNvGraphicFramePr>
          <p:nvPr/>
        </p:nvGraphicFramePr>
        <p:xfrm>
          <a:off x="762000" y="1752600"/>
          <a:ext cx="224155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" imgW="927100" imgH="482600" progId="Equation.3">
                  <p:embed/>
                </p:oleObj>
              </mc:Choice>
              <mc:Fallback>
                <p:oleObj name="" r:id="rId3" imgW="927100" imgH="4826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" y="1752600"/>
                        <a:ext cx="2241550" cy="1036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69" name="Object 25"/>
          <p:cNvGraphicFramePr>
            <a:graphicFrameLocks noChangeAspect="1"/>
          </p:cNvGraphicFramePr>
          <p:nvPr/>
        </p:nvGraphicFramePr>
        <p:xfrm>
          <a:off x="762000" y="3657600"/>
          <a:ext cx="410686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5" imgW="1028065" imgH="177800" progId="Equation.DSMT4">
                  <p:embed/>
                </p:oleObj>
              </mc:Choice>
              <mc:Fallback>
                <p:oleObj name="" r:id="rId5" imgW="1028065" imgH="1778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0" y="3657600"/>
                        <a:ext cx="4106863" cy="71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5376" name="Group 32"/>
          <p:cNvGrpSpPr/>
          <p:nvPr/>
        </p:nvGrpSpPr>
        <p:grpSpPr>
          <a:xfrm>
            <a:off x="5029200" y="4648200"/>
            <a:ext cx="3719513" cy="584200"/>
            <a:chOff x="3168" y="2928"/>
            <a:chExt cx="2450" cy="367"/>
          </a:xfrm>
        </p:grpSpPr>
        <p:sp>
          <p:nvSpPr>
            <p:cNvPr id="10251" name="Text Box 30"/>
            <p:cNvSpPr txBox="1"/>
            <p:nvPr/>
          </p:nvSpPr>
          <p:spPr>
            <a:xfrm>
              <a:off x="3878" y="2928"/>
              <a:ext cx="1740" cy="3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简谐振动方程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375" name="AutoShape 31"/>
            <p:cNvSpPr>
              <a:spLocks noChangeArrowheads="1"/>
            </p:cNvSpPr>
            <p:nvPr/>
          </p:nvSpPr>
          <p:spPr bwMode="auto">
            <a:xfrm>
              <a:off x="3168" y="3072"/>
              <a:ext cx="672" cy="104"/>
            </a:xfrm>
            <a:prstGeom prst="leftArrow">
              <a:avLst>
                <a:gd name="adj1" fmla="val 50000"/>
                <a:gd name="adj2" fmla="val 175000"/>
              </a:avLst>
            </a:prstGeom>
            <a:gradFill rotWithShape="0">
              <a:gsLst>
                <a:gs pos="0">
                  <a:schemeClr val="tx1"/>
                </a:gs>
                <a:gs pos="50000">
                  <a:srgbClr val="CC0000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8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6" grpId="0"/>
      <p:bldP spid="1853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6371" name="Object 3"/>
          <p:cNvGraphicFramePr>
            <a:graphicFrameLocks noChangeAspect="1"/>
          </p:cNvGraphicFramePr>
          <p:nvPr/>
        </p:nvGraphicFramePr>
        <p:xfrm>
          <a:off x="1706563" y="2590800"/>
          <a:ext cx="492283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2159000" imgH="482600" progId="Equation.3">
                  <p:embed/>
                </p:oleObj>
              </mc:Choice>
              <mc:Fallback>
                <p:oleObj name="" r:id="rId1" imgW="2159000" imgH="4826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06563" y="2590800"/>
                        <a:ext cx="4922837" cy="103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4"/>
          <p:cNvGraphicFramePr>
            <a:graphicFrameLocks noChangeAspect="1"/>
          </p:cNvGraphicFramePr>
          <p:nvPr/>
        </p:nvGraphicFramePr>
        <p:xfrm>
          <a:off x="1752600" y="939800"/>
          <a:ext cx="29749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3" imgW="1333500" imgH="241300" progId="Equation.3">
                  <p:embed/>
                </p:oleObj>
              </mc:Choice>
              <mc:Fallback>
                <p:oleObj name="" r:id="rId3" imgW="1333500" imgH="2413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52600" y="939800"/>
                        <a:ext cx="297497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5"/>
          <p:cNvSpPr txBox="1"/>
          <p:nvPr/>
        </p:nvSpPr>
        <p:spPr>
          <a:xfrm>
            <a:off x="974725" y="830263"/>
            <a:ext cx="592138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由</a:t>
            </a:r>
            <a:endParaRPr lang="zh-CN" altLang="en-US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2293" name="Rectangle 12"/>
          <p:cNvGraphicFramePr/>
          <p:nvPr/>
        </p:nvGraphicFramePr>
        <p:xfrm>
          <a:off x="1524000" y="1397000"/>
          <a:ext cx="3886200" cy="309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5" imgW="0" imgH="0" progId="Equation.3">
                  <p:embed/>
                </p:oleObj>
              </mc:Choice>
              <mc:Fallback>
                <p:oleObj name="" r:id="rId5" imgW="0" imgH="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3886200" cy="309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6385" name="Group 17"/>
          <p:cNvGrpSpPr/>
          <p:nvPr/>
        </p:nvGrpSpPr>
        <p:grpSpPr>
          <a:xfrm>
            <a:off x="960438" y="1524000"/>
            <a:ext cx="4983162" cy="996950"/>
            <a:chOff x="605" y="960"/>
            <a:chExt cx="3139" cy="628"/>
          </a:xfrm>
        </p:grpSpPr>
        <p:sp>
          <p:nvSpPr>
            <p:cNvPr id="12301" name="Text Box 6"/>
            <p:cNvSpPr txBox="1"/>
            <p:nvPr/>
          </p:nvSpPr>
          <p:spPr>
            <a:xfrm>
              <a:off x="605" y="1087"/>
              <a:ext cx="37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得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302" name="Object 14"/>
            <p:cNvGraphicFramePr>
              <a:graphicFrameLocks noChangeAspect="1"/>
            </p:cNvGraphicFramePr>
            <p:nvPr/>
          </p:nvGraphicFramePr>
          <p:xfrm>
            <a:off x="1104" y="960"/>
            <a:ext cx="2640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6" imgW="1968500" imgH="469900" progId="Equation.3">
                    <p:embed/>
                  </p:oleObj>
                </mc:Choice>
                <mc:Fallback>
                  <p:oleObj name="" r:id="rId6" imgW="1968500" imgH="4699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04" y="960"/>
                          <a:ext cx="2640" cy="6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6392" name="Group 24"/>
          <p:cNvGrpSpPr/>
          <p:nvPr/>
        </p:nvGrpSpPr>
        <p:grpSpPr>
          <a:xfrm>
            <a:off x="990600" y="3733800"/>
            <a:ext cx="4589463" cy="2352675"/>
            <a:chOff x="624" y="2352"/>
            <a:chExt cx="2874" cy="1482"/>
          </a:xfrm>
        </p:grpSpPr>
        <p:sp>
          <p:nvSpPr>
            <p:cNvPr id="12299" name="Rectangle 9"/>
            <p:cNvSpPr/>
            <p:nvPr/>
          </p:nvSpPr>
          <p:spPr>
            <a:xfrm>
              <a:off x="624" y="2668"/>
              <a:ext cx="63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其中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300" name="Object 15"/>
            <p:cNvGraphicFramePr>
              <a:graphicFrameLocks noChangeAspect="1"/>
            </p:cNvGraphicFramePr>
            <p:nvPr/>
          </p:nvGraphicFramePr>
          <p:xfrm>
            <a:off x="1206" y="2352"/>
            <a:ext cx="2292" cy="1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8" imgW="1460500" imgH="1104900" progId="Equation.3">
                    <p:embed/>
                  </p:oleObj>
                </mc:Choice>
                <mc:Fallback>
                  <p:oleObj name="" r:id="rId8" imgW="1460500" imgH="11049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206" y="2352"/>
                          <a:ext cx="2292" cy="14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6" name="Group 21"/>
          <p:cNvGrpSpPr/>
          <p:nvPr/>
        </p:nvGrpSpPr>
        <p:grpSpPr>
          <a:xfrm>
            <a:off x="4800600" y="914400"/>
            <a:ext cx="3706813" cy="584200"/>
            <a:chOff x="3168" y="2928"/>
            <a:chExt cx="2451" cy="368"/>
          </a:xfrm>
        </p:grpSpPr>
        <p:sp>
          <p:nvSpPr>
            <p:cNvPr id="12297" name="Text Box 22"/>
            <p:cNvSpPr txBox="1"/>
            <p:nvPr/>
          </p:nvSpPr>
          <p:spPr>
            <a:xfrm>
              <a:off x="3878" y="2928"/>
              <a:ext cx="174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简谐振动方程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6391" name="AutoShape 23"/>
            <p:cNvSpPr>
              <a:spLocks noChangeArrowheads="1"/>
            </p:cNvSpPr>
            <p:nvPr/>
          </p:nvSpPr>
          <p:spPr bwMode="auto">
            <a:xfrm>
              <a:off x="3168" y="3072"/>
              <a:ext cx="672" cy="96"/>
            </a:xfrm>
            <a:prstGeom prst="leftArrow">
              <a:avLst>
                <a:gd name="adj1" fmla="val 50000"/>
                <a:gd name="adj2" fmla="val 175000"/>
              </a:avLst>
            </a:prstGeom>
            <a:gradFill rotWithShape="0">
              <a:gsLst>
                <a:gs pos="0">
                  <a:schemeClr val="tx1"/>
                </a:gs>
                <a:gs pos="50000">
                  <a:srgbClr val="CC0000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93"/>
          <p:cNvSpPr/>
          <p:nvPr/>
        </p:nvSpPr>
        <p:spPr>
          <a:xfrm>
            <a:off x="4787900" y="990600"/>
            <a:ext cx="3962400" cy="4876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315" name="Line 2"/>
          <p:cNvSpPr/>
          <p:nvPr/>
        </p:nvSpPr>
        <p:spPr>
          <a:xfrm flipV="1">
            <a:off x="5740400" y="1914525"/>
            <a:ext cx="28590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13316" name="Line 4"/>
          <p:cNvSpPr/>
          <p:nvPr/>
        </p:nvSpPr>
        <p:spPr>
          <a:xfrm flipV="1">
            <a:off x="5740400" y="3414713"/>
            <a:ext cx="2816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13317" name="Line 5"/>
          <p:cNvSpPr/>
          <p:nvPr/>
        </p:nvSpPr>
        <p:spPr>
          <a:xfrm>
            <a:off x="5740400" y="5102225"/>
            <a:ext cx="2816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13318" name="Line 7"/>
          <p:cNvSpPr/>
          <p:nvPr/>
        </p:nvSpPr>
        <p:spPr>
          <a:xfrm>
            <a:off x="6151563" y="1476375"/>
            <a:ext cx="0" cy="42513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13319" name="Line 8"/>
          <p:cNvSpPr/>
          <p:nvPr/>
        </p:nvSpPr>
        <p:spPr>
          <a:xfrm>
            <a:off x="6616700" y="1476375"/>
            <a:ext cx="0" cy="4251325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13320" name="Line 9"/>
          <p:cNvSpPr/>
          <p:nvPr/>
        </p:nvSpPr>
        <p:spPr>
          <a:xfrm>
            <a:off x="7073900" y="1476375"/>
            <a:ext cx="0" cy="42513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13321" name="Line 10"/>
          <p:cNvSpPr/>
          <p:nvPr/>
        </p:nvSpPr>
        <p:spPr>
          <a:xfrm>
            <a:off x="7531100" y="1476375"/>
            <a:ext cx="0" cy="4251325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13322" name="Line 11"/>
          <p:cNvSpPr/>
          <p:nvPr/>
        </p:nvSpPr>
        <p:spPr>
          <a:xfrm>
            <a:off x="7912100" y="1476375"/>
            <a:ext cx="0" cy="42513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13323" name="Line 16"/>
          <p:cNvSpPr/>
          <p:nvPr/>
        </p:nvSpPr>
        <p:spPr>
          <a:xfrm>
            <a:off x="5740400" y="1476375"/>
            <a:ext cx="2663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13324" name="Line 17"/>
          <p:cNvSpPr/>
          <p:nvPr/>
        </p:nvSpPr>
        <p:spPr>
          <a:xfrm>
            <a:off x="5740400" y="2351088"/>
            <a:ext cx="2663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13325" name="Line 28"/>
          <p:cNvSpPr/>
          <p:nvPr/>
        </p:nvSpPr>
        <p:spPr>
          <a:xfrm flipV="1">
            <a:off x="5740400" y="1163638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13326" name="Line 29"/>
          <p:cNvSpPr/>
          <p:nvPr/>
        </p:nvSpPr>
        <p:spPr>
          <a:xfrm flipV="1">
            <a:off x="5740400" y="2727325"/>
            <a:ext cx="0" cy="1374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13327" name="Line 30"/>
          <p:cNvSpPr/>
          <p:nvPr/>
        </p:nvSpPr>
        <p:spPr>
          <a:xfrm flipV="1">
            <a:off x="5740400" y="4289425"/>
            <a:ext cx="0" cy="1563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13328" name="Line 31"/>
          <p:cNvSpPr/>
          <p:nvPr/>
        </p:nvSpPr>
        <p:spPr>
          <a:xfrm flipH="1">
            <a:off x="5740400" y="2914650"/>
            <a:ext cx="26209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13329" name="Line 32"/>
          <p:cNvSpPr/>
          <p:nvPr/>
        </p:nvSpPr>
        <p:spPr>
          <a:xfrm flipH="1">
            <a:off x="5740400" y="3914775"/>
            <a:ext cx="26209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13330" name="Line 33"/>
          <p:cNvSpPr/>
          <p:nvPr/>
        </p:nvSpPr>
        <p:spPr>
          <a:xfrm flipH="1">
            <a:off x="5740400" y="4540250"/>
            <a:ext cx="26860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grpSp>
        <p:nvGrpSpPr>
          <p:cNvPr id="13331" name="Group 113"/>
          <p:cNvGrpSpPr/>
          <p:nvPr/>
        </p:nvGrpSpPr>
        <p:grpSpPr>
          <a:xfrm>
            <a:off x="6346825" y="1038225"/>
            <a:ext cx="1365250" cy="376238"/>
            <a:chOff x="3958" y="654"/>
            <a:chExt cx="860" cy="237"/>
          </a:xfrm>
        </p:grpSpPr>
        <p:sp>
          <p:nvSpPr>
            <p:cNvPr id="13370" name="Rectangle 80"/>
            <p:cNvSpPr/>
            <p:nvPr/>
          </p:nvSpPr>
          <p:spPr>
            <a:xfrm>
              <a:off x="3958" y="654"/>
              <a:ext cx="860" cy="237"/>
            </a:xfrm>
            <a:prstGeom prst="rect">
              <a:avLst/>
            </a:prstGeom>
            <a:gradFill rotWithShape="0">
              <a:gsLst>
                <a:gs pos="0">
                  <a:srgbClr val="CCECFF"/>
                </a:gs>
                <a:gs pos="50000">
                  <a:srgbClr val="FFFFFF"/>
                </a:gs>
                <a:gs pos="100000">
                  <a:srgbClr val="CCECFF"/>
                </a:gs>
              </a:gsLst>
              <a:lin ang="5400000" scaled="1"/>
              <a:tileRect/>
            </a:gradFill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71" name="Object 35"/>
            <p:cNvGraphicFramePr>
              <a:graphicFrameLocks noChangeAspect="1"/>
            </p:cNvGraphicFramePr>
            <p:nvPr/>
          </p:nvGraphicFramePr>
          <p:xfrm>
            <a:off x="3999" y="654"/>
            <a:ext cx="54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1" imgW="481965" imgH="215900" progId="Equation.3">
                    <p:embed/>
                  </p:oleObj>
                </mc:Choice>
                <mc:Fallback>
                  <p:oleObj name="" r:id="rId1" imgW="481965" imgH="2159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99" y="654"/>
                          <a:ext cx="546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32" name="Text Box 40"/>
          <p:cNvSpPr txBox="1"/>
          <p:nvPr/>
        </p:nvSpPr>
        <p:spPr>
          <a:xfrm>
            <a:off x="7150100" y="952500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图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90194" name="Rectangle 82"/>
          <p:cNvSpPr>
            <a:spLocks noChangeArrowheads="1"/>
          </p:cNvSpPr>
          <p:nvPr/>
        </p:nvSpPr>
        <p:spPr bwMode="auto">
          <a:xfrm>
            <a:off x="6346825" y="2476500"/>
            <a:ext cx="1365250" cy="37465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334" name="Object 36"/>
          <p:cNvGraphicFramePr>
            <a:graphicFrameLocks noChangeAspect="1"/>
          </p:cNvGraphicFramePr>
          <p:nvPr/>
        </p:nvGraphicFramePr>
        <p:xfrm>
          <a:off x="6411913" y="2476500"/>
          <a:ext cx="838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3" imgW="304800" imgH="152400" progId="Equation.3">
                  <p:embed/>
                </p:oleObj>
              </mc:Choice>
              <mc:Fallback>
                <p:oleObj name="" r:id="rId3" imgW="304800" imgH="1524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11913" y="2476500"/>
                        <a:ext cx="838200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5" name="Rectangle 41"/>
          <p:cNvSpPr/>
          <p:nvPr/>
        </p:nvSpPr>
        <p:spPr>
          <a:xfrm>
            <a:off x="7150100" y="2387600"/>
            <a:ext cx="5064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图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90196" name="Rectangle 84"/>
          <p:cNvSpPr>
            <a:spLocks noChangeArrowheads="1"/>
          </p:cNvSpPr>
          <p:nvPr/>
        </p:nvSpPr>
        <p:spPr bwMode="auto">
          <a:xfrm>
            <a:off x="6346825" y="4029075"/>
            <a:ext cx="1365250" cy="37465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50000">
                <a:schemeClr val="folHlink">
                  <a:gamma/>
                  <a:tint val="0"/>
                  <a:invGamma/>
                </a:schemeClr>
              </a:gs>
              <a:gs pos="100000">
                <a:schemeClr val="folHlink"/>
              </a:gs>
            </a:gsLst>
            <a:lin ang="5400000" scaled="1"/>
          </a:gradFill>
          <a:ln w="19050">
            <a:solidFill>
              <a:srgbClr val="9900CC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337" name="Object 37"/>
          <p:cNvGraphicFramePr>
            <a:graphicFrameLocks noChangeAspect="1"/>
          </p:cNvGraphicFramePr>
          <p:nvPr/>
        </p:nvGraphicFramePr>
        <p:xfrm>
          <a:off x="6499225" y="4029075"/>
          <a:ext cx="822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5" imgW="481965" imgH="215900" progId="Equation.3">
                  <p:embed/>
                </p:oleObj>
              </mc:Choice>
              <mc:Fallback>
                <p:oleObj name="" r:id="rId5" imgW="481965" imgH="2159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9225" y="4029075"/>
                        <a:ext cx="822325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8" name="Rectangle 42"/>
          <p:cNvSpPr/>
          <p:nvPr/>
        </p:nvSpPr>
        <p:spPr>
          <a:xfrm>
            <a:off x="7197725" y="3951288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图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339" name="Object 54"/>
          <p:cNvGraphicFramePr>
            <a:graphicFrameLocks noChangeAspect="1"/>
          </p:cNvGraphicFramePr>
          <p:nvPr/>
        </p:nvGraphicFramePr>
        <p:xfrm>
          <a:off x="7543800" y="1933575"/>
          <a:ext cx="24765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7" imgW="139700" imgH="165100" progId="Equation.3">
                  <p:embed/>
                </p:oleObj>
              </mc:Choice>
              <mc:Fallback>
                <p:oleObj name="" r:id="rId7" imgW="139700" imgH="1651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43800" y="1933575"/>
                        <a:ext cx="247650" cy="274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0" name="Object 56"/>
          <p:cNvGraphicFramePr>
            <a:graphicFrameLocks noChangeAspect="1"/>
          </p:cNvGraphicFramePr>
          <p:nvPr/>
        </p:nvGraphicFramePr>
        <p:xfrm>
          <a:off x="5113338" y="2816225"/>
          <a:ext cx="5953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9" imgW="419100" imgH="241300" progId="Equation.3">
                  <p:embed/>
                </p:oleObj>
              </mc:Choice>
              <mc:Fallback>
                <p:oleObj name="" r:id="rId9" imgW="419100" imgH="2413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13338" y="2816225"/>
                        <a:ext cx="595312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1" name="Object 57"/>
          <p:cNvGraphicFramePr>
            <a:graphicFrameLocks noChangeAspect="1"/>
          </p:cNvGraphicFramePr>
          <p:nvPr/>
        </p:nvGraphicFramePr>
        <p:xfrm>
          <a:off x="4918075" y="3698875"/>
          <a:ext cx="801688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1" imgW="596900" imgH="241300" progId="Equation.3">
                  <p:embed/>
                </p:oleObj>
              </mc:Choice>
              <mc:Fallback>
                <p:oleObj name="" r:id="rId11" imgW="596900" imgH="2413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18075" y="3698875"/>
                        <a:ext cx="801688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2" name="Object 58"/>
          <p:cNvGraphicFramePr>
            <a:graphicFrameLocks noChangeAspect="1"/>
          </p:cNvGraphicFramePr>
          <p:nvPr/>
        </p:nvGraphicFramePr>
        <p:xfrm>
          <a:off x="5064125" y="4292600"/>
          <a:ext cx="6985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3" imgW="508000" imgH="304800" progId="Equation.3">
                  <p:embed/>
                </p:oleObj>
              </mc:Choice>
              <mc:Fallback>
                <p:oleObj name="" r:id="rId13" imgW="508000" imgH="3048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64125" y="4292600"/>
                        <a:ext cx="698500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3" name="Object 59"/>
          <p:cNvGraphicFramePr>
            <a:graphicFrameLocks noChangeAspect="1"/>
          </p:cNvGraphicFramePr>
          <p:nvPr/>
        </p:nvGraphicFramePr>
        <p:xfrm>
          <a:off x="4787900" y="5465763"/>
          <a:ext cx="9715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5" imgW="685800" imgH="304800" progId="Equation.3">
                  <p:embed/>
                </p:oleObj>
              </mc:Choice>
              <mc:Fallback>
                <p:oleObj name="" r:id="rId15" imgW="685800" imgH="3048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87900" y="5465763"/>
                        <a:ext cx="971550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4" name="Object 61"/>
          <p:cNvGraphicFramePr>
            <a:graphicFrameLocks noChangeAspect="1"/>
          </p:cNvGraphicFramePr>
          <p:nvPr/>
        </p:nvGraphicFramePr>
        <p:xfrm>
          <a:off x="5762625" y="1101725"/>
          <a:ext cx="3016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7" imgW="177800" imgH="190500" progId="Equation.3">
                  <p:embed/>
                </p:oleObj>
              </mc:Choice>
              <mc:Fallback>
                <p:oleObj name="" r:id="rId17" imgW="177800" imgH="1905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62625" y="1101725"/>
                        <a:ext cx="301625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5" name="Object 62"/>
          <p:cNvGraphicFramePr>
            <a:graphicFrameLocks noChangeAspect="1"/>
          </p:cNvGraphicFramePr>
          <p:nvPr/>
        </p:nvGraphicFramePr>
        <p:xfrm>
          <a:off x="5762625" y="2601913"/>
          <a:ext cx="2841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9" imgW="228600" imgH="241300" progId="Equation.3">
                  <p:embed/>
                </p:oleObj>
              </mc:Choice>
              <mc:Fallback>
                <p:oleObj name="" r:id="rId19" imgW="228600" imgH="2413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62625" y="2601913"/>
                        <a:ext cx="284163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6" name="Object 63"/>
          <p:cNvGraphicFramePr>
            <a:graphicFrameLocks noChangeAspect="1"/>
          </p:cNvGraphicFramePr>
          <p:nvPr/>
        </p:nvGraphicFramePr>
        <p:xfrm>
          <a:off x="5805488" y="4165600"/>
          <a:ext cx="3016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21" imgW="177800" imgH="190500" progId="Equation.3">
                  <p:embed/>
                </p:oleObj>
              </mc:Choice>
              <mc:Fallback>
                <p:oleObj name="" r:id="rId21" imgW="177800" imgH="1905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05488" y="4165600"/>
                        <a:ext cx="301625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7" name="Object 69"/>
          <p:cNvGraphicFramePr>
            <a:graphicFrameLocks noChangeAspect="1"/>
          </p:cNvGraphicFramePr>
          <p:nvPr/>
        </p:nvGraphicFramePr>
        <p:xfrm>
          <a:off x="8426450" y="1625600"/>
          <a:ext cx="15716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23" imgW="114300" imgH="215900" progId="Equation.3">
                  <p:embed/>
                </p:oleObj>
              </mc:Choice>
              <mc:Fallback>
                <p:oleObj name="" r:id="rId23" imgW="114300" imgH="2159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426450" y="1625600"/>
                        <a:ext cx="157163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8" name="Object 70"/>
          <p:cNvGraphicFramePr>
            <a:graphicFrameLocks noChangeAspect="1"/>
          </p:cNvGraphicFramePr>
          <p:nvPr/>
        </p:nvGraphicFramePr>
        <p:xfrm>
          <a:off x="8362950" y="3081338"/>
          <a:ext cx="20637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25" imgW="88265" imgH="152400" progId="Equation.3">
                  <p:embed/>
                </p:oleObj>
              </mc:Choice>
              <mc:Fallback>
                <p:oleObj name="" r:id="rId25" imgW="88265" imgH="1524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362950" y="3081338"/>
                        <a:ext cx="206375" cy="347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9" name="Object 71"/>
          <p:cNvGraphicFramePr>
            <a:graphicFrameLocks noChangeAspect="1"/>
          </p:cNvGraphicFramePr>
          <p:nvPr/>
        </p:nvGraphicFramePr>
        <p:xfrm>
          <a:off x="8399463" y="4752975"/>
          <a:ext cx="157162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27" imgW="114300" imgH="215900" progId="Equation.3">
                  <p:embed/>
                </p:oleObj>
              </mc:Choice>
              <mc:Fallback>
                <p:oleObj name="" r:id="rId27" imgW="114300" imgH="2159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399463" y="4752975"/>
                        <a:ext cx="157162" cy="287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0" name="Object 72"/>
          <p:cNvGraphicFramePr>
            <a:graphicFrameLocks noChangeAspect="1"/>
          </p:cNvGraphicFramePr>
          <p:nvPr/>
        </p:nvGraphicFramePr>
        <p:xfrm>
          <a:off x="5416550" y="1350963"/>
          <a:ext cx="30321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28" imgW="215900" imgH="228600" progId="Equation.3">
                  <p:embed/>
                </p:oleObj>
              </mc:Choice>
              <mc:Fallback>
                <p:oleObj name="" r:id="rId28" imgW="215900" imgH="2286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416550" y="1350963"/>
                        <a:ext cx="303213" cy="31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1" name="Object 73"/>
          <p:cNvGraphicFramePr>
            <a:graphicFrameLocks noChangeAspect="1"/>
          </p:cNvGraphicFramePr>
          <p:nvPr/>
        </p:nvGraphicFramePr>
        <p:xfrm>
          <a:off x="5221288" y="2163763"/>
          <a:ext cx="4318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30" imgW="393700" imgH="228600" progId="Equation.3">
                  <p:embed/>
                </p:oleObj>
              </mc:Choice>
              <mc:Fallback>
                <p:oleObj name="" r:id="rId30" imgW="393700" imgH="228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221288" y="2163763"/>
                        <a:ext cx="431800" cy="31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2" name="Object 76"/>
          <p:cNvGraphicFramePr>
            <a:graphicFrameLocks noChangeAspect="1"/>
          </p:cNvGraphicFramePr>
          <p:nvPr/>
        </p:nvGraphicFramePr>
        <p:xfrm>
          <a:off x="5327650" y="1687513"/>
          <a:ext cx="5127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32" imgW="127000" imgH="139700" progId="Equation.3">
                  <p:embed/>
                </p:oleObj>
              </mc:Choice>
              <mc:Fallback>
                <p:oleObj name="" r:id="rId32" imgW="127000" imgH="1397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327650" y="1687513"/>
                        <a:ext cx="512763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3" name="Object 77"/>
          <p:cNvGraphicFramePr>
            <a:graphicFrameLocks noChangeAspect="1"/>
          </p:cNvGraphicFramePr>
          <p:nvPr/>
        </p:nvGraphicFramePr>
        <p:xfrm>
          <a:off x="5313363" y="4854575"/>
          <a:ext cx="5095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4" imgW="127000" imgH="139700" progId="Equation.3">
                  <p:embed/>
                </p:oleObj>
              </mc:Choice>
              <mc:Fallback>
                <p:oleObj name="" r:id="rId34" imgW="127000" imgH="1397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313363" y="4854575"/>
                        <a:ext cx="509587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4" name="Object 78"/>
          <p:cNvGraphicFramePr>
            <a:graphicFrameLocks noChangeAspect="1"/>
          </p:cNvGraphicFramePr>
          <p:nvPr/>
        </p:nvGraphicFramePr>
        <p:xfrm>
          <a:off x="5327650" y="3201988"/>
          <a:ext cx="5127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5" imgW="127000" imgH="139700" progId="Equation.3">
                  <p:embed/>
                </p:oleObj>
              </mc:Choice>
              <mc:Fallback>
                <p:oleObj name="" r:id="rId35" imgW="127000" imgH="1397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327650" y="3201988"/>
                        <a:ext cx="512763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55" name="Line 91"/>
          <p:cNvSpPr/>
          <p:nvPr/>
        </p:nvSpPr>
        <p:spPr>
          <a:xfrm flipH="1">
            <a:off x="5762625" y="5665788"/>
            <a:ext cx="2663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graphicFrame>
        <p:nvGraphicFramePr>
          <p:cNvPr id="13356" name="Object 98"/>
          <p:cNvGraphicFramePr>
            <a:graphicFrameLocks noChangeAspect="1"/>
          </p:cNvGraphicFramePr>
          <p:nvPr/>
        </p:nvGraphicFramePr>
        <p:xfrm>
          <a:off x="7291388" y="5127625"/>
          <a:ext cx="24765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6" imgW="139700" imgH="165100" progId="Equation.3">
                  <p:embed/>
                </p:oleObj>
              </mc:Choice>
              <mc:Fallback>
                <p:oleObj name="" r:id="rId36" imgW="139700" imgH="1651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7291388" y="5127625"/>
                        <a:ext cx="247650" cy="274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7" name="Object 13"/>
          <p:cNvGraphicFramePr>
            <a:graphicFrameLocks noChangeAspect="1"/>
          </p:cNvGraphicFramePr>
          <p:nvPr/>
        </p:nvGraphicFramePr>
        <p:xfrm>
          <a:off x="787400" y="1016000"/>
          <a:ext cx="27813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8" imgW="1333500" imgH="241300" progId="Equation.3">
                  <p:embed/>
                </p:oleObj>
              </mc:Choice>
              <mc:Fallback>
                <p:oleObj name="" r:id="rId38" imgW="1333500" imgH="2413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87400" y="1016000"/>
                        <a:ext cx="2781300" cy="5016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ECFF"/>
                          </a:gs>
                          <a:gs pos="50000">
                            <a:srgbClr val="FFFFFF"/>
                          </a:gs>
                          <a:gs pos="100000">
                            <a:srgbClr val="CCECFF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rgbClr val="00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227" name="Group 115"/>
          <p:cNvGrpSpPr/>
          <p:nvPr/>
        </p:nvGrpSpPr>
        <p:grpSpPr>
          <a:xfrm>
            <a:off x="2438400" y="1778000"/>
            <a:ext cx="1676400" cy="579438"/>
            <a:chOff x="1632" y="1104"/>
            <a:chExt cx="1056" cy="365"/>
          </a:xfrm>
        </p:grpSpPr>
        <p:graphicFrame>
          <p:nvGraphicFramePr>
            <p:cNvPr id="13368" name="Object 34"/>
            <p:cNvGraphicFramePr>
              <a:graphicFrameLocks noChangeAspect="1"/>
            </p:cNvGraphicFramePr>
            <p:nvPr/>
          </p:nvGraphicFramePr>
          <p:xfrm>
            <a:off x="1988" y="1112"/>
            <a:ext cx="70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40" imgW="444500" imgH="241300" progId="Equation.3">
                    <p:embed/>
                  </p:oleObj>
                </mc:Choice>
                <mc:Fallback>
                  <p:oleObj name="" r:id="rId40" imgW="444500" imgH="2413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1988" y="1112"/>
                          <a:ext cx="700" cy="3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9" name="Text Box 38"/>
            <p:cNvSpPr txBox="1"/>
            <p:nvPr/>
          </p:nvSpPr>
          <p:spPr>
            <a:xfrm>
              <a:off x="1632" y="1104"/>
              <a:ext cx="37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取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90176" name="Object 64"/>
          <p:cNvGraphicFramePr>
            <a:graphicFrameLocks noChangeAspect="1"/>
          </p:cNvGraphicFramePr>
          <p:nvPr/>
        </p:nvGraphicFramePr>
        <p:xfrm>
          <a:off x="1016000" y="1549400"/>
          <a:ext cx="12954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42" imgW="596900" imgH="469900" progId="Equation.3">
                  <p:embed/>
                </p:oleObj>
              </mc:Choice>
              <mc:Fallback>
                <p:oleObj name="" r:id="rId42" imgW="596900" imgH="4699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016000" y="1549400"/>
                        <a:ext cx="1295400" cy="1020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6" name="Object 14"/>
          <p:cNvGraphicFramePr>
            <a:graphicFrameLocks noChangeAspect="1"/>
          </p:cNvGraphicFramePr>
          <p:nvPr/>
        </p:nvGraphicFramePr>
        <p:xfrm>
          <a:off x="1003300" y="3105150"/>
          <a:ext cx="36464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44" imgW="1651000" imgH="469900" progId="Equation.3">
                  <p:embed/>
                </p:oleObj>
              </mc:Choice>
              <mc:Fallback>
                <p:oleObj name="" r:id="rId44" imgW="1651000" imgH="4699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003300" y="3105150"/>
                        <a:ext cx="3646488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7" name="Object 65"/>
          <p:cNvGraphicFramePr>
            <a:graphicFrameLocks noChangeAspect="1"/>
          </p:cNvGraphicFramePr>
          <p:nvPr/>
        </p:nvGraphicFramePr>
        <p:xfrm>
          <a:off x="787400" y="2647950"/>
          <a:ext cx="3657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46" imgW="1574800" imgH="241300" progId="Equation.3">
                  <p:embed/>
                </p:oleObj>
              </mc:Choice>
              <mc:Fallback>
                <p:oleObj name="" r:id="rId46" imgW="1574800" imgH="2413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787400" y="2647950"/>
                        <a:ext cx="3657600" cy="5175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rgbClr val="008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7" name="Object 15"/>
          <p:cNvGraphicFramePr>
            <a:graphicFrameLocks noChangeAspect="1"/>
          </p:cNvGraphicFramePr>
          <p:nvPr/>
        </p:nvGraphicFramePr>
        <p:xfrm>
          <a:off x="1003300" y="4933950"/>
          <a:ext cx="37512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48" imgW="1701800" imgH="266700" progId="Equation.3">
                  <p:embed/>
                </p:oleObj>
              </mc:Choice>
              <mc:Fallback>
                <p:oleObj name="" r:id="rId48" imgW="1701800" imgH="2667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003300" y="4933950"/>
                        <a:ext cx="3751263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8" name="Object 66"/>
          <p:cNvGraphicFramePr>
            <a:graphicFrameLocks noChangeAspect="1"/>
          </p:cNvGraphicFramePr>
          <p:nvPr/>
        </p:nvGraphicFramePr>
        <p:xfrm>
          <a:off x="762000" y="4171950"/>
          <a:ext cx="40068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50" imgW="1675765" imgH="266700" progId="Equation.3">
                  <p:embed/>
                </p:oleObj>
              </mc:Choice>
              <mc:Fallback>
                <p:oleObj name="" r:id="rId50" imgW="1675765" imgH="2667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62000" y="4171950"/>
                        <a:ext cx="4006850" cy="5810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folHlink"/>
                          </a:gs>
                          <a:gs pos="50000">
                            <a:srgbClr val="FFFFFF"/>
                          </a:gs>
                          <a:gs pos="100000">
                            <a:schemeClr val="folHlink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rgbClr val="99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08" name="Freeform 96"/>
          <p:cNvSpPr>
            <a:spLocks noChangeAspect="1"/>
          </p:cNvSpPr>
          <p:nvPr/>
        </p:nvSpPr>
        <p:spPr>
          <a:xfrm>
            <a:off x="5741988" y="1460500"/>
            <a:ext cx="2286000" cy="9144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625" h="1183">
                <a:moveTo>
                  <a:pt x="0" y="0"/>
                </a:moveTo>
                <a:lnTo>
                  <a:pt x="37" y="4"/>
                </a:lnTo>
                <a:lnTo>
                  <a:pt x="71" y="14"/>
                </a:lnTo>
                <a:lnTo>
                  <a:pt x="108" y="32"/>
                </a:lnTo>
                <a:lnTo>
                  <a:pt x="144" y="58"/>
                </a:lnTo>
                <a:lnTo>
                  <a:pt x="180" y="89"/>
                </a:lnTo>
                <a:lnTo>
                  <a:pt x="215" y="127"/>
                </a:lnTo>
                <a:lnTo>
                  <a:pt x="251" y="170"/>
                </a:lnTo>
                <a:lnTo>
                  <a:pt x="287" y="219"/>
                </a:lnTo>
                <a:lnTo>
                  <a:pt x="324" y="272"/>
                </a:lnTo>
                <a:lnTo>
                  <a:pt x="359" y="329"/>
                </a:lnTo>
                <a:lnTo>
                  <a:pt x="395" y="390"/>
                </a:lnTo>
                <a:lnTo>
                  <a:pt x="432" y="453"/>
                </a:lnTo>
                <a:lnTo>
                  <a:pt x="467" y="517"/>
                </a:lnTo>
                <a:lnTo>
                  <a:pt x="503" y="583"/>
                </a:lnTo>
                <a:lnTo>
                  <a:pt x="540" y="649"/>
                </a:lnTo>
                <a:lnTo>
                  <a:pt x="575" y="713"/>
                </a:lnTo>
                <a:lnTo>
                  <a:pt x="612" y="777"/>
                </a:lnTo>
                <a:lnTo>
                  <a:pt x="646" y="839"/>
                </a:lnTo>
                <a:lnTo>
                  <a:pt x="683" y="896"/>
                </a:lnTo>
                <a:lnTo>
                  <a:pt x="720" y="951"/>
                </a:lnTo>
                <a:lnTo>
                  <a:pt x="754" y="1001"/>
                </a:lnTo>
                <a:lnTo>
                  <a:pt x="791" y="1046"/>
                </a:lnTo>
                <a:lnTo>
                  <a:pt x="828" y="1085"/>
                </a:lnTo>
                <a:lnTo>
                  <a:pt x="863" y="1118"/>
                </a:lnTo>
                <a:lnTo>
                  <a:pt x="899" y="1145"/>
                </a:lnTo>
                <a:lnTo>
                  <a:pt x="936" y="1165"/>
                </a:lnTo>
                <a:lnTo>
                  <a:pt x="971" y="1178"/>
                </a:lnTo>
                <a:lnTo>
                  <a:pt x="1008" y="1183"/>
                </a:lnTo>
                <a:lnTo>
                  <a:pt x="1042" y="1182"/>
                </a:lnTo>
                <a:lnTo>
                  <a:pt x="1079" y="1173"/>
                </a:lnTo>
                <a:lnTo>
                  <a:pt x="1115" y="1157"/>
                </a:lnTo>
                <a:lnTo>
                  <a:pt x="1151" y="1134"/>
                </a:lnTo>
                <a:lnTo>
                  <a:pt x="1186" y="1104"/>
                </a:lnTo>
                <a:lnTo>
                  <a:pt x="1223" y="1068"/>
                </a:lnTo>
                <a:lnTo>
                  <a:pt x="1259" y="1026"/>
                </a:lnTo>
                <a:lnTo>
                  <a:pt x="1295" y="979"/>
                </a:lnTo>
                <a:lnTo>
                  <a:pt x="1331" y="927"/>
                </a:lnTo>
                <a:lnTo>
                  <a:pt x="1366" y="870"/>
                </a:lnTo>
                <a:lnTo>
                  <a:pt x="1403" y="811"/>
                </a:lnTo>
                <a:lnTo>
                  <a:pt x="1437" y="749"/>
                </a:lnTo>
                <a:lnTo>
                  <a:pt x="1474" y="685"/>
                </a:lnTo>
                <a:lnTo>
                  <a:pt x="1511" y="620"/>
                </a:lnTo>
                <a:lnTo>
                  <a:pt x="1546" y="553"/>
                </a:lnTo>
                <a:lnTo>
                  <a:pt x="1582" y="488"/>
                </a:lnTo>
                <a:lnTo>
                  <a:pt x="1619" y="424"/>
                </a:lnTo>
                <a:lnTo>
                  <a:pt x="1654" y="362"/>
                </a:lnTo>
                <a:lnTo>
                  <a:pt x="1691" y="303"/>
                </a:lnTo>
                <a:lnTo>
                  <a:pt x="1727" y="247"/>
                </a:lnTo>
                <a:lnTo>
                  <a:pt x="1762" y="197"/>
                </a:lnTo>
                <a:lnTo>
                  <a:pt x="1799" y="150"/>
                </a:lnTo>
                <a:lnTo>
                  <a:pt x="1834" y="109"/>
                </a:lnTo>
                <a:lnTo>
                  <a:pt x="1870" y="75"/>
                </a:lnTo>
                <a:lnTo>
                  <a:pt x="1907" y="45"/>
                </a:lnTo>
                <a:lnTo>
                  <a:pt x="1942" y="24"/>
                </a:lnTo>
                <a:lnTo>
                  <a:pt x="1979" y="9"/>
                </a:lnTo>
                <a:lnTo>
                  <a:pt x="2014" y="1"/>
                </a:lnTo>
                <a:lnTo>
                  <a:pt x="2050" y="1"/>
                </a:lnTo>
                <a:lnTo>
                  <a:pt x="2086" y="8"/>
                </a:lnTo>
                <a:lnTo>
                  <a:pt x="2123" y="22"/>
                </a:lnTo>
                <a:lnTo>
                  <a:pt x="2157" y="43"/>
                </a:lnTo>
                <a:lnTo>
                  <a:pt x="2194" y="71"/>
                </a:lnTo>
                <a:lnTo>
                  <a:pt x="2230" y="105"/>
                </a:lnTo>
                <a:lnTo>
                  <a:pt x="2265" y="146"/>
                </a:lnTo>
                <a:lnTo>
                  <a:pt x="2302" y="191"/>
                </a:lnTo>
                <a:lnTo>
                  <a:pt x="2337" y="242"/>
                </a:lnTo>
                <a:lnTo>
                  <a:pt x="2374" y="298"/>
                </a:lnTo>
                <a:lnTo>
                  <a:pt x="2410" y="356"/>
                </a:lnTo>
                <a:lnTo>
                  <a:pt x="2445" y="418"/>
                </a:lnTo>
                <a:lnTo>
                  <a:pt x="2482" y="481"/>
                </a:lnTo>
                <a:lnTo>
                  <a:pt x="2519" y="547"/>
                </a:lnTo>
                <a:lnTo>
                  <a:pt x="2553" y="613"/>
                </a:lnTo>
                <a:lnTo>
                  <a:pt x="2590" y="679"/>
                </a:lnTo>
                <a:lnTo>
                  <a:pt x="2625" y="742"/>
                </a:lnTo>
              </a:path>
            </a:pathLst>
          </a:custGeom>
          <a:noFill/>
          <a:ln w="28575" cap="flat" cmpd="sng">
            <a:solidFill>
              <a:srgbClr val="0000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0209" name="Freeform 97"/>
          <p:cNvSpPr>
            <a:spLocks noChangeAspect="1"/>
          </p:cNvSpPr>
          <p:nvPr/>
        </p:nvSpPr>
        <p:spPr>
          <a:xfrm flipV="1">
            <a:off x="5734050" y="4572000"/>
            <a:ext cx="2254250" cy="11033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625" h="1183">
                <a:moveTo>
                  <a:pt x="0" y="0"/>
                </a:moveTo>
                <a:lnTo>
                  <a:pt x="37" y="4"/>
                </a:lnTo>
                <a:lnTo>
                  <a:pt x="71" y="14"/>
                </a:lnTo>
                <a:lnTo>
                  <a:pt x="108" y="32"/>
                </a:lnTo>
                <a:lnTo>
                  <a:pt x="144" y="58"/>
                </a:lnTo>
                <a:lnTo>
                  <a:pt x="180" y="89"/>
                </a:lnTo>
                <a:lnTo>
                  <a:pt x="215" y="127"/>
                </a:lnTo>
                <a:lnTo>
                  <a:pt x="251" y="170"/>
                </a:lnTo>
                <a:lnTo>
                  <a:pt x="287" y="219"/>
                </a:lnTo>
                <a:lnTo>
                  <a:pt x="324" y="272"/>
                </a:lnTo>
                <a:lnTo>
                  <a:pt x="359" y="329"/>
                </a:lnTo>
                <a:lnTo>
                  <a:pt x="395" y="390"/>
                </a:lnTo>
                <a:lnTo>
                  <a:pt x="432" y="453"/>
                </a:lnTo>
                <a:lnTo>
                  <a:pt x="467" y="517"/>
                </a:lnTo>
                <a:lnTo>
                  <a:pt x="503" y="583"/>
                </a:lnTo>
                <a:lnTo>
                  <a:pt x="540" y="649"/>
                </a:lnTo>
                <a:lnTo>
                  <a:pt x="575" y="713"/>
                </a:lnTo>
                <a:lnTo>
                  <a:pt x="612" y="777"/>
                </a:lnTo>
                <a:lnTo>
                  <a:pt x="646" y="839"/>
                </a:lnTo>
                <a:lnTo>
                  <a:pt x="683" y="896"/>
                </a:lnTo>
                <a:lnTo>
                  <a:pt x="720" y="951"/>
                </a:lnTo>
                <a:lnTo>
                  <a:pt x="754" y="1001"/>
                </a:lnTo>
                <a:lnTo>
                  <a:pt x="791" y="1046"/>
                </a:lnTo>
                <a:lnTo>
                  <a:pt x="828" y="1085"/>
                </a:lnTo>
                <a:lnTo>
                  <a:pt x="863" y="1118"/>
                </a:lnTo>
                <a:lnTo>
                  <a:pt x="899" y="1145"/>
                </a:lnTo>
                <a:lnTo>
                  <a:pt x="936" y="1165"/>
                </a:lnTo>
                <a:lnTo>
                  <a:pt x="971" y="1178"/>
                </a:lnTo>
                <a:lnTo>
                  <a:pt x="1008" y="1183"/>
                </a:lnTo>
                <a:lnTo>
                  <a:pt x="1042" y="1182"/>
                </a:lnTo>
                <a:lnTo>
                  <a:pt x="1079" y="1173"/>
                </a:lnTo>
                <a:lnTo>
                  <a:pt x="1115" y="1157"/>
                </a:lnTo>
                <a:lnTo>
                  <a:pt x="1151" y="1134"/>
                </a:lnTo>
                <a:lnTo>
                  <a:pt x="1186" y="1104"/>
                </a:lnTo>
                <a:lnTo>
                  <a:pt x="1223" y="1068"/>
                </a:lnTo>
                <a:lnTo>
                  <a:pt x="1259" y="1026"/>
                </a:lnTo>
                <a:lnTo>
                  <a:pt x="1295" y="979"/>
                </a:lnTo>
                <a:lnTo>
                  <a:pt x="1331" y="927"/>
                </a:lnTo>
                <a:lnTo>
                  <a:pt x="1366" y="870"/>
                </a:lnTo>
                <a:lnTo>
                  <a:pt x="1403" y="811"/>
                </a:lnTo>
                <a:lnTo>
                  <a:pt x="1437" y="749"/>
                </a:lnTo>
                <a:lnTo>
                  <a:pt x="1474" y="685"/>
                </a:lnTo>
                <a:lnTo>
                  <a:pt x="1511" y="620"/>
                </a:lnTo>
                <a:lnTo>
                  <a:pt x="1546" y="553"/>
                </a:lnTo>
                <a:lnTo>
                  <a:pt x="1582" y="488"/>
                </a:lnTo>
                <a:lnTo>
                  <a:pt x="1619" y="424"/>
                </a:lnTo>
                <a:lnTo>
                  <a:pt x="1654" y="362"/>
                </a:lnTo>
                <a:lnTo>
                  <a:pt x="1691" y="303"/>
                </a:lnTo>
                <a:lnTo>
                  <a:pt x="1727" y="247"/>
                </a:lnTo>
                <a:lnTo>
                  <a:pt x="1762" y="197"/>
                </a:lnTo>
                <a:lnTo>
                  <a:pt x="1799" y="150"/>
                </a:lnTo>
                <a:lnTo>
                  <a:pt x="1834" y="109"/>
                </a:lnTo>
                <a:lnTo>
                  <a:pt x="1870" y="75"/>
                </a:lnTo>
                <a:lnTo>
                  <a:pt x="1907" y="45"/>
                </a:lnTo>
                <a:lnTo>
                  <a:pt x="1942" y="24"/>
                </a:lnTo>
                <a:lnTo>
                  <a:pt x="1979" y="9"/>
                </a:lnTo>
                <a:lnTo>
                  <a:pt x="2014" y="1"/>
                </a:lnTo>
                <a:lnTo>
                  <a:pt x="2050" y="1"/>
                </a:lnTo>
                <a:lnTo>
                  <a:pt x="2086" y="8"/>
                </a:lnTo>
                <a:lnTo>
                  <a:pt x="2123" y="22"/>
                </a:lnTo>
                <a:lnTo>
                  <a:pt x="2157" y="43"/>
                </a:lnTo>
                <a:lnTo>
                  <a:pt x="2194" y="71"/>
                </a:lnTo>
                <a:lnTo>
                  <a:pt x="2230" y="105"/>
                </a:lnTo>
                <a:lnTo>
                  <a:pt x="2265" y="146"/>
                </a:lnTo>
                <a:lnTo>
                  <a:pt x="2302" y="191"/>
                </a:lnTo>
                <a:lnTo>
                  <a:pt x="2337" y="242"/>
                </a:lnTo>
                <a:lnTo>
                  <a:pt x="2374" y="298"/>
                </a:lnTo>
                <a:lnTo>
                  <a:pt x="2410" y="356"/>
                </a:lnTo>
                <a:lnTo>
                  <a:pt x="2445" y="418"/>
                </a:lnTo>
                <a:lnTo>
                  <a:pt x="2482" y="481"/>
                </a:lnTo>
                <a:lnTo>
                  <a:pt x="2519" y="547"/>
                </a:lnTo>
                <a:lnTo>
                  <a:pt x="2553" y="613"/>
                </a:lnTo>
                <a:lnTo>
                  <a:pt x="2590" y="679"/>
                </a:lnTo>
                <a:lnTo>
                  <a:pt x="2625" y="742"/>
                </a:lnTo>
              </a:path>
            </a:pathLst>
          </a:custGeom>
          <a:noFill/>
          <a:ln w="28575" cap="flat" cmpd="sng">
            <a:solidFill>
              <a:srgbClr val="CC00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0211" name="Freeform 99"/>
          <p:cNvSpPr/>
          <p:nvPr/>
        </p:nvSpPr>
        <p:spPr>
          <a:xfrm>
            <a:off x="5740400" y="2933700"/>
            <a:ext cx="2184400" cy="990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3290" h="1327">
                <a:moveTo>
                  <a:pt x="0" y="664"/>
                </a:moveTo>
                <a:lnTo>
                  <a:pt x="34" y="714"/>
                </a:lnTo>
                <a:lnTo>
                  <a:pt x="66" y="765"/>
                </a:lnTo>
                <a:lnTo>
                  <a:pt x="100" y="816"/>
                </a:lnTo>
                <a:lnTo>
                  <a:pt x="133" y="865"/>
                </a:lnTo>
                <a:lnTo>
                  <a:pt x="166" y="912"/>
                </a:lnTo>
                <a:lnTo>
                  <a:pt x="199" y="959"/>
                </a:lnTo>
                <a:lnTo>
                  <a:pt x="232" y="1003"/>
                </a:lnTo>
                <a:lnTo>
                  <a:pt x="265" y="1046"/>
                </a:lnTo>
                <a:lnTo>
                  <a:pt x="299" y="1086"/>
                </a:lnTo>
                <a:lnTo>
                  <a:pt x="332" y="1124"/>
                </a:lnTo>
                <a:lnTo>
                  <a:pt x="365" y="1160"/>
                </a:lnTo>
                <a:lnTo>
                  <a:pt x="399" y="1192"/>
                </a:lnTo>
                <a:lnTo>
                  <a:pt x="431" y="1221"/>
                </a:lnTo>
                <a:lnTo>
                  <a:pt x="465" y="1247"/>
                </a:lnTo>
                <a:lnTo>
                  <a:pt x="499" y="1270"/>
                </a:lnTo>
                <a:lnTo>
                  <a:pt x="531" y="1289"/>
                </a:lnTo>
                <a:lnTo>
                  <a:pt x="565" y="1304"/>
                </a:lnTo>
                <a:lnTo>
                  <a:pt x="597" y="1315"/>
                </a:lnTo>
                <a:lnTo>
                  <a:pt x="631" y="1323"/>
                </a:lnTo>
                <a:lnTo>
                  <a:pt x="665" y="1327"/>
                </a:lnTo>
                <a:lnTo>
                  <a:pt x="697" y="1327"/>
                </a:lnTo>
                <a:lnTo>
                  <a:pt x="731" y="1323"/>
                </a:lnTo>
                <a:lnTo>
                  <a:pt x="765" y="1315"/>
                </a:lnTo>
                <a:lnTo>
                  <a:pt x="797" y="1303"/>
                </a:lnTo>
                <a:lnTo>
                  <a:pt x="831" y="1287"/>
                </a:lnTo>
                <a:lnTo>
                  <a:pt x="865" y="1269"/>
                </a:lnTo>
                <a:lnTo>
                  <a:pt x="897" y="1246"/>
                </a:lnTo>
                <a:lnTo>
                  <a:pt x="931" y="1220"/>
                </a:lnTo>
                <a:lnTo>
                  <a:pt x="963" y="1189"/>
                </a:lnTo>
                <a:lnTo>
                  <a:pt x="997" y="1157"/>
                </a:lnTo>
                <a:lnTo>
                  <a:pt x="1030" y="1121"/>
                </a:lnTo>
                <a:lnTo>
                  <a:pt x="1063" y="1083"/>
                </a:lnTo>
                <a:lnTo>
                  <a:pt x="1096" y="1043"/>
                </a:lnTo>
                <a:lnTo>
                  <a:pt x="1130" y="1000"/>
                </a:lnTo>
                <a:lnTo>
                  <a:pt x="1163" y="955"/>
                </a:lnTo>
                <a:lnTo>
                  <a:pt x="1196" y="908"/>
                </a:lnTo>
                <a:lnTo>
                  <a:pt x="1230" y="860"/>
                </a:lnTo>
                <a:lnTo>
                  <a:pt x="1262" y="811"/>
                </a:lnTo>
                <a:lnTo>
                  <a:pt x="1296" y="762"/>
                </a:lnTo>
                <a:lnTo>
                  <a:pt x="1328" y="711"/>
                </a:lnTo>
                <a:lnTo>
                  <a:pt x="1362" y="659"/>
                </a:lnTo>
                <a:lnTo>
                  <a:pt x="1396" y="608"/>
                </a:lnTo>
                <a:lnTo>
                  <a:pt x="1428" y="558"/>
                </a:lnTo>
                <a:lnTo>
                  <a:pt x="1462" y="509"/>
                </a:lnTo>
                <a:lnTo>
                  <a:pt x="1496" y="459"/>
                </a:lnTo>
                <a:lnTo>
                  <a:pt x="1528" y="412"/>
                </a:lnTo>
                <a:lnTo>
                  <a:pt x="1562" y="366"/>
                </a:lnTo>
                <a:lnTo>
                  <a:pt x="1596" y="321"/>
                </a:lnTo>
                <a:lnTo>
                  <a:pt x="1628" y="278"/>
                </a:lnTo>
                <a:lnTo>
                  <a:pt x="1662" y="238"/>
                </a:lnTo>
                <a:lnTo>
                  <a:pt x="1694" y="200"/>
                </a:lnTo>
                <a:lnTo>
                  <a:pt x="1728" y="165"/>
                </a:lnTo>
                <a:lnTo>
                  <a:pt x="1762" y="132"/>
                </a:lnTo>
                <a:lnTo>
                  <a:pt x="1794" y="105"/>
                </a:lnTo>
                <a:lnTo>
                  <a:pt x="1828" y="79"/>
                </a:lnTo>
                <a:lnTo>
                  <a:pt x="1861" y="55"/>
                </a:lnTo>
                <a:lnTo>
                  <a:pt x="1894" y="37"/>
                </a:lnTo>
                <a:lnTo>
                  <a:pt x="1927" y="23"/>
                </a:lnTo>
                <a:lnTo>
                  <a:pt x="1961" y="11"/>
                </a:lnTo>
                <a:lnTo>
                  <a:pt x="1993" y="3"/>
                </a:lnTo>
                <a:lnTo>
                  <a:pt x="2027" y="0"/>
                </a:lnTo>
                <a:lnTo>
                  <a:pt x="2060" y="0"/>
                </a:lnTo>
                <a:lnTo>
                  <a:pt x="2093" y="5"/>
                </a:lnTo>
                <a:lnTo>
                  <a:pt x="2127" y="14"/>
                </a:lnTo>
                <a:lnTo>
                  <a:pt x="2159" y="26"/>
                </a:lnTo>
                <a:lnTo>
                  <a:pt x="2193" y="42"/>
                </a:lnTo>
                <a:lnTo>
                  <a:pt x="2227" y="62"/>
                </a:lnTo>
                <a:lnTo>
                  <a:pt x="2259" y="85"/>
                </a:lnTo>
                <a:lnTo>
                  <a:pt x="2293" y="111"/>
                </a:lnTo>
                <a:lnTo>
                  <a:pt x="2327" y="140"/>
                </a:lnTo>
                <a:lnTo>
                  <a:pt x="2359" y="172"/>
                </a:lnTo>
                <a:lnTo>
                  <a:pt x="2393" y="209"/>
                </a:lnTo>
                <a:lnTo>
                  <a:pt x="2425" y="247"/>
                </a:lnTo>
                <a:lnTo>
                  <a:pt x="2459" y="287"/>
                </a:lnTo>
                <a:lnTo>
                  <a:pt x="2493" y="330"/>
                </a:lnTo>
                <a:lnTo>
                  <a:pt x="2525" y="376"/>
                </a:lnTo>
                <a:lnTo>
                  <a:pt x="2559" y="423"/>
                </a:lnTo>
                <a:lnTo>
                  <a:pt x="2593" y="470"/>
                </a:lnTo>
                <a:lnTo>
                  <a:pt x="2625" y="519"/>
                </a:lnTo>
                <a:lnTo>
                  <a:pt x="2659" y="570"/>
                </a:lnTo>
                <a:lnTo>
                  <a:pt x="2692" y="621"/>
                </a:lnTo>
                <a:lnTo>
                  <a:pt x="2725" y="671"/>
                </a:lnTo>
                <a:lnTo>
                  <a:pt x="2758" y="722"/>
                </a:lnTo>
                <a:lnTo>
                  <a:pt x="2791" y="773"/>
                </a:lnTo>
                <a:lnTo>
                  <a:pt x="2824" y="823"/>
                </a:lnTo>
                <a:lnTo>
                  <a:pt x="2858" y="871"/>
                </a:lnTo>
                <a:lnTo>
                  <a:pt x="2890" y="919"/>
                </a:lnTo>
                <a:lnTo>
                  <a:pt x="2924" y="966"/>
                </a:lnTo>
                <a:lnTo>
                  <a:pt x="2958" y="1009"/>
                </a:lnTo>
                <a:lnTo>
                  <a:pt x="2990" y="1052"/>
                </a:lnTo>
                <a:lnTo>
                  <a:pt x="3024" y="1092"/>
                </a:lnTo>
                <a:lnTo>
                  <a:pt x="3058" y="1131"/>
                </a:lnTo>
                <a:lnTo>
                  <a:pt x="3090" y="1164"/>
                </a:lnTo>
                <a:lnTo>
                  <a:pt x="3124" y="1197"/>
                </a:lnTo>
                <a:lnTo>
                  <a:pt x="3156" y="1226"/>
                </a:lnTo>
                <a:lnTo>
                  <a:pt x="3190" y="1250"/>
                </a:lnTo>
                <a:lnTo>
                  <a:pt x="3224" y="1273"/>
                </a:lnTo>
                <a:lnTo>
                  <a:pt x="3256" y="1292"/>
                </a:lnTo>
                <a:lnTo>
                  <a:pt x="3290" y="1306"/>
                </a:lnTo>
              </a:path>
            </a:pathLst>
          </a:custGeom>
          <a:noFill/>
          <a:ln w="28575" cap="flat" cmpd="sng">
            <a:solidFill>
              <a:srgbClr val="0099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3367" name="Object 114"/>
          <p:cNvGraphicFramePr>
            <a:graphicFrameLocks noChangeAspect="1"/>
          </p:cNvGraphicFramePr>
          <p:nvPr/>
        </p:nvGraphicFramePr>
        <p:xfrm>
          <a:off x="7296150" y="3448050"/>
          <a:ext cx="24765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52" imgW="139700" imgH="165100" progId="Equation.3">
                  <p:embed/>
                </p:oleObj>
              </mc:Choice>
              <mc:Fallback>
                <p:oleObj name="" r:id="rId52" imgW="139700" imgH="1651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7296150" y="3448050"/>
                        <a:ext cx="247650" cy="274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9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9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9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1492" name="Object 4"/>
          <p:cNvGraphicFramePr>
            <a:graphicFrameLocks noChangeAspect="1"/>
          </p:cNvGraphicFramePr>
          <p:nvPr/>
        </p:nvGraphicFramePr>
        <p:xfrm>
          <a:off x="1954213" y="1604963"/>
          <a:ext cx="46799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" imgW="2120265" imgH="393700" progId="Equation.DSMT4">
                  <p:embed/>
                </p:oleObj>
              </mc:Choice>
              <mc:Fallback>
                <p:oleObj name="" r:id="rId1" imgW="2120265" imgH="3937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54213" y="1604963"/>
                        <a:ext cx="4679950" cy="92868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folHlink"/>
                          </a:gs>
                          <a:gs pos="50000">
                            <a:srgbClr val="FFFFFF"/>
                          </a:gs>
                          <a:gs pos="100000">
                            <a:schemeClr val="folHlink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2"/>
          <p:cNvSpPr/>
          <p:nvPr/>
        </p:nvSpPr>
        <p:spPr>
          <a:xfrm>
            <a:off x="1143000" y="762000"/>
            <a:ext cx="4267200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5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简谐振动方程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1494" name="Text Box 6"/>
          <p:cNvSpPr txBox="1"/>
          <p:nvPr/>
        </p:nvSpPr>
        <p:spPr>
          <a:xfrm>
            <a:off x="762000" y="3048000"/>
            <a:ext cx="2667000" cy="750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600" dirty="0">
                <a:solidFill>
                  <a:srgbClr val="CC0000"/>
                </a:solidFill>
                <a:latin typeface="宋体" panose="02010600030101010101" pitchFamily="2" charset="-122"/>
              </a:rPr>
              <a:t>  二 振幅</a:t>
            </a:r>
            <a:endParaRPr lang="zh-CN" altLang="en-US" sz="3600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91495" name="Object 7"/>
          <p:cNvGraphicFramePr>
            <a:graphicFrameLocks noChangeAspect="1"/>
          </p:cNvGraphicFramePr>
          <p:nvPr/>
        </p:nvGraphicFramePr>
        <p:xfrm>
          <a:off x="1844675" y="3929063"/>
          <a:ext cx="135572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3" imgW="685800" imgH="279400" progId="Equation.3">
                  <p:embed/>
                </p:oleObj>
              </mc:Choice>
              <mc:Fallback>
                <p:oleObj name="" r:id="rId3" imgW="685800" imgH="2794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4675" y="3929063"/>
                        <a:ext cx="1355725" cy="614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1592" name="Group 104"/>
          <p:cNvGrpSpPr/>
          <p:nvPr/>
        </p:nvGrpSpPr>
        <p:grpSpPr>
          <a:xfrm>
            <a:off x="4505325" y="2759075"/>
            <a:ext cx="3733800" cy="2133600"/>
            <a:chOff x="2832" y="1680"/>
            <a:chExt cx="2352" cy="1344"/>
          </a:xfrm>
        </p:grpSpPr>
        <p:sp>
          <p:nvSpPr>
            <p:cNvPr id="14343" name="Rectangle 105"/>
            <p:cNvSpPr/>
            <p:nvPr/>
          </p:nvSpPr>
          <p:spPr>
            <a:xfrm>
              <a:off x="2832" y="1680"/>
              <a:ext cx="2352" cy="1344"/>
            </a:xfrm>
            <a:prstGeom prst="rect">
              <a:avLst/>
            </a:prstGeom>
            <a:noFill/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1594" name="Rectangle 106"/>
            <p:cNvSpPr>
              <a:spLocks noChangeArrowheads="1"/>
            </p:cNvSpPr>
            <p:nvPr/>
          </p:nvSpPr>
          <p:spPr bwMode="auto">
            <a:xfrm>
              <a:off x="3738" y="1771"/>
              <a:ext cx="725" cy="251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4345" name="Object 107"/>
            <p:cNvGraphicFramePr>
              <a:graphicFrameLocks noChangeAspect="1"/>
            </p:cNvGraphicFramePr>
            <p:nvPr/>
          </p:nvGraphicFramePr>
          <p:xfrm>
            <a:off x="3738" y="1791"/>
            <a:ext cx="463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5" imgW="481965" imgH="215900" progId="Equation.3">
                    <p:embed/>
                  </p:oleObj>
                </mc:Choice>
                <mc:Fallback>
                  <p:oleObj name="" r:id="rId5" imgW="481965" imgH="2159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38" y="1791"/>
                          <a:ext cx="463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6" name="Rectangle 108"/>
            <p:cNvSpPr/>
            <p:nvPr/>
          </p:nvSpPr>
          <p:spPr>
            <a:xfrm>
              <a:off x="4136" y="1728"/>
              <a:ext cx="7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图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4347" name="Line 109"/>
            <p:cNvSpPr/>
            <p:nvPr/>
          </p:nvSpPr>
          <p:spPr>
            <a:xfrm flipV="1">
              <a:off x="3226" y="2426"/>
              <a:ext cx="183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4348" name="Line 110"/>
            <p:cNvSpPr/>
            <p:nvPr/>
          </p:nvSpPr>
          <p:spPr>
            <a:xfrm flipV="1">
              <a:off x="3216" y="1792"/>
              <a:ext cx="4" cy="12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4349" name="Line 111"/>
            <p:cNvSpPr/>
            <p:nvPr/>
          </p:nvSpPr>
          <p:spPr>
            <a:xfrm flipH="1">
              <a:off x="3226" y="2126"/>
              <a:ext cx="167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4350" name="Line 112"/>
            <p:cNvSpPr/>
            <p:nvPr/>
          </p:nvSpPr>
          <p:spPr>
            <a:xfrm flipH="1" flipV="1">
              <a:off x="3226" y="2711"/>
              <a:ext cx="1752" cy="1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graphicFrame>
          <p:nvGraphicFramePr>
            <p:cNvPr id="14351" name="Object 113"/>
            <p:cNvGraphicFramePr>
              <a:graphicFrameLocks noChangeAspect="1"/>
            </p:cNvGraphicFramePr>
            <p:nvPr/>
          </p:nvGraphicFramePr>
          <p:xfrm>
            <a:off x="3021" y="1984"/>
            <a:ext cx="19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7" imgW="165100" imgH="165100" progId="Equation.DSMT4">
                    <p:embed/>
                  </p:oleObj>
                </mc:Choice>
                <mc:Fallback>
                  <p:oleObj name="" r:id="rId7" imgW="165100" imgH="165100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21" y="1984"/>
                          <a:ext cx="195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2" name="Object 114"/>
            <p:cNvGraphicFramePr>
              <a:graphicFrameLocks noChangeAspect="1"/>
            </p:cNvGraphicFramePr>
            <p:nvPr/>
          </p:nvGraphicFramePr>
          <p:xfrm>
            <a:off x="2928" y="2608"/>
            <a:ext cx="27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9" imgW="254000" imgH="165100" progId="Equation.DSMT4">
                    <p:embed/>
                  </p:oleObj>
                </mc:Choice>
                <mc:Fallback>
                  <p:oleObj name="" r:id="rId9" imgW="254000" imgH="1651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928" y="2608"/>
                          <a:ext cx="277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Object 115"/>
            <p:cNvGraphicFramePr>
              <a:graphicFrameLocks noChangeAspect="1"/>
            </p:cNvGraphicFramePr>
            <p:nvPr/>
          </p:nvGraphicFramePr>
          <p:xfrm>
            <a:off x="3253" y="1750"/>
            <a:ext cx="14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1" imgW="139700" imgH="139700" progId="Equation.3">
                    <p:embed/>
                  </p:oleObj>
                </mc:Choice>
                <mc:Fallback>
                  <p:oleObj name="" r:id="rId11" imgW="139700" imgH="1397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53" y="1750"/>
                          <a:ext cx="147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54" name="Group 116"/>
            <p:cNvGrpSpPr/>
            <p:nvPr/>
          </p:nvGrpSpPr>
          <p:grpSpPr>
            <a:xfrm>
              <a:off x="3545" y="2119"/>
              <a:ext cx="1274" cy="592"/>
              <a:chOff x="3704" y="904"/>
              <a:chExt cx="1536" cy="896"/>
            </a:xfrm>
          </p:grpSpPr>
          <p:sp>
            <p:nvSpPr>
              <p:cNvPr id="14360" name="Line 117"/>
              <p:cNvSpPr/>
              <p:nvPr/>
            </p:nvSpPr>
            <p:spPr>
              <a:xfrm flipV="1">
                <a:off x="3704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4361" name="Line 118"/>
              <p:cNvSpPr/>
              <p:nvPr/>
            </p:nvSpPr>
            <p:spPr>
              <a:xfrm flipV="1">
                <a:off x="5240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4362" name="Line 119"/>
              <p:cNvSpPr/>
              <p:nvPr/>
            </p:nvSpPr>
            <p:spPr>
              <a:xfrm flipV="1">
                <a:off x="4856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4363" name="Line 120"/>
              <p:cNvSpPr/>
              <p:nvPr/>
            </p:nvSpPr>
            <p:spPr>
              <a:xfrm flipV="1">
                <a:off x="4472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4364" name="Line 121"/>
              <p:cNvSpPr/>
              <p:nvPr/>
            </p:nvSpPr>
            <p:spPr>
              <a:xfrm flipV="1">
                <a:off x="4088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</p:grpSp>
        <p:graphicFrame>
          <p:nvGraphicFramePr>
            <p:cNvPr id="14355" name="Object 122"/>
            <p:cNvGraphicFramePr>
              <a:graphicFrameLocks noChangeAspect="1"/>
            </p:cNvGraphicFramePr>
            <p:nvPr/>
          </p:nvGraphicFramePr>
          <p:xfrm>
            <a:off x="4540" y="2265"/>
            <a:ext cx="16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3" imgW="152400" imgH="165100" progId="Equation.3">
                    <p:embed/>
                  </p:oleObj>
                </mc:Choice>
                <mc:Fallback>
                  <p:oleObj name="" r:id="rId13" imgW="152400" imgH="1651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40" y="2265"/>
                          <a:ext cx="164" cy="1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6" name="Object 123"/>
            <p:cNvGraphicFramePr>
              <a:graphicFrameLocks noChangeAspect="1"/>
            </p:cNvGraphicFramePr>
            <p:nvPr/>
          </p:nvGraphicFramePr>
          <p:xfrm>
            <a:off x="3897" y="2416"/>
            <a:ext cx="229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5" imgW="177800" imgH="393065" progId="Equation.DSMT4">
                    <p:embed/>
                  </p:oleObj>
                </mc:Choice>
                <mc:Fallback>
                  <p:oleObj name="" r:id="rId15" imgW="177800" imgH="393065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97" y="2416"/>
                          <a:ext cx="229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7" name="Object 124"/>
            <p:cNvGraphicFramePr>
              <a:graphicFrameLocks noChangeAspect="1"/>
            </p:cNvGraphicFramePr>
            <p:nvPr/>
          </p:nvGraphicFramePr>
          <p:xfrm>
            <a:off x="4977" y="2221"/>
            <a:ext cx="11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7" imgW="101600" imgH="165100" progId="Equation.3">
                    <p:embed/>
                  </p:oleObj>
                </mc:Choice>
                <mc:Fallback>
                  <p:oleObj name="" r:id="rId17" imgW="101600" imgH="1651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977" y="2221"/>
                          <a:ext cx="115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8" name="Object 125"/>
            <p:cNvGraphicFramePr>
              <a:graphicFrameLocks noChangeAspect="1"/>
            </p:cNvGraphicFramePr>
            <p:nvPr/>
          </p:nvGraphicFramePr>
          <p:xfrm>
            <a:off x="2959" y="2270"/>
            <a:ext cx="267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19" imgW="127000" imgH="139700" progId="Equation.3">
                    <p:embed/>
                  </p:oleObj>
                </mc:Choice>
                <mc:Fallback>
                  <p:oleObj name="" r:id="rId19" imgW="127000" imgH="1397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959" y="2270"/>
                          <a:ext cx="267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9" name="Freeform 126"/>
            <p:cNvSpPr>
              <a:spLocks noChangeAspect="1"/>
            </p:cNvSpPr>
            <p:nvPr/>
          </p:nvSpPr>
          <p:spPr>
            <a:xfrm>
              <a:off x="3220" y="2125"/>
              <a:ext cx="1710" cy="586"/>
            </a:xfrm>
            <a:custGeom>
              <a:avLst/>
              <a:gdLst/>
              <a:ahLst/>
              <a:cxnLst>
                <a:cxn ang="0">
                  <a:pos x="11" y="187"/>
                </a:cxn>
                <a:cxn ang="0">
                  <a:pos x="32" y="223"/>
                </a:cxn>
                <a:cxn ang="0">
                  <a:pos x="55" y="258"/>
                </a:cxn>
                <a:cxn ang="0">
                  <a:pos x="76" y="286"/>
                </a:cxn>
                <a:cxn ang="0">
                  <a:pos x="98" y="310"/>
                </a:cxn>
                <a:cxn ang="0">
                  <a:pos x="119" y="327"/>
                </a:cxn>
                <a:cxn ang="0">
                  <a:pos x="140" y="335"/>
                </a:cxn>
                <a:cxn ang="0">
                  <a:pos x="163" y="336"/>
                </a:cxn>
                <a:cxn ang="0">
                  <a:pos x="183" y="328"/>
                </a:cxn>
                <a:cxn ang="0">
                  <a:pos x="205" y="313"/>
                </a:cxn>
                <a:cxn ang="0">
                  <a:pos x="227" y="290"/>
                </a:cxn>
                <a:cxn ang="0">
                  <a:pos x="249" y="261"/>
                </a:cxn>
                <a:cxn ang="0">
                  <a:pos x="270" y="228"/>
                </a:cxn>
                <a:cxn ang="0">
                  <a:pos x="292" y="192"/>
                </a:cxn>
                <a:cxn ang="0">
                  <a:pos x="314" y="155"/>
                </a:cxn>
                <a:cxn ang="0">
                  <a:pos x="335" y="118"/>
                </a:cxn>
                <a:cxn ang="0">
                  <a:pos x="358" y="84"/>
                </a:cxn>
                <a:cxn ang="0">
                  <a:pos x="378" y="54"/>
                </a:cxn>
                <a:cxn ang="0">
                  <a:pos x="400" y="29"/>
                </a:cxn>
                <a:cxn ang="0">
                  <a:pos x="421" y="12"/>
                </a:cxn>
                <a:cxn ang="0">
                  <a:pos x="442" y="3"/>
                </a:cxn>
                <a:cxn ang="0">
                  <a:pos x="465" y="1"/>
                </a:cxn>
                <a:cxn ang="0">
                  <a:pos x="486" y="7"/>
                </a:cxn>
                <a:cxn ang="0">
                  <a:pos x="508" y="21"/>
                </a:cxn>
                <a:cxn ang="0">
                  <a:pos x="529" y="44"/>
                </a:cxn>
                <a:cxn ang="0">
                  <a:pos x="551" y="71"/>
                </a:cxn>
                <a:cxn ang="0">
                  <a:pos x="572" y="104"/>
                </a:cxn>
                <a:cxn ang="0">
                  <a:pos x="594" y="140"/>
                </a:cxn>
                <a:cxn ang="0">
                  <a:pos x="616" y="177"/>
                </a:cxn>
                <a:cxn ang="0">
                  <a:pos x="638" y="214"/>
                </a:cxn>
                <a:cxn ang="0">
                  <a:pos x="659" y="248"/>
                </a:cxn>
                <a:cxn ang="0">
                  <a:pos x="680" y="279"/>
                </a:cxn>
                <a:cxn ang="0">
                  <a:pos x="702" y="304"/>
                </a:cxn>
                <a:cxn ang="0">
                  <a:pos x="723" y="323"/>
                </a:cxn>
                <a:cxn ang="0">
                  <a:pos x="746" y="334"/>
                </a:cxn>
                <a:cxn ang="0">
                  <a:pos x="766" y="337"/>
                </a:cxn>
                <a:cxn ang="0">
                  <a:pos x="789" y="332"/>
                </a:cxn>
                <a:cxn ang="0">
                  <a:pos x="811" y="319"/>
                </a:cxn>
              </a:cxnLst>
              <a:pathLst>
                <a:path w="2061" h="673">
                  <a:moveTo>
                    <a:pt x="0" y="337"/>
                  </a:moveTo>
                  <a:lnTo>
                    <a:pt x="28" y="374"/>
                  </a:lnTo>
                  <a:lnTo>
                    <a:pt x="54" y="410"/>
                  </a:lnTo>
                  <a:lnTo>
                    <a:pt x="83" y="446"/>
                  </a:lnTo>
                  <a:lnTo>
                    <a:pt x="111" y="481"/>
                  </a:lnTo>
                  <a:lnTo>
                    <a:pt x="137" y="514"/>
                  </a:lnTo>
                  <a:lnTo>
                    <a:pt x="165" y="544"/>
                  </a:lnTo>
                  <a:lnTo>
                    <a:pt x="192" y="572"/>
                  </a:lnTo>
                  <a:lnTo>
                    <a:pt x="220" y="598"/>
                  </a:lnTo>
                  <a:lnTo>
                    <a:pt x="248" y="620"/>
                  </a:lnTo>
                  <a:lnTo>
                    <a:pt x="274" y="638"/>
                  </a:lnTo>
                  <a:lnTo>
                    <a:pt x="302" y="653"/>
                  </a:lnTo>
                  <a:lnTo>
                    <a:pt x="330" y="663"/>
                  </a:lnTo>
                  <a:lnTo>
                    <a:pt x="357" y="670"/>
                  </a:lnTo>
                  <a:lnTo>
                    <a:pt x="385" y="673"/>
                  </a:lnTo>
                  <a:lnTo>
                    <a:pt x="413" y="671"/>
                  </a:lnTo>
                  <a:lnTo>
                    <a:pt x="439" y="666"/>
                  </a:lnTo>
                  <a:lnTo>
                    <a:pt x="467" y="656"/>
                  </a:lnTo>
                  <a:lnTo>
                    <a:pt x="494" y="643"/>
                  </a:lnTo>
                  <a:lnTo>
                    <a:pt x="522" y="624"/>
                  </a:lnTo>
                  <a:lnTo>
                    <a:pt x="550" y="604"/>
                  </a:lnTo>
                  <a:lnTo>
                    <a:pt x="576" y="579"/>
                  </a:lnTo>
                  <a:lnTo>
                    <a:pt x="604" y="552"/>
                  </a:lnTo>
                  <a:lnTo>
                    <a:pt x="633" y="523"/>
                  </a:lnTo>
                  <a:lnTo>
                    <a:pt x="659" y="491"/>
                  </a:lnTo>
                  <a:lnTo>
                    <a:pt x="687" y="456"/>
                  </a:lnTo>
                  <a:lnTo>
                    <a:pt x="715" y="420"/>
                  </a:lnTo>
                  <a:lnTo>
                    <a:pt x="742" y="384"/>
                  </a:lnTo>
                  <a:lnTo>
                    <a:pt x="770" y="347"/>
                  </a:lnTo>
                  <a:lnTo>
                    <a:pt x="796" y="309"/>
                  </a:lnTo>
                  <a:lnTo>
                    <a:pt x="824" y="273"/>
                  </a:lnTo>
                  <a:lnTo>
                    <a:pt x="852" y="236"/>
                  </a:lnTo>
                  <a:lnTo>
                    <a:pt x="879" y="201"/>
                  </a:lnTo>
                  <a:lnTo>
                    <a:pt x="907" y="167"/>
                  </a:lnTo>
                  <a:lnTo>
                    <a:pt x="935" y="136"/>
                  </a:lnTo>
                  <a:lnTo>
                    <a:pt x="961" y="107"/>
                  </a:lnTo>
                  <a:lnTo>
                    <a:pt x="989" y="81"/>
                  </a:lnTo>
                  <a:lnTo>
                    <a:pt x="1017" y="59"/>
                  </a:lnTo>
                  <a:lnTo>
                    <a:pt x="1044" y="39"/>
                  </a:lnTo>
                  <a:lnTo>
                    <a:pt x="1072" y="24"/>
                  </a:lnTo>
                  <a:lnTo>
                    <a:pt x="1098" y="12"/>
                  </a:lnTo>
                  <a:lnTo>
                    <a:pt x="1126" y="4"/>
                  </a:lnTo>
                  <a:lnTo>
                    <a:pt x="1154" y="0"/>
                  </a:lnTo>
                  <a:lnTo>
                    <a:pt x="1181" y="1"/>
                  </a:lnTo>
                  <a:lnTo>
                    <a:pt x="1209" y="6"/>
                  </a:lnTo>
                  <a:lnTo>
                    <a:pt x="1237" y="14"/>
                  </a:lnTo>
                  <a:lnTo>
                    <a:pt x="1263" y="26"/>
                  </a:lnTo>
                  <a:lnTo>
                    <a:pt x="1291" y="43"/>
                  </a:lnTo>
                  <a:lnTo>
                    <a:pt x="1320" y="63"/>
                  </a:lnTo>
                  <a:lnTo>
                    <a:pt x="1346" y="87"/>
                  </a:lnTo>
                  <a:lnTo>
                    <a:pt x="1374" y="113"/>
                  </a:lnTo>
                  <a:lnTo>
                    <a:pt x="1400" y="142"/>
                  </a:lnTo>
                  <a:lnTo>
                    <a:pt x="1429" y="174"/>
                  </a:lnTo>
                  <a:lnTo>
                    <a:pt x="1457" y="207"/>
                  </a:lnTo>
                  <a:lnTo>
                    <a:pt x="1483" y="242"/>
                  </a:lnTo>
                  <a:lnTo>
                    <a:pt x="1511" y="279"/>
                  </a:lnTo>
                  <a:lnTo>
                    <a:pt x="1539" y="316"/>
                  </a:lnTo>
                  <a:lnTo>
                    <a:pt x="1566" y="354"/>
                  </a:lnTo>
                  <a:lnTo>
                    <a:pt x="1594" y="390"/>
                  </a:lnTo>
                  <a:lnTo>
                    <a:pt x="1622" y="427"/>
                  </a:lnTo>
                  <a:lnTo>
                    <a:pt x="1648" y="462"/>
                  </a:lnTo>
                  <a:lnTo>
                    <a:pt x="1676" y="496"/>
                  </a:lnTo>
                  <a:lnTo>
                    <a:pt x="1703" y="528"/>
                  </a:lnTo>
                  <a:lnTo>
                    <a:pt x="1731" y="558"/>
                  </a:lnTo>
                  <a:lnTo>
                    <a:pt x="1759" y="584"/>
                  </a:lnTo>
                  <a:lnTo>
                    <a:pt x="1785" y="608"/>
                  </a:lnTo>
                  <a:lnTo>
                    <a:pt x="1813" y="628"/>
                  </a:lnTo>
                  <a:lnTo>
                    <a:pt x="1841" y="645"/>
                  </a:lnTo>
                  <a:lnTo>
                    <a:pt x="1868" y="658"/>
                  </a:lnTo>
                  <a:lnTo>
                    <a:pt x="1896" y="667"/>
                  </a:lnTo>
                  <a:lnTo>
                    <a:pt x="1924" y="672"/>
                  </a:lnTo>
                  <a:lnTo>
                    <a:pt x="1950" y="673"/>
                  </a:lnTo>
                  <a:lnTo>
                    <a:pt x="1978" y="669"/>
                  </a:lnTo>
                  <a:lnTo>
                    <a:pt x="2005" y="662"/>
                  </a:lnTo>
                  <a:lnTo>
                    <a:pt x="2033" y="650"/>
                  </a:lnTo>
                  <a:lnTo>
                    <a:pt x="2061" y="635"/>
                  </a:lnTo>
                </a:path>
              </a:pathLst>
            </a:custGeom>
            <a:noFill/>
            <a:ln w="254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2514" name="Object 2"/>
          <p:cNvGraphicFramePr>
            <a:graphicFrameLocks noChangeAspect="1"/>
          </p:cNvGraphicFramePr>
          <p:nvPr/>
        </p:nvGraphicFramePr>
        <p:xfrm>
          <a:off x="1228725" y="1444625"/>
          <a:ext cx="29622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1333500" imgH="241300" progId="Equation.3">
                  <p:embed/>
                </p:oleObj>
              </mc:Choice>
              <mc:Fallback>
                <p:oleObj name="" r:id="rId1" imgW="1333500" imgH="2413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28725" y="1444625"/>
                        <a:ext cx="296227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Text Box 3"/>
          <p:cNvSpPr txBox="1"/>
          <p:nvPr/>
        </p:nvSpPr>
        <p:spPr>
          <a:xfrm>
            <a:off x="889000" y="695325"/>
            <a:ext cx="6350000" cy="66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600" dirty="0">
                <a:solidFill>
                  <a:srgbClr val="CC0000"/>
                </a:solidFill>
                <a:latin typeface="宋体" panose="02010600030101010101" pitchFamily="2" charset="-122"/>
              </a:rPr>
              <a:t>三 周期和频率</a:t>
            </a:r>
            <a:endParaRPr lang="zh-CN" altLang="en-US" sz="3600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92738" name="Group 226"/>
          <p:cNvGrpSpPr/>
          <p:nvPr/>
        </p:nvGrpSpPr>
        <p:grpSpPr>
          <a:xfrm>
            <a:off x="1371600" y="3962400"/>
            <a:ext cx="3022600" cy="1898650"/>
            <a:chOff x="1152" y="2256"/>
            <a:chExt cx="1904" cy="1196"/>
          </a:xfrm>
        </p:grpSpPr>
        <p:graphicFrame>
          <p:nvGraphicFramePr>
            <p:cNvPr id="15395" name="Object 5"/>
            <p:cNvGraphicFramePr>
              <a:graphicFrameLocks noChangeAspect="1"/>
            </p:cNvGraphicFramePr>
            <p:nvPr/>
          </p:nvGraphicFramePr>
          <p:xfrm>
            <a:off x="1248" y="2736"/>
            <a:ext cx="1203" cy="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3" imgW="901065" imgH="520700" progId="Equation.3">
                    <p:embed/>
                  </p:oleObj>
                </mc:Choice>
                <mc:Fallback>
                  <p:oleObj name="" r:id="rId3" imgW="901065" imgH="5207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48" y="2736"/>
                          <a:ext cx="1203" cy="7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6" name="Text Box 6"/>
            <p:cNvSpPr txBox="1"/>
            <p:nvPr/>
          </p:nvSpPr>
          <p:spPr>
            <a:xfrm>
              <a:off x="1152" y="2256"/>
              <a:ext cx="1904" cy="4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弹簧振子周期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2737" name="Group 225"/>
          <p:cNvGrpSpPr/>
          <p:nvPr/>
        </p:nvGrpSpPr>
        <p:grpSpPr>
          <a:xfrm>
            <a:off x="976313" y="2070100"/>
            <a:ext cx="2949575" cy="1039813"/>
            <a:chOff x="615" y="1304"/>
            <a:chExt cx="1858" cy="655"/>
          </a:xfrm>
        </p:grpSpPr>
        <p:graphicFrame>
          <p:nvGraphicFramePr>
            <p:cNvPr id="15393" name="Object 8"/>
            <p:cNvGraphicFramePr>
              <a:graphicFrameLocks noChangeAspect="1"/>
            </p:cNvGraphicFramePr>
            <p:nvPr/>
          </p:nvGraphicFramePr>
          <p:xfrm>
            <a:off x="1680" y="1304"/>
            <a:ext cx="793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5" imgW="584200" imgH="469900" progId="Equation.3">
                    <p:embed/>
                  </p:oleObj>
                </mc:Choice>
                <mc:Fallback>
                  <p:oleObj name="" r:id="rId5" imgW="584200" imgH="4699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80" y="1304"/>
                          <a:ext cx="793" cy="6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4" name="Text Box 9"/>
            <p:cNvSpPr txBox="1"/>
            <p:nvPr/>
          </p:nvSpPr>
          <p:spPr>
            <a:xfrm>
              <a:off x="615" y="1392"/>
              <a:ext cx="1311" cy="4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Blip>
                  <a:blip r:embed="rId7"/>
                </a:buBlip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</a:t>
              </a: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周期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92522" name="Object 10"/>
          <p:cNvGraphicFramePr>
            <a:graphicFrameLocks noChangeAspect="1"/>
          </p:cNvGraphicFramePr>
          <p:nvPr/>
        </p:nvGraphicFramePr>
        <p:xfrm>
          <a:off x="4191000" y="1454150"/>
          <a:ext cx="35814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8" imgW="1625600" imgH="241300" progId="Equation.3">
                  <p:embed/>
                </p:oleObj>
              </mc:Choice>
              <mc:Fallback>
                <p:oleObj name="" r:id="rId8" imgW="1625600" imgH="2413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91000" y="1454150"/>
                        <a:ext cx="3581400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2523" name="Group 11"/>
          <p:cNvGrpSpPr/>
          <p:nvPr/>
        </p:nvGrpSpPr>
        <p:grpSpPr>
          <a:xfrm>
            <a:off x="228600" y="2895600"/>
            <a:ext cx="2590800" cy="1219200"/>
            <a:chOff x="192" y="2016"/>
            <a:chExt cx="1632" cy="768"/>
          </a:xfrm>
        </p:grpSpPr>
        <p:sp>
          <p:nvSpPr>
            <p:cNvPr id="15391" name="AutoShape 12"/>
            <p:cNvSpPr/>
            <p:nvPr/>
          </p:nvSpPr>
          <p:spPr>
            <a:xfrm>
              <a:off x="192" y="2016"/>
              <a:ext cx="1200" cy="768"/>
            </a:xfrm>
            <a:prstGeom prst="irregularSeal1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B5B5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392" name="Text Box 13"/>
            <p:cNvSpPr txBox="1"/>
            <p:nvPr/>
          </p:nvSpPr>
          <p:spPr>
            <a:xfrm>
              <a:off x="480" y="2112"/>
              <a:ext cx="1344" cy="4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注意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368" name="Group 202"/>
          <p:cNvGrpSpPr/>
          <p:nvPr/>
        </p:nvGrpSpPr>
        <p:grpSpPr>
          <a:xfrm>
            <a:off x="4495800" y="2743200"/>
            <a:ext cx="3733800" cy="2133600"/>
            <a:chOff x="2832" y="1680"/>
            <a:chExt cx="2352" cy="1344"/>
          </a:xfrm>
        </p:grpSpPr>
        <p:sp>
          <p:nvSpPr>
            <p:cNvPr id="15369" name="Rectangle 203"/>
            <p:cNvSpPr/>
            <p:nvPr/>
          </p:nvSpPr>
          <p:spPr>
            <a:xfrm>
              <a:off x="2832" y="1680"/>
              <a:ext cx="2352" cy="1344"/>
            </a:xfrm>
            <a:prstGeom prst="rect">
              <a:avLst/>
            </a:prstGeom>
            <a:noFill/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2716" name="Rectangle 204"/>
            <p:cNvSpPr>
              <a:spLocks noChangeArrowheads="1"/>
            </p:cNvSpPr>
            <p:nvPr/>
          </p:nvSpPr>
          <p:spPr bwMode="auto">
            <a:xfrm>
              <a:off x="3738" y="1771"/>
              <a:ext cx="725" cy="251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5371" name="Object 205"/>
            <p:cNvGraphicFramePr>
              <a:graphicFrameLocks noChangeAspect="1"/>
            </p:cNvGraphicFramePr>
            <p:nvPr/>
          </p:nvGraphicFramePr>
          <p:xfrm>
            <a:off x="3738" y="1791"/>
            <a:ext cx="463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0" imgW="481965" imgH="215900" progId="Equation.3">
                    <p:embed/>
                  </p:oleObj>
                </mc:Choice>
                <mc:Fallback>
                  <p:oleObj name="" r:id="rId10" imgW="481965" imgH="2159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38" y="1791"/>
                          <a:ext cx="463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2" name="Rectangle 206"/>
            <p:cNvSpPr/>
            <p:nvPr/>
          </p:nvSpPr>
          <p:spPr>
            <a:xfrm>
              <a:off x="4136" y="1728"/>
              <a:ext cx="7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图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5373" name="Line 207"/>
            <p:cNvSpPr/>
            <p:nvPr/>
          </p:nvSpPr>
          <p:spPr>
            <a:xfrm flipV="1">
              <a:off x="3226" y="2426"/>
              <a:ext cx="183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5374" name="Line 208"/>
            <p:cNvSpPr/>
            <p:nvPr/>
          </p:nvSpPr>
          <p:spPr>
            <a:xfrm flipV="1">
              <a:off x="3216" y="1792"/>
              <a:ext cx="4" cy="12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5375" name="Line 209"/>
            <p:cNvSpPr/>
            <p:nvPr/>
          </p:nvSpPr>
          <p:spPr>
            <a:xfrm flipH="1">
              <a:off x="3226" y="2126"/>
              <a:ext cx="167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5376" name="Line 210"/>
            <p:cNvSpPr/>
            <p:nvPr/>
          </p:nvSpPr>
          <p:spPr>
            <a:xfrm flipH="1" flipV="1">
              <a:off x="3226" y="2711"/>
              <a:ext cx="1752" cy="1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graphicFrame>
          <p:nvGraphicFramePr>
            <p:cNvPr id="15377" name="Object 211"/>
            <p:cNvGraphicFramePr>
              <a:graphicFrameLocks noChangeAspect="1"/>
            </p:cNvGraphicFramePr>
            <p:nvPr/>
          </p:nvGraphicFramePr>
          <p:xfrm>
            <a:off x="3021" y="1984"/>
            <a:ext cx="19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2" imgW="165100" imgH="165100" progId="Equation.DSMT4">
                    <p:embed/>
                  </p:oleObj>
                </mc:Choice>
                <mc:Fallback>
                  <p:oleObj name="" r:id="rId12" imgW="165100" imgH="1651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021" y="1984"/>
                          <a:ext cx="195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212"/>
            <p:cNvGraphicFramePr>
              <a:graphicFrameLocks noChangeAspect="1"/>
            </p:cNvGraphicFramePr>
            <p:nvPr/>
          </p:nvGraphicFramePr>
          <p:xfrm>
            <a:off x="2928" y="2608"/>
            <a:ext cx="27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14" imgW="254000" imgH="165100" progId="Equation.DSMT4">
                    <p:embed/>
                  </p:oleObj>
                </mc:Choice>
                <mc:Fallback>
                  <p:oleObj name="" r:id="rId14" imgW="254000" imgH="165100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928" y="2608"/>
                          <a:ext cx="277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Object 213"/>
            <p:cNvGraphicFramePr>
              <a:graphicFrameLocks noChangeAspect="1"/>
            </p:cNvGraphicFramePr>
            <p:nvPr/>
          </p:nvGraphicFramePr>
          <p:xfrm>
            <a:off x="3253" y="1750"/>
            <a:ext cx="14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6" imgW="139700" imgH="139700" progId="Equation.3">
                    <p:embed/>
                  </p:oleObj>
                </mc:Choice>
                <mc:Fallback>
                  <p:oleObj name="" r:id="rId16" imgW="139700" imgH="1397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253" y="1750"/>
                          <a:ext cx="147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80" name="Group 214"/>
            <p:cNvGrpSpPr/>
            <p:nvPr/>
          </p:nvGrpSpPr>
          <p:grpSpPr>
            <a:xfrm>
              <a:off x="3545" y="2119"/>
              <a:ext cx="1274" cy="592"/>
              <a:chOff x="3704" y="904"/>
              <a:chExt cx="1536" cy="896"/>
            </a:xfrm>
          </p:grpSpPr>
          <p:sp>
            <p:nvSpPr>
              <p:cNvPr id="15386" name="Line 215"/>
              <p:cNvSpPr/>
              <p:nvPr/>
            </p:nvSpPr>
            <p:spPr>
              <a:xfrm flipV="1">
                <a:off x="3704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5387" name="Line 216"/>
              <p:cNvSpPr/>
              <p:nvPr/>
            </p:nvSpPr>
            <p:spPr>
              <a:xfrm flipV="1">
                <a:off x="5240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5388" name="Line 217"/>
              <p:cNvSpPr/>
              <p:nvPr/>
            </p:nvSpPr>
            <p:spPr>
              <a:xfrm flipV="1">
                <a:off x="4856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5389" name="Line 218"/>
              <p:cNvSpPr/>
              <p:nvPr/>
            </p:nvSpPr>
            <p:spPr>
              <a:xfrm flipV="1">
                <a:off x="4472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5390" name="Line 219"/>
              <p:cNvSpPr/>
              <p:nvPr/>
            </p:nvSpPr>
            <p:spPr>
              <a:xfrm flipV="1">
                <a:off x="4088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</p:grpSp>
        <p:graphicFrame>
          <p:nvGraphicFramePr>
            <p:cNvPr id="15381" name="Object 220"/>
            <p:cNvGraphicFramePr>
              <a:graphicFrameLocks noChangeAspect="1"/>
            </p:cNvGraphicFramePr>
            <p:nvPr/>
          </p:nvGraphicFramePr>
          <p:xfrm>
            <a:off x="4540" y="2265"/>
            <a:ext cx="16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8" imgW="152400" imgH="165100" progId="Equation.3">
                    <p:embed/>
                  </p:oleObj>
                </mc:Choice>
                <mc:Fallback>
                  <p:oleObj name="" r:id="rId18" imgW="152400" imgH="1651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540" y="2265"/>
                          <a:ext cx="164" cy="1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2" name="Object 221"/>
            <p:cNvGraphicFramePr>
              <a:graphicFrameLocks noChangeAspect="1"/>
            </p:cNvGraphicFramePr>
            <p:nvPr/>
          </p:nvGraphicFramePr>
          <p:xfrm>
            <a:off x="3897" y="2416"/>
            <a:ext cx="229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20" imgW="177800" imgH="393065" progId="Equation.DSMT4">
                    <p:embed/>
                  </p:oleObj>
                </mc:Choice>
                <mc:Fallback>
                  <p:oleObj name="" r:id="rId20" imgW="177800" imgH="393065" progId="Equation.DSMT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897" y="2416"/>
                          <a:ext cx="229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3" name="Object 222"/>
            <p:cNvGraphicFramePr>
              <a:graphicFrameLocks noChangeAspect="1"/>
            </p:cNvGraphicFramePr>
            <p:nvPr/>
          </p:nvGraphicFramePr>
          <p:xfrm>
            <a:off x="4977" y="2221"/>
            <a:ext cx="11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22" imgW="101600" imgH="165100" progId="Equation.3">
                    <p:embed/>
                  </p:oleObj>
                </mc:Choice>
                <mc:Fallback>
                  <p:oleObj name="" r:id="rId22" imgW="101600" imgH="1651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977" y="2221"/>
                          <a:ext cx="115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4" name="Object 223"/>
            <p:cNvGraphicFramePr>
              <a:graphicFrameLocks noChangeAspect="1"/>
            </p:cNvGraphicFramePr>
            <p:nvPr/>
          </p:nvGraphicFramePr>
          <p:xfrm>
            <a:off x="2983" y="2280"/>
            <a:ext cx="263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24" imgW="127000" imgH="139700" progId="Equation.3">
                    <p:embed/>
                  </p:oleObj>
                </mc:Choice>
                <mc:Fallback>
                  <p:oleObj name="" r:id="rId24" imgW="127000" imgH="1397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983" y="2280"/>
                          <a:ext cx="263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5" name="Freeform 224"/>
            <p:cNvSpPr>
              <a:spLocks noChangeAspect="1"/>
            </p:cNvSpPr>
            <p:nvPr/>
          </p:nvSpPr>
          <p:spPr>
            <a:xfrm>
              <a:off x="3220" y="2125"/>
              <a:ext cx="1710" cy="586"/>
            </a:xfrm>
            <a:custGeom>
              <a:avLst/>
              <a:gdLst/>
              <a:ahLst/>
              <a:cxnLst>
                <a:cxn ang="0">
                  <a:pos x="11" y="187"/>
                </a:cxn>
                <a:cxn ang="0">
                  <a:pos x="32" y="223"/>
                </a:cxn>
                <a:cxn ang="0">
                  <a:pos x="55" y="258"/>
                </a:cxn>
                <a:cxn ang="0">
                  <a:pos x="76" y="286"/>
                </a:cxn>
                <a:cxn ang="0">
                  <a:pos x="98" y="310"/>
                </a:cxn>
                <a:cxn ang="0">
                  <a:pos x="119" y="327"/>
                </a:cxn>
                <a:cxn ang="0">
                  <a:pos x="140" y="335"/>
                </a:cxn>
                <a:cxn ang="0">
                  <a:pos x="163" y="336"/>
                </a:cxn>
                <a:cxn ang="0">
                  <a:pos x="183" y="328"/>
                </a:cxn>
                <a:cxn ang="0">
                  <a:pos x="205" y="313"/>
                </a:cxn>
                <a:cxn ang="0">
                  <a:pos x="227" y="290"/>
                </a:cxn>
                <a:cxn ang="0">
                  <a:pos x="249" y="261"/>
                </a:cxn>
                <a:cxn ang="0">
                  <a:pos x="270" y="228"/>
                </a:cxn>
                <a:cxn ang="0">
                  <a:pos x="292" y="192"/>
                </a:cxn>
                <a:cxn ang="0">
                  <a:pos x="314" y="155"/>
                </a:cxn>
                <a:cxn ang="0">
                  <a:pos x="335" y="118"/>
                </a:cxn>
                <a:cxn ang="0">
                  <a:pos x="358" y="84"/>
                </a:cxn>
                <a:cxn ang="0">
                  <a:pos x="378" y="54"/>
                </a:cxn>
                <a:cxn ang="0">
                  <a:pos x="400" y="29"/>
                </a:cxn>
                <a:cxn ang="0">
                  <a:pos x="421" y="12"/>
                </a:cxn>
                <a:cxn ang="0">
                  <a:pos x="442" y="3"/>
                </a:cxn>
                <a:cxn ang="0">
                  <a:pos x="465" y="1"/>
                </a:cxn>
                <a:cxn ang="0">
                  <a:pos x="486" y="7"/>
                </a:cxn>
                <a:cxn ang="0">
                  <a:pos x="508" y="21"/>
                </a:cxn>
                <a:cxn ang="0">
                  <a:pos x="529" y="44"/>
                </a:cxn>
                <a:cxn ang="0">
                  <a:pos x="551" y="71"/>
                </a:cxn>
                <a:cxn ang="0">
                  <a:pos x="572" y="104"/>
                </a:cxn>
                <a:cxn ang="0">
                  <a:pos x="594" y="140"/>
                </a:cxn>
                <a:cxn ang="0">
                  <a:pos x="616" y="177"/>
                </a:cxn>
                <a:cxn ang="0">
                  <a:pos x="638" y="214"/>
                </a:cxn>
                <a:cxn ang="0">
                  <a:pos x="659" y="248"/>
                </a:cxn>
                <a:cxn ang="0">
                  <a:pos x="680" y="279"/>
                </a:cxn>
                <a:cxn ang="0">
                  <a:pos x="702" y="304"/>
                </a:cxn>
                <a:cxn ang="0">
                  <a:pos x="723" y="323"/>
                </a:cxn>
                <a:cxn ang="0">
                  <a:pos x="746" y="334"/>
                </a:cxn>
                <a:cxn ang="0">
                  <a:pos x="766" y="337"/>
                </a:cxn>
                <a:cxn ang="0">
                  <a:pos x="789" y="332"/>
                </a:cxn>
                <a:cxn ang="0">
                  <a:pos x="811" y="319"/>
                </a:cxn>
              </a:cxnLst>
              <a:pathLst>
                <a:path w="2061" h="673">
                  <a:moveTo>
                    <a:pt x="0" y="337"/>
                  </a:moveTo>
                  <a:lnTo>
                    <a:pt x="28" y="374"/>
                  </a:lnTo>
                  <a:lnTo>
                    <a:pt x="54" y="410"/>
                  </a:lnTo>
                  <a:lnTo>
                    <a:pt x="83" y="446"/>
                  </a:lnTo>
                  <a:lnTo>
                    <a:pt x="111" y="481"/>
                  </a:lnTo>
                  <a:lnTo>
                    <a:pt x="137" y="514"/>
                  </a:lnTo>
                  <a:lnTo>
                    <a:pt x="165" y="544"/>
                  </a:lnTo>
                  <a:lnTo>
                    <a:pt x="192" y="572"/>
                  </a:lnTo>
                  <a:lnTo>
                    <a:pt x="220" y="598"/>
                  </a:lnTo>
                  <a:lnTo>
                    <a:pt x="248" y="620"/>
                  </a:lnTo>
                  <a:lnTo>
                    <a:pt x="274" y="638"/>
                  </a:lnTo>
                  <a:lnTo>
                    <a:pt x="302" y="653"/>
                  </a:lnTo>
                  <a:lnTo>
                    <a:pt x="330" y="663"/>
                  </a:lnTo>
                  <a:lnTo>
                    <a:pt x="357" y="670"/>
                  </a:lnTo>
                  <a:lnTo>
                    <a:pt x="385" y="673"/>
                  </a:lnTo>
                  <a:lnTo>
                    <a:pt x="413" y="671"/>
                  </a:lnTo>
                  <a:lnTo>
                    <a:pt x="439" y="666"/>
                  </a:lnTo>
                  <a:lnTo>
                    <a:pt x="467" y="656"/>
                  </a:lnTo>
                  <a:lnTo>
                    <a:pt x="494" y="643"/>
                  </a:lnTo>
                  <a:lnTo>
                    <a:pt x="522" y="624"/>
                  </a:lnTo>
                  <a:lnTo>
                    <a:pt x="550" y="604"/>
                  </a:lnTo>
                  <a:lnTo>
                    <a:pt x="576" y="579"/>
                  </a:lnTo>
                  <a:lnTo>
                    <a:pt x="604" y="552"/>
                  </a:lnTo>
                  <a:lnTo>
                    <a:pt x="633" y="523"/>
                  </a:lnTo>
                  <a:lnTo>
                    <a:pt x="659" y="491"/>
                  </a:lnTo>
                  <a:lnTo>
                    <a:pt x="687" y="456"/>
                  </a:lnTo>
                  <a:lnTo>
                    <a:pt x="715" y="420"/>
                  </a:lnTo>
                  <a:lnTo>
                    <a:pt x="742" y="384"/>
                  </a:lnTo>
                  <a:lnTo>
                    <a:pt x="770" y="347"/>
                  </a:lnTo>
                  <a:lnTo>
                    <a:pt x="796" y="309"/>
                  </a:lnTo>
                  <a:lnTo>
                    <a:pt x="824" y="273"/>
                  </a:lnTo>
                  <a:lnTo>
                    <a:pt x="852" y="236"/>
                  </a:lnTo>
                  <a:lnTo>
                    <a:pt x="879" y="201"/>
                  </a:lnTo>
                  <a:lnTo>
                    <a:pt x="907" y="167"/>
                  </a:lnTo>
                  <a:lnTo>
                    <a:pt x="935" y="136"/>
                  </a:lnTo>
                  <a:lnTo>
                    <a:pt x="961" y="107"/>
                  </a:lnTo>
                  <a:lnTo>
                    <a:pt x="989" y="81"/>
                  </a:lnTo>
                  <a:lnTo>
                    <a:pt x="1017" y="59"/>
                  </a:lnTo>
                  <a:lnTo>
                    <a:pt x="1044" y="39"/>
                  </a:lnTo>
                  <a:lnTo>
                    <a:pt x="1072" y="24"/>
                  </a:lnTo>
                  <a:lnTo>
                    <a:pt x="1098" y="12"/>
                  </a:lnTo>
                  <a:lnTo>
                    <a:pt x="1126" y="4"/>
                  </a:lnTo>
                  <a:lnTo>
                    <a:pt x="1154" y="0"/>
                  </a:lnTo>
                  <a:lnTo>
                    <a:pt x="1181" y="1"/>
                  </a:lnTo>
                  <a:lnTo>
                    <a:pt x="1209" y="6"/>
                  </a:lnTo>
                  <a:lnTo>
                    <a:pt x="1237" y="14"/>
                  </a:lnTo>
                  <a:lnTo>
                    <a:pt x="1263" y="26"/>
                  </a:lnTo>
                  <a:lnTo>
                    <a:pt x="1291" y="43"/>
                  </a:lnTo>
                  <a:lnTo>
                    <a:pt x="1320" y="63"/>
                  </a:lnTo>
                  <a:lnTo>
                    <a:pt x="1346" y="87"/>
                  </a:lnTo>
                  <a:lnTo>
                    <a:pt x="1374" y="113"/>
                  </a:lnTo>
                  <a:lnTo>
                    <a:pt x="1400" y="142"/>
                  </a:lnTo>
                  <a:lnTo>
                    <a:pt x="1429" y="174"/>
                  </a:lnTo>
                  <a:lnTo>
                    <a:pt x="1457" y="207"/>
                  </a:lnTo>
                  <a:lnTo>
                    <a:pt x="1483" y="242"/>
                  </a:lnTo>
                  <a:lnTo>
                    <a:pt x="1511" y="279"/>
                  </a:lnTo>
                  <a:lnTo>
                    <a:pt x="1539" y="316"/>
                  </a:lnTo>
                  <a:lnTo>
                    <a:pt x="1566" y="354"/>
                  </a:lnTo>
                  <a:lnTo>
                    <a:pt x="1594" y="390"/>
                  </a:lnTo>
                  <a:lnTo>
                    <a:pt x="1622" y="427"/>
                  </a:lnTo>
                  <a:lnTo>
                    <a:pt x="1648" y="462"/>
                  </a:lnTo>
                  <a:lnTo>
                    <a:pt x="1676" y="496"/>
                  </a:lnTo>
                  <a:lnTo>
                    <a:pt x="1703" y="528"/>
                  </a:lnTo>
                  <a:lnTo>
                    <a:pt x="1731" y="558"/>
                  </a:lnTo>
                  <a:lnTo>
                    <a:pt x="1759" y="584"/>
                  </a:lnTo>
                  <a:lnTo>
                    <a:pt x="1785" y="608"/>
                  </a:lnTo>
                  <a:lnTo>
                    <a:pt x="1813" y="628"/>
                  </a:lnTo>
                  <a:lnTo>
                    <a:pt x="1841" y="645"/>
                  </a:lnTo>
                  <a:lnTo>
                    <a:pt x="1868" y="658"/>
                  </a:lnTo>
                  <a:lnTo>
                    <a:pt x="1896" y="667"/>
                  </a:lnTo>
                  <a:lnTo>
                    <a:pt x="1924" y="672"/>
                  </a:lnTo>
                  <a:lnTo>
                    <a:pt x="1950" y="673"/>
                  </a:lnTo>
                  <a:lnTo>
                    <a:pt x="1978" y="669"/>
                  </a:lnTo>
                  <a:lnTo>
                    <a:pt x="2005" y="662"/>
                  </a:lnTo>
                  <a:lnTo>
                    <a:pt x="2033" y="650"/>
                  </a:lnTo>
                  <a:lnTo>
                    <a:pt x="2061" y="635"/>
                  </a:lnTo>
                </a:path>
              </a:pathLst>
            </a:custGeom>
            <a:noFill/>
            <a:ln w="254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9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3747" name="Group 211"/>
          <p:cNvGrpSpPr/>
          <p:nvPr/>
        </p:nvGrpSpPr>
        <p:grpSpPr>
          <a:xfrm>
            <a:off x="914400" y="1370013"/>
            <a:ext cx="3505200" cy="1020762"/>
            <a:chOff x="576" y="1200"/>
            <a:chExt cx="2208" cy="643"/>
          </a:xfrm>
        </p:grpSpPr>
        <p:graphicFrame>
          <p:nvGraphicFramePr>
            <p:cNvPr id="16416" name="Object 3"/>
            <p:cNvGraphicFramePr>
              <a:graphicFrameLocks noChangeAspect="1"/>
            </p:cNvGraphicFramePr>
            <p:nvPr/>
          </p:nvGraphicFramePr>
          <p:xfrm>
            <a:off x="1536" y="1200"/>
            <a:ext cx="1248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1" imgW="914400" imgH="469900" progId="Equation.3">
                    <p:embed/>
                  </p:oleObj>
                </mc:Choice>
                <mc:Fallback>
                  <p:oleObj name="" r:id="rId1" imgW="914400" imgH="46990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36" y="1200"/>
                          <a:ext cx="1248" cy="6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7" name="Text Box 4"/>
            <p:cNvSpPr txBox="1"/>
            <p:nvPr/>
          </p:nvSpPr>
          <p:spPr>
            <a:xfrm>
              <a:off x="576" y="1318"/>
              <a:ext cx="1344" cy="42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Blip>
                  <a:blip r:embed="rId3"/>
                </a:buBlip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</a:t>
              </a: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频率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93542" name="Object 6"/>
          <p:cNvGraphicFramePr>
            <a:graphicFrameLocks noChangeAspect="1"/>
          </p:cNvGraphicFramePr>
          <p:nvPr/>
        </p:nvGraphicFramePr>
        <p:xfrm>
          <a:off x="1447800" y="3122613"/>
          <a:ext cx="2438400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4" imgW="1143000" imgH="469900" progId="Equation.3">
                  <p:embed/>
                </p:oleObj>
              </mc:Choice>
              <mc:Fallback>
                <p:oleObj name="" r:id="rId4" imgW="1143000" imgH="4699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7800" y="3122613"/>
                        <a:ext cx="2438400" cy="1004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3" name="Text Box 7"/>
          <p:cNvSpPr txBox="1"/>
          <p:nvPr/>
        </p:nvSpPr>
        <p:spPr>
          <a:xfrm>
            <a:off x="914400" y="2522538"/>
            <a:ext cx="2795588" cy="627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  <a:buBlip>
                <a:blip r:embed="rId3"/>
              </a:buBlip>
            </a:pP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  角频率</a:t>
            </a:r>
            <a:endParaRPr lang="zh-CN" altLang="en-US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3544" name="Text Box 8"/>
          <p:cNvSpPr txBox="1">
            <a:spLocks noChangeArrowheads="1"/>
          </p:cNvSpPr>
          <p:nvPr/>
        </p:nvSpPr>
        <p:spPr bwMode="auto">
          <a:xfrm>
            <a:off x="1219200" y="4418013"/>
            <a:ext cx="7086600" cy="121761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12700">
            <a:solidFill>
              <a:srgbClr val="006666"/>
            </a:solidFill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周期和频率仅与振动系统</a:t>
            </a:r>
            <a:r>
              <a:rPr kumimoji="0" lang="zh-CN" altLang="en-US" kern="1200" cap="none" spc="0" normalizeH="0" baseline="0" noProof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本身</a:t>
            </a:r>
            <a:r>
              <a:rPr kumimoji="0" lang="zh-CN" altLang="en-US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的物理性质有关</a:t>
            </a:r>
            <a:r>
              <a:rPr kumimoji="0" lang="en-US" altLang="zh-CN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390" name="Group 185"/>
          <p:cNvGrpSpPr/>
          <p:nvPr/>
        </p:nvGrpSpPr>
        <p:grpSpPr>
          <a:xfrm>
            <a:off x="4495800" y="2208213"/>
            <a:ext cx="3733800" cy="2133600"/>
            <a:chOff x="2832" y="1680"/>
            <a:chExt cx="2352" cy="1344"/>
          </a:xfrm>
        </p:grpSpPr>
        <p:sp>
          <p:nvSpPr>
            <p:cNvPr id="16394" name="Rectangle 186"/>
            <p:cNvSpPr/>
            <p:nvPr/>
          </p:nvSpPr>
          <p:spPr>
            <a:xfrm>
              <a:off x="2832" y="1680"/>
              <a:ext cx="2352" cy="1344"/>
            </a:xfrm>
            <a:prstGeom prst="rect">
              <a:avLst/>
            </a:prstGeom>
            <a:noFill/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3723" name="Rectangle 187"/>
            <p:cNvSpPr>
              <a:spLocks noChangeArrowheads="1"/>
            </p:cNvSpPr>
            <p:nvPr/>
          </p:nvSpPr>
          <p:spPr bwMode="auto">
            <a:xfrm>
              <a:off x="3738" y="1771"/>
              <a:ext cx="725" cy="251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6396" name="Object 188"/>
            <p:cNvGraphicFramePr>
              <a:graphicFrameLocks noChangeAspect="1"/>
            </p:cNvGraphicFramePr>
            <p:nvPr/>
          </p:nvGraphicFramePr>
          <p:xfrm>
            <a:off x="3738" y="1791"/>
            <a:ext cx="463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6" imgW="481965" imgH="215900" progId="Equation.3">
                    <p:embed/>
                  </p:oleObj>
                </mc:Choice>
                <mc:Fallback>
                  <p:oleObj name="" r:id="rId6" imgW="481965" imgH="2159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738" y="1791"/>
                          <a:ext cx="463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7" name="Rectangle 189"/>
            <p:cNvSpPr/>
            <p:nvPr/>
          </p:nvSpPr>
          <p:spPr>
            <a:xfrm>
              <a:off x="4136" y="1728"/>
              <a:ext cx="7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图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398" name="Line 190"/>
            <p:cNvSpPr/>
            <p:nvPr/>
          </p:nvSpPr>
          <p:spPr>
            <a:xfrm flipV="1">
              <a:off x="3226" y="2426"/>
              <a:ext cx="183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6399" name="Line 191"/>
            <p:cNvSpPr/>
            <p:nvPr/>
          </p:nvSpPr>
          <p:spPr>
            <a:xfrm flipV="1">
              <a:off x="3216" y="1792"/>
              <a:ext cx="4" cy="12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6400" name="Line 192"/>
            <p:cNvSpPr/>
            <p:nvPr/>
          </p:nvSpPr>
          <p:spPr>
            <a:xfrm flipH="1">
              <a:off x="3226" y="2126"/>
              <a:ext cx="167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6401" name="Line 193"/>
            <p:cNvSpPr/>
            <p:nvPr/>
          </p:nvSpPr>
          <p:spPr>
            <a:xfrm flipH="1" flipV="1">
              <a:off x="3226" y="2711"/>
              <a:ext cx="1752" cy="1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graphicFrame>
          <p:nvGraphicFramePr>
            <p:cNvPr id="16402" name="Object 194"/>
            <p:cNvGraphicFramePr>
              <a:graphicFrameLocks noChangeAspect="1"/>
            </p:cNvGraphicFramePr>
            <p:nvPr/>
          </p:nvGraphicFramePr>
          <p:xfrm>
            <a:off x="3021" y="1984"/>
            <a:ext cx="19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8" imgW="165100" imgH="165100" progId="Equation.DSMT4">
                    <p:embed/>
                  </p:oleObj>
                </mc:Choice>
                <mc:Fallback>
                  <p:oleObj name="" r:id="rId8" imgW="165100" imgH="165100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21" y="1984"/>
                          <a:ext cx="195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3" name="Object 195"/>
            <p:cNvGraphicFramePr>
              <a:graphicFrameLocks noChangeAspect="1"/>
            </p:cNvGraphicFramePr>
            <p:nvPr/>
          </p:nvGraphicFramePr>
          <p:xfrm>
            <a:off x="2928" y="2608"/>
            <a:ext cx="27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0" imgW="254000" imgH="165100" progId="Equation.DSMT4">
                    <p:embed/>
                  </p:oleObj>
                </mc:Choice>
                <mc:Fallback>
                  <p:oleObj name="" r:id="rId10" imgW="254000" imgH="165100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928" y="2608"/>
                          <a:ext cx="277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4" name="Object 196"/>
            <p:cNvGraphicFramePr>
              <a:graphicFrameLocks noChangeAspect="1"/>
            </p:cNvGraphicFramePr>
            <p:nvPr/>
          </p:nvGraphicFramePr>
          <p:xfrm>
            <a:off x="3253" y="1750"/>
            <a:ext cx="14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2" imgW="139700" imgH="139700" progId="Equation.3">
                    <p:embed/>
                  </p:oleObj>
                </mc:Choice>
                <mc:Fallback>
                  <p:oleObj name="" r:id="rId12" imgW="139700" imgH="1397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253" y="1750"/>
                          <a:ext cx="147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405" name="Group 197"/>
            <p:cNvGrpSpPr/>
            <p:nvPr/>
          </p:nvGrpSpPr>
          <p:grpSpPr>
            <a:xfrm>
              <a:off x="3545" y="2119"/>
              <a:ext cx="1274" cy="592"/>
              <a:chOff x="3704" y="904"/>
              <a:chExt cx="1536" cy="896"/>
            </a:xfrm>
          </p:grpSpPr>
          <p:sp>
            <p:nvSpPr>
              <p:cNvPr id="16411" name="Line 198"/>
              <p:cNvSpPr/>
              <p:nvPr/>
            </p:nvSpPr>
            <p:spPr>
              <a:xfrm flipV="1">
                <a:off x="3704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6412" name="Line 199"/>
              <p:cNvSpPr/>
              <p:nvPr/>
            </p:nvSpPr>
            <p:spPr>
              <a:xfrm flipV="1">
                <a:off x="5240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6413" name="Line 200"/>
              <p:cNvSpPr/>
              <p:nvPr/>
            </p:nvSpPr>
            <p:spPr>
              <a:xfrm flipV="1">
                <a:off x="4856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6414" name="Line 201"/>
              <p:cNvSpPr/>
              <p:nvPr/>
            </p:nvSpPr>
            <p:spPr>
              <a:xfrm flipV="1">
                <a:off x="4472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  <p:sp>
            <p:nvSpPr>
              <p:cNvPr id="16415" name="Line 202"/>
              <p:cNvSpPr/>
              <p:nvPr/>
            </p:nvSpPr>
            <p:spPr>
              <a:xfrm flipV="1">
                <a:off x="4088" y="904"/>
                <a:ext cx="0" cy="896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dash"/>
                <a:headEnd type="none" w="med" len="med"/>
                <a:tailEnd type="none" w="sm" len="lg"/>
              </a:ln>
            </p:spPr>
          </p:sp>
        </p:grpSp>
        <p:graphicFrame>
          <p:nvGraphicFramePr>
            <p:cNvPr id="16406" name="Object 203"/>
            <p:cNvGraphicFramePr>
              <a:graphicFrameLocks noChangeAspect="1"/>
            </p:cNvGraphicFramePr>
            <p:nvPr/>
          </p:nvGraphicFramePr>
          <p:xfrm>
            <a:off x="4540" y="2265"/>
            <a:ext cx="16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14" imgW="152400" imgH="165100" progId="Equation.3">
                    <p:embed/>
                  </p:oleObj>
                </mc:Choice>
                <mc:Fallback>
                  <p:oleObj name="" r:id="rId14" imgW="152400" imgH="1651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540" y="2265"/>
                          <a:ext cx="164" cy="1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7" name="Object 204"/>
            <p:cNvGraphicFramePr>
              <a:graphicFrameLocks noChangeAspect="1"/>
            </p:cNvGraphicFramePr>
            <p:nvPr/>
          </p:nvGraphicFramePr>
          <p:xfrm>
            <a:off x="3897" y="2416"/>
            <a:ext cx="229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16" imgW="177800" imgH="393065" progId="Equation.DSMT4">
                    <p:embed/>
                  </p:oleObj>
                </mc:Choice>
                <mc:Fallback>
                  <p:oleObj name="" r:id="rId16" imgW="177800" imgH="393065" progId="Equation.DSMT4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897" y="2416"/>
                          <a:ext cx="229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8" name="Object 205"/>
            <p:cNvGraphicFramePr>
              <a:graphicFrameLocks noChangeAspect="1"/>
            </p:cNvGraphicFramePr>
            <p:nvPr/>
          </p:nvGraphicFramePr>
          <p:xfrm>
            <a:off x="4977" y="2221"/>
            <a:ext cx="11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18" imgW="101600" imgH="165100" progId="Equation.3">
                    <p:embed/>
                  </p:oleObj>
                </mc:Choice>
                <mc:Fallback>
                  <p:oleObj name="" r:id="rId18" imgW="101600" imgH="1651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977" y="2221"/>
                          <a:ext cx="115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9" name="Object 206"/>
            <p:cNvGraphicFramePr>
              <a:graphicFrameLocks noChangeAspect="1"/>
            </p:cNvGraphicFramePr>
            <p:nvPr/>
          </p:nvGraphicFramePr>
          <p:xfrm>
            <a:off x="2997" y="2313"/>
            <a:ext cx="243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20" imgW="127000" imgH="139700" progId="Equation.3">
                    <p:embed/>
                  </p:oleObj>
                </mc:Choice>
                <mc:Fallback>
                  <p:oleObj name="" r:id="rId20" imgW="127000" imgH="1397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997" y="2313"/>
                          <a:ext cx="243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0" name="Freeform 207"/>
            <p:cNvSpPr>
              <a:spLocks noChangeAspect="1"/>
            </p:cNvSpPr>
            <p:nvPr/>
          </p:nvSpPr>
          <p:spPr>
            <a:xfrm>
              <a:off x="3220" y="2125"/>
              <a:ext cx="1710" cy="586"/>
            </a:xfrm>
            <a:custGeom>
              <a:avLst/>
              <a:gdLst/>
              <a:ahLst/>
              <a:cxnLst>
                <a:cxn ang="0">
                  <a:pos x="11" y="187"/>
                </a:cxn>
                <a:cxn ang="0">
                  <a:pos x="32" y="223"/>
                </a:cxn>
                <a:cxn ang="0">
                  <a:pos x="55" y="258"/>
                </a:cxn>
                <a:cxn ang="0">
                  <a:pos x="76" y="286"/>
                </a:cxn>
                <a:cxn ang="0">
                  <a:pos x="98" y="310"/>
                </a:cxn>
                <a:cxn ang="0">
                  <a:pos x="119" y="327"/>
                </a:cxn>
                <a:cxn ang="0">
                  <a:pos x="140" y="335"/>
                </a:cxn>
                <a:cxn ang="0">
                  <a:pos x="163" y="336"/>
                </a:cxn>
                <a:cxn ang="0">
                  <a:pos x="183" y="328"/>
                </a:cxn>
                <a:cxn ang="0">
                  <a:pos x="205" y="313"/>
                </a:cxn>
                <a:cxn ang="0">
                  <a:pos x="227" y="290"/>
                </a:cxn>
                <a:cxn ang="0">
                  <a:pos x="249" y="261"/>
                </a:cxn>
                <a:cxn ang="0">
                  <a:pos x="270" y="228"/>
                </a:cxn>
                <a:cxn ang="0">
                  <a:pos x="292" y="192"/>
                </a:cxn>
                <a:cxn ang="0">
                  <a:pos x="314" y="155"/>
                </a:cxn>
                <a:cxn ang="0">
                  <a:pos x="335" y="118"/>
                </a:cxn>
                <a:cxn ang="0">
                  <a:pos x="358" y="84"/>
                </a:cxn>
                <a:cxn ang="0">
                  <a:pos x="378" y="54"/>
                </a:cxn>
                <a:cxn ang="0">
                  <a:pos x="400" y="29"/>
                </a:cxn>
                <a:cxn ang="0">
                  <a:pos x="421" y="12"/>
                </a:cxn>
                <a:cxn ang="0">
                  <a:pos x="442" y="3"/>
                </a:cxn>
                <a:cxn ang="0">
                  <a:pos x="465" y="1"/>
                </a:cxn>
                <a:cxn ang="0">
                  <a:pos x="486" y="7"/>
                </a:cxn>
                <a:cxn ang="0">
                  <a:pos x="508" y="21"/>
                </a:cxn>
                <a:cxn ang="0">
                  <a:pos x="529" y="44"/>
                </a:cxn>
                <a:cxn ang="0">
                  <a:pos x="551" y="71"/>
                </a:cxn>
                <a:cxn ang="0">
                  <a:pos x="572" y="104"/>
                </a:cxn>
                <a:cxn ang="0">
                  <a:pos x="594" y="140"/>
                </a:cxn>
                <a:cxn ang="0">
                  <a:pos x="616" y="177"/>
                </a:cxn>
                <a:cxn ang="0">
                  <a:pos x="638" y="214"/>
                </a:cxn>
                <a:cxn ang="0">
                  <a:pos x="659" y="248"/>
                </a:cxn>
                <a:cxn ang="0">
                  <a:pos x="680" y="279"/>
                </a:cxn>
                <a:cxn ang="0">
                  <a:pos x="702" y="304"/>
                </a:cxn>
                <a:cxn ang="0">
                  <a:pos x="723" y="323"/>
                </a:cxn>
                <a:cxn ang="0">
                  <a:pos x="746" y="334"/>
                </a:cxn>
                <a:cxn ang="0">
                  <a:pos x="766" y="337"/>
                </a:cxn>
                <a:cxn ang="0">
                  <a:pos x="789" y="332"/>
                </a:cxn>
                <a:cxn ang="0">
                  <a:pos x="811" y="319"/>
                </a:cxn>
              </a:cxnLst>
              <a:pathLst>
                <a:path w="2061" h="673">
                  <a:moveTo>
                    <a:pt x="0" y="337"/>
                  </a:moveTo>
                  <a:lnTo>
                    <a:pt x="28" y="374"/>
                  </a:lnTo>
                  <a:lnTo>
                    <a:pt x="54" y="410"/>
                  </a:lnTo>
                  <a:lnTo>
                    <a:pt x="83" y="446"/>
                  </a:lnTo>
                  <a:lnTo>
                    <a:pt x="111" y="481"/>
                  </a:lnTo>
                  <a:lnTo>
                    <a:pt x="137" y="514"/>
                  </a:lnTo>
                  <a:lnTo>
                    <a:pt x="165" y="544"/>
                  </a:lnTo>
                  <a:lnTo>
                    <a:pt x="192" y="572"/>
                  </a:lnTo>
                  <a:lnTo>
                    <a:pt x="220" y="598"/>
                  </a:lnTo>
                  <a:lnTo>
                    <a:pt x="248" y="620"/>
                  </a:lnTo>
                  <a:lnTo>
                    <a:pt x="274" y="638"/>
                  </a:lnTo>
                  <a:lnTo>
                    <a:pt x="302" y="653"/>
                  </a:lnTo>
                  <a:lnTo>
                    <a:pt x="330" y="663"/>
                  </a:lnTo>
                  <a:lnTo>
                    <a:pt x="357" y="670"/>
                  </a:lnTo>
                  <a:lnTo>
                    <a:pt x="385" y="673"/>
                  </a:lnTo>
                  <a:lnTo>
                    <a:pt x="413" y="671"/>
                  </a:lnTo>
                  <a:lnTo>
                    <a:pt x="439" y="666"/>
                  </a:lnTo>
                  <a:lnTo>
                    <a:pt x="467" y="656"/>
                  </a:lnTo>
                  <a:lnTo>
                    <a:pt x="494" y="643"/>
                  </a:lnTo>
                  <a:lnTo>
                    <a:pt x="522" y="624"/>
                  </a:lnTo>
                  <a:lnTo>
                    <a:pt x="550" y="604"/>
                  </a:lnTo>
                  <a:lnTo>
                    <a:pt x="576" y="579"/>
                  </a:lnTo>
                  <a:lnTo>
                    <a:pt x="604" y="552"/>
                  </a:lnTo>
                  <a:lnTo>
                    <a:pt x="633" y="523"/>
                  </a:lnTo>
                  <a:lnTo>
                    <a:pt x="659" y="491"/>
                  </a:lnTo>
                  <a:lnTo>
                    <a:pt x="687" y="456"/>
                  </a:lnTo>
                  <a:lnTo>
                    <a:pt x="715" y="420"/>
                  </a:lnTo>
                  <a:lnTo>
                    <a:pt x="742" y="384"/>
                  </a:lnTo>
                  <a:lnTo>
                    <a:pt x="770" y="347"/>
                  </a:lnTo>
                  <a:lnTo>
                    <a:pt x="796" y="309"/>
                  </a:lnTo>
                  <a:lnTo>
                    <a:pt x="824" y="273"/>
                  </a:lnTo>
                  <a:lnTo>
                    <a:pt x="852" y="236"/>
                  </a:lnTo>
                  <a:lnTo>
                    <a:pt x="879" y="201"/>
                  </a:lnTo>
                  <a:lnTo>
                    <a:pt x="907" y="167"/>
                  </a:lnTo>
                  <a:lnTo>
                    <a:pt x="935" y="136"/>
                  </a:lnTo>
                  <a:lnTo>
                    <a:pt x="961" y="107"/>
                  </a:lnTo>
                  <a:lnTo>
                    <a:pt x="989" y="81"/>
                  </a:lnTo>
                  <a:lnTo>
                    <a:pt x="1017" y="59"/>
                  </a:lnTo>
                  <a:lnTo>
                    <a:pt x="1044" y="39"/>
                  </a:lnTo>
                  <a:lnTo>
                    <a:pt x="1072" y="24"/>
                  </a:lnTo>
                  <a:lnTo>
                    <a:pt x="1098" y="12"/>
                  </a:lnTo>
                  <a:lnTo>
                    <a:pt x="1126" y="4"/>
                  </a:lnTo>
                  <a:lnTo>
                    <a:pt x="1154" y="0"/>
                  </a:lnTo>
                  <a:lnTo>
                    <a:pt x="1181" y="1"/>
                  </a:lnTo>
                  <a:lnTo>
                    <a:pt x="1209" y="6"/>
                  </a:lnTo>
                  <a:lnTo>
                    <a:pt x="1237" y="14"/>
                  </a:lnTo>
                  <a:lnTo>
                    <a:pt x="1263" y="26"/>
                  </a:lnTo>
                  <a:lnTo>
                    <a:pt x="1291" y="43"/>
                  </a:lnTo>
                  <a:lnTo>
                    <a:pt x="1320" y="63"/>
                  </a:lnTo>
                  <a:lnTo>
                    <a:pt x="1346" y="87"/>
                  </a:lnTo>
                  <a:lnTo>
                    <a:pt x="1374" y="113"/>
                  </a:lnTo>
                  <a:lnTo>
                    <a:pt x="1400" y="142"/>
                  </a:lnTo>
                  <a:lnTo>
                    <a:pt x="1429" y="174"/>
                  </a:lnTo>
                  <a:lnTo>
                    <a:pt x="1457" y="207"/>
                  </a:lnTo>
                  <a:lnTo>
                    <a:pt x="1483" y="242"/>
                  </a:lnTo>
                  <a:lnTo>
                    <a:pt x="1511" y="279"/>
                  </a:lnTo>
                  <a:lnTo>
                    <a:pt x="1539" y="316"/>
                  </a:lnTo>
                  <a:lnTo>
                    <a:pt x="1566" y="354"/>
                  </a:lnTo>
                  <a:lnTo>
                    <a:pt x="1594" y="390"/>
                  </a:lnTo>
                  <a:lnTo>
                    <a:pt x="1622" y="427"/>
                  </a:lnTo>
                  <a:lnTo>
                    <a:pt x="1648" y="462"/>
                  </a:lnTo>
                  <a:lnTo>
                    <a:pt x="1676" y="496"/>
                  </a:lnTo>
                  <a:lnTo>
                    <a:pt x="1703" y="528"/>
                  </a:lnTo>
                  <a:lnTo>
                    <a:pt x="1731" y="558"/>
                  </a:lnTo>
                  <a:lnTo>
                    <a:pt x="1759" y="584"/>
                  </a:lnTo>
                  <a:lnTo>
                    <a:pt x="1785" y="608"/>
                  </a:lnTo>
                  <a:lnTo>
                    <a:pt x="1813" y="628"/>
                  </a:lnTo>
                  <a:lnTo>
                    <a:pt x="1841" y="645"/>
                  </a:lnTo>
                  <a:lnTo>
                    <a:pt x="1868" y="658"/>
                  </a:lnTo>
                  <a:lnTo>
                    <a:pt x="1896" y="667"/>
                  </a:lnTo>
                  <a:lnTo>
                    <a:pt x="1924" y="672"/>
                  </a:lnTo>
                  <a:lnTo>
                    <a:pt x="1950" y="673"/>
                  </a:lnTo>
                  <a:lnTo>
                    <a:pt x="1978" y="669"/>
                  </a:lnTo>
                  <a:lnTo>
                    <a:pt x="2005" y="662"/>
                  </a:lnTo>
                  <a:lnTo>
                    <a:pt x="2033" y="650"/>
                  </a:lnTo>
                  <a:lnTo>
                    <a:pt x="2061" y="635"/>
                  </a:lnTo>
                </a:path>
              </a:pathLst>
            </a:custGeom>
            <a:noFill/>
            <a:ln w="254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6391" name="Group 210"/>
          <p:cNvGrpSpPr/>
          <p:nvPr/>
        </p:nvGrpSpPr>
        <p:grpSpPr>
          <a:xfrm>
            <a:off x="1228725" y="836613"/>
            <a:ext cx="6543675" cy="560387"/>
            <a:chOff x="774" y="864"/>
            <a:chExt cx="4122" cy="353"/>
          </a:xfrm>
        </p:grpSpPr>
        <p:graphicFrame>
          <p:nvGraphicFramePr>
            <p:cNvPr id="16392" name="Object 208"/>
            <p:cNvGraphicFramePr>
              <a:graphicFrameLocks noChangeAspect="1"/>
            </p:cNvGraphicFramePr>
            <p:nvPr/>
          </p:nvGraphicFramePr>
          <p:xfrm>
            <a:off x="774" y="879"/>
            <a:ext cx="1866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" name="" r:id="rId22" imgW="1333500" imgH="241300" progId="Equation.3">
                    <p:embed/>
                  </p:oleObj>
                </mc:Choice>
                <mc:Fallback>
                  <p:oleObj name="" r:id="rId22" imgW="1333500" imgH="241300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74" y="879"/>
                          <a:ext cx="1866" cy="3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3" name="Object 209"/>
            <p:cNvGraphicFramePr>
              <a:graphicFrameLocks noChangeAspect="1"/>
            </p:cNvGraphicFramePr>
            <p:nvPr/>
          </p:nvGraphicFramePr>
          <p:xfrm>
            <a:off x="2640" y="864"/>
            <a:ext cx="2256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24" imgW="1625600" imgH="241300" progId="Equation.3">
                    <p:embed/>
                  </p:oleObj>
                </mc:Choice>
                <mc:Fallback>
                  <p:oleObj name="" r:id="rId24" imgW="1625600" imgH="2413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640" y="864"/>
                          <a:ext cx="2256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3" grpId="0"/>
      <p:bldP spid="1935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4581" name="Group 21"/>
          <p:cNvGrpSpPr/>
          <p:nvPr/>
        </p:nvGrpSpPr>
        <p:grpSpPr>
          <a:xfrm>
            <a:off x="990600" y="2390775"/>
            <a:ext cx="5292725" cy="774700"/>
            <a:chOff x="624" y="1901"/>
            <a:chExt cx="3334" cy="488"/>
          </a:xfrm>
        </p:grpSpPr>
        <p:sp>
          <p:nvSpPr>
            <p:cNvPr id="17422" name="Rectangle 3"/>
            <p:cNvSpPr/>
            <p:nvPr/>
          </p:nvSpPr>
          <p:spPr>
            <a:xfrm>
              <a:off x="624" y="1901"/>
              <a:ext cx="1070" cy="4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4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频率为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7423" name="Object 4"/>
            <p:cNvGraphicFramePr>
              <a:graphicFrameLocks noChangeAspect="1"/>
            </p:cNvGraphicFramePr>
            <p:nvPr/>
          </p:nvGraphicFramePr>
          <p:xfrm>
            <a:off x="1814" y="2061"/>
            <a:ext cx="214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" imgW="1102995" imgH="177800" progId="Equation.DSMT4">
                    <p:embed/>
                  </p:oleObj>
                </mc:Choice>
                <mc:Fallback>
                  <p:oleObj name="" r:id="rId1" imgW="1102995" imgH="1778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14" y="2061"/>
                          <a:ext cx="2144" cy="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1" name="Rectangle 5"/>
          <p:cNvSpPr/>
          <p:nvPr/>
        </p:nvSpPr>
        <p:spPr>
          <a:xfrm>
            <a:off x="990600" y="914400"/>
            <a:ext cx="50546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例如，</a:t>
            </a:r>
            <a:r>
              <a:rPr lang="zh-CN" altLang="en-US" dirty="0">
                <a:latin typeface="Times New Roman" panose="02020603050405020304" pitchFamily="18" charset="0"/>
              </a:rPr>
              <a:t>心脏的跳动</a:t>
            </a:r>
            <a:r>
              <a:rPr lang="zh-CN" altLang="en-US" b="0" dirty="0">
                <a:latin typeface="Times New Roman" panose="02020603050405020304" pitchFamily="18" charset="0"/>
              </a:rPr>
              <a:t>80</a:t>
            </a:r>
            <a:r>
              <a:rPr lang="zh-CN" altLang="en-US" dirty="0">
                <a:latin typeface="Times New Roman" panose="02020603050405020304" pitchFamily="18" charset="0"/>
              </a:rPr>
              <a:t>次/</a:t>
            </a:r>
            <a:r>
              <a:rPr lang="en-US" altLang="zh-CN" b="0" dirty="0">
                <a:latin typeface="Times New Roman" panose="02020603050405020304" pitchFamily="18" charset="0"/>
              </a:rPr>
              <a:t>min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12" name="Rectangle 8"/>
          <p:cNvSpPr/>
          <p:nvPr/>
        </p:nvSpPr>
        <p:spPr>
          <a:xfrm>
            <a:off x="990600" y="1519238"/>
            <a:ext cx="140811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周期为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94591" name="Group 31"/>
          <p:cNvGrpSpPr/>
          <p:nvPr/>
        </p:nvGrpSpPr>
        <p:grpSpPr>
          <a:xfrm>
            <a:off x="1752600" y="4114800"/>
            <a:ext cx="6172200" cy="2068513"/>
            <a:chOff x="1008" y="2633"/>
            <a:chExt cx="3600" cy="1303"/>
          </a:xfrm>
        </p:grpSpPr>
        <p:sp>
          <p:nvSpPr>
            <p:cNvPr id="17416" name="Text Box 22"/>
            <p:cNvSpPr txBox="1"/>
            <p:nvPr/>
          </p:nvSpPr>
          <p:spPr>
            <a:xfrm>
              <a:off x="1008" y="2633"/>
              <a:ext cx="3600" cy="129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大象       </a:t>
              </a:r>
              <a:r>
                <a:rPr lang="zh-CN" altLang="en-US" b="0" dirty="0">
                  <a:latin typeface="Times New Roman" panose="02020603050405020304" pitchFamily="18" charset="0"/>
                </a:rPr>
                <a:t>0.4~0.5</a:t>
              </a:r>
              <a:r>
                <a:rPr lang="zh-CN" altLang="en-US" dirty="0">
                  <a:latin typeface="Times New Roman" panose="02020603050405020304" pitchFamily="18" charset="0"/>
                </a:rPr>
                <a:t>      马        </a:t>
              </a:r>
              <a:r>
                <a:rPr lang="zh-CN" altLang="en-US" b="0" dirty="0">
                  <a:latin typeface="Times New Roman" panose="02020603050405020304" pitchFamily="18" charset="0"/>
                </a:rPr>
                <a:t>0.7~0.8</a:t>
              </a:r>
              <a:endParaRPr lang="zh-CN" altLang="en-US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猪           </a:t>
              </a:r>
              <a:r>
                <a:rPr lang="zh-CN" altLang="en-US" b="0" dirty="0">
                  <a:latin typeface="Times New Roman" panose="02020603050405020304" pitchFamily="18" charset="0"/>
                </a:rPr>
                <a:t>1~1.3</a:t>
              </a:r>
              <a:r>
                <a:rPr lang="zh-CN" altLang="en-US" dirty="0">
                  <a:latin typeface="Times New Roman" panose="02020603050405020304" pitchFamily="18" charset="0"/>
                </a:rPr>
                <a:t>         兔           </a:t>
              </a:r>
              <a:r>
                <a:rPr lang="zh-CN" altLang="en-US" b="0" dirty="0">
                  <a:latin typeface="Times New Roman" panose="02020603050405020304" pitchFamily="18" charset="0"/>
                </a:rPr>
                <a:t>1.7</a:t>
              </a:r>
              <a:endParaRPr lang="zh-CN" altLang="en-US" b="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松鼠        </a:t>
              </a:r>
              <a:r>
                <a:rPr lang="zh-CN" altLang="en-US" b="0" dirty="0">
                  <a:latin typeface="Times New Roman" panose="02020603050405020304" pitchFamily="18" charset="0"/>
                </a:rPr>
                <a:t>6.3 </a:t>
              </a:r>
              <a:r>
                <a:rPr lang="zh-CN" altLang="en-US" dirty="0">
                  <a:latin typeface="Times New Roman" panose="02020603050405020304" pitchFamily="18" charset="0"/>
                </a:rPr>
                <a:t>           鲸          </a:t>
              </a:r>
              <a:r>
                <a:rPr lang="zh-CN" altLang="en-US" b="0" dirty="0">
                  <a:latin typeface="Times New Roman" panose="02020603050405020304" pitchFamily="18" charset="0"/>
                </a:rPr>
                <a:t>0.13</a:t>
              </a:r>
              <a:endParaRPr lang="zh-CN" altLang="en-US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17417" name="Line 23"/>
            <p:cNvSpPr/>
            <p:nvPr/>
          </p:nvSpPr>
          <p:spPr>
            <a:xfrm flipV="1">
              <a:off x="1008" y="3024"/>
              <a:ext cx="3600" cy="0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18" name="Line 24"/>
            <p:cNvSpPr/>
            <p:nvPr/>
          </p:nvSpPr>
          <p:spPr>
            <a:xfrm flipV="1">
              <a:off x="1008" y="3504"/>
              <a:ext cx="3600" cy="0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19" name="Line 25"/>
            <p:cNvSpPr/>
            <p:nvPr/>
          </p:nvSpPr>
          <p:spPr>
            <a:xfrm>
              <a:off x="1872" y="2640"/>
              <a:ext cx="0" cy="1296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0" name="Line 26"/>
            <p:cNvSpPr/>
            <p:nvPr/>
          </p:nvSpPr>
          <p:spPr>
            <a:xfrm>
              <a:off x="2832" y="2633"/>
              <a:ext cx="0" cy="1296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1" name="Line 27"/>
            <p:cNvSpPr/>
            <p:nvPr/>
          </p:nvSpPr>
          <p:spPr>
            <a:xfrm>
              <a:off x="3600" y="2633"/>
              <a:ext cx="0" cy="1296"/>
            </a:xfrm>
            <a:prstGeom prst="line">
              <a:avLst/>
            </a:prstGeom>
            <a:ln w="9525" cap="flat" cmpd="sng">
              <a:solidFill>
                <a:srgbClr val="3366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94590" name="Text Box 30"/>
          <p:cNvSpPr txBox="1"/>
          <p:nvPr/>
        </p:nvSpPr>
        <p:spPr>
          <a:xfrm>
            <a:off x="2133600" y="3352800"/>
            <a:ext cx="5715000" cy="588963"/>
          </a:xfrm>
          <a:prstGeom prst="rect">
            <a:avLst/>
          </a:prstGeom>
          <a:gradFill rotWithShape="0">
            <a:gsLst>
              <a:gs pos="0">
                <a:srgbClr val="8FFF8F"/>
              </a:gs>
              <a:gs pos="50000">
                <a:srgbClr val="FFFFFF"/>
              </a:gs>
              <a:gs pos="100000">
                <a:srgbClr val="8FFF8F"/>
              </a:gs>
            </a:gsLst>
            <a:lin ang="5400000" scaled="1"/>
            <a:tileRect/>
          </a:gradFill>
          <a:ln w="9525" cap="flat" cmpd="sng">
            <a:solidFill>
              <a:srgbClr val="002DBE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动物的心跳频率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(参考值,单位:</a:t>
            </a:r>
            <a:r>
              <a:rPr lang="en-US" altLang="zh-CN" sz="2400" b="0" dirty="0">
                <a:solidFill>
                  <a:srgbClr val="CC0000"/>
                </a:solidFill>
                <a:latin typeface="Times New Roman" panose="02020603050405020304" pitchFamily="18" charset="0"/>
              </a:rPr>
              <a:t>Hz</a:t>
            </a: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415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79725" y="1373188"/>
          <a:ext cx="4352925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3" imgW="1600200" imgH="393700" progId="Equation.KSEE3">
                  <p:embed/>
                </p:oleObj>
              </mc:Choice>
              <mc:Fallback>
                <p:oleObj name="" r:id="rId3" imgW="1600200" imgH="393700" progId="Equation.KSEE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9725" y="1373188"/>
                        <a:ext cx="4352925" cy="982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9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4"/>
          <p:cNvSpPr/>
          <p:nvPr/>
        </p:nvSpPr>
        <p:spPr>
          <a:xfrm>
            <a:off x="1752600" y="2362200"/>
            <a:ext cx="5181600" cy="3048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FFCC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35" name="Text Box 2"/>
          <p:cNvSpPr txBox="1"/>
          <p:nvPr/>
        </p:nvSpPr>
        <p:spPr>
          <a:xfrm>
            <a:off x="1295400" y="1295400"/>
            <a:ext cx="6418263" cy="762000"/>
          </a:xfrm>
          <a:prstGeom prst="rect">
            <a:avLst/>
          </a:prstGeom>
          <a:gradFill rotWithShape="0">
            <a:gsLst>
              <a:gs pos="0">
                <a:srgbClr val="8FFF8F"/>
              </a:gs>
              <a:gs pos="50000">
                <a:srgbClr val="FFFFFF"/>
              </a:gs>
              <a:gs pos="100000">
                <a:srgbClr val="8FFF8F"/>
              </a:gs>
            </a:gsLst>
            <a:lin ang="5400000" scaled="1"/>
            <a:tileRect/>
          </a:gradFill>
          <a:ln w="9525" cap="flat" cmpd="sng">
            <a:solidFill>
              <a:srgbClr val="002DBE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eaLnBrk="1" hangingPunct="1">
              <a:spcBef>
                <a:spcPct val="50000"/>
              </a:spcBef>
            </a:pPr>
            <a:r>
              <a:rPr lang="zh-CN" altLang="en-US" sz="40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昆虫翅膀振动的频率（单位：</a:t>
            </a:r>
            <a:r>
              <a:rPr lang="en-US" altLang="zh-CN" b="0" dirty="0">
                <a:solidFill>
                  <a:srgbClr val="CC0000"/>
                </a:solidFill>
                <a:latin typeface="Times New Roman" panose="02020603050405020304" pitchFamily="18" charset="0"/>
              </a:rPr>
              <a:t>Hz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Text Box 3"/>
          <p:cNvSpPr txBox="1"/>
          <p:nvPr/>
        </p:nvSpPr>
        <p:spPr>
          <a:xfrm>
            <a:off x="1905000" y="2482850"/>
            <a:ext cx="6248400" cy="27749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雌性蚊子          </a:t>
            </a:r>
            <a:r>
              <a:rPr lang="zh-CN" altLang="en-US" b="0" dirty="0">
                <a:latin typeface="Times New Roman" panose="02020603050405020304" pitchFamily="18" charset="0"/>
              </a:rPr>
              <a:t>355~415</a:t>
            </a:r>
            <a:endParaRPr lang="zh-CN" altLang="en-US" b="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雄性蚊子          </a:t>
            </a:r>
            <a:r>
              <a:rPr lang="zh-CN" altLang="en-US" b="0" dirty="0">
                <a:latin typeface="Times New Roman" panose="02020603050405020304" pitchFamily="18" charset="0"/>
              </a:rPr>
              <a:t>455~600</a:t>
            </a:r>
            <a:endParaRPr lang="zh-CN" altLang="en-US" b="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苍        蝇           </a:t>
            </a:r>
            <a:r>
              <a:rPr lang="zh-CN" altLang="en-US" b="0" dirty="0">
                <a:latin typeface="Times New Roman" panose="02020603050405020304" pitchFamily="18" charset="0"/>
              </a:rPr>
              <a:t>330 </a:t>
            </a:r>
            <a:r>
              <a:rPr lang="zh-CN" altLang="en-US" dirty="0">
                <a:latin typeface="Times New Roman" panose="02020603050405020304" pitchFamily="18" charset="0"/>
              </a:rPr>
              <a:t>               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黄        蜂           </a:t>
            </a:r>
            <a:r>
              <a:rPr lang="zh-CN" altLang="en-US" b="0" dirty="0">
                <a:latin typeface="Times New Roman" panose="02020603050405020304" pitchFamily="18" charset="0"/>
              </a:rPr>
              <a:t>220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18437" name="Line 5"/>
          <p:cNvSpPr/>
          <p:nvPr/>
        </p:nvSpPr>
        <p:spPr>
          <a:xfrm>
            <a:off x="1752600" y="3048000"/>
            <a:ext cx="5181600" cy="0"/>
          </a:xfrm>
          <a:prstGeom prst="line">
            <a:avLst/>
          </a:prstGeom>
          <a:ln w="9525" cap="flat" cmpd="sng">
            <a:solidFill>
              <a:srgbClr val="33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8" name="Line 6"/>
          <p:cNvSpPr/>
          <p:nvPr/>
        </p:nvSpPr>
        <p:spPr>
          <a:xfrm>
            <a:off x="1752600" y="3886200"/>
            <a:ext cx="5181600" cy="0"/>
          </a:xfrm>
          <a:prstGeom prst="line">
            <a:avLst/>
          </a:prstGeom>
          <a:ln w="9525" cap="flat" cmpd="sng">
            <a:solidFill>
              <a:srgbClr val="33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9" name="Line 7"/>
          <p:cNvSpPr/>
          <p:nvPr/>
        </p:nvSpPr>
        <p:spPr>
          <a:xfrm>
            <a:off x="1752600" y="4724400"/>
            <a:ext cx="5181600" cy="0"/>
          </a:xfrm>
          <a:prstGeom prst="line">
            <a:avLst/>
          </a:prstGeom>
          <a:ln w="9525" cap="flat" cmpd="sng">
            <a:solidFill>
              <a:srgbClr val="33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0" name="Rectangle 10"/>
          <p:cNvSpPr/>
          <p:nvPr/>
        </p:nvSpPr>
        <p:spPr>
          <a:xfrm>
            <a:off x="1588" y="29495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41" name="Line 8"/>
          <p:cNvSpPr/>
          <p:nvPr/>
        </p:nvSpPr>
        <p:spPr>
          <a:xfrm>
            <a:off x="4191000" y="2362200"/>
            <a:ext cx="0" cy="3048000"/>
          </a:xfrm>
          <a:prstGeom prst="line">
            <a:avLst/>
          </a:prstGeom>
          <a:ln w="9525" cap="flat" cmpd="sng">
            <a:solidFill>
              <a:srgbClr val="3366FF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7666" name="Group 34"/>
          <p:cNvGrpSpPr/>
          <p:nvPr/>
        </p:nvGrpSpPr>
        <p:grpSpPr>
          <a:xfrm>
            <a:off x="755650" y="3962400"/>
            <a:ext cx="8083550" cy="1863725"/>
            <a:chOff x="476" y="2496"/>
            <a:chExt cx="5092" cy="1174"/>
          </a:xfrm>
        </p:grpSpPr>
        <p:sp>
          <p:nvSpPr>
            <p:cNvPr id="20497" name="Rectangle 10"/>
            <p:cNvSpPr/>
            <p:nvPr/>
          </p:nvSpPr>
          <p:spPr>
            <a:xfrm>
              <a:off x="476" y="2496"/>
              <a:ext cx="5092" cy="11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       相位的意义:</a:t>
              </a:r>
              <a:r>
                <a:rPr lang="zh-CN" altLang="en-US" dirty="0">
                  <a:latin typeface="Times New Roman" panose="02020603050405020304" pitchFamily="18" charset="0"/>
                </a:rPr>
                <a:t> 表征任意时刻（</a:t>
              </a:r>
              <a:r>
                <a:rPr lang="en-US" altLang="zh-CN" b="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</a:rPr>
                <a:t>）</a:t>
              </a:r>
              <a:r>
                <a:rPr lang="zh-CN" altLang="en-US" dirty="0">
                  <a:latin typeface="Times New Roman" panose="02020603050405020304" pitchFamily="18" charset="0"/>
                </a:rPr>
                <a:t>物体的振动状态. 物体经一周期的振动，相位改变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      .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498" name="Object 11"/>
            <p:cNvGraphicFramePr>
              <a:graphicFrameLocks noChangeAspect="1"/>
            </p:cNvGraphicFramePr>
            <p:nvPr/>
          </p:nvGraphicFramePr>
          <p:xfrm>
            <a:off x="500" y="3292"/>
            <a:ext cx="375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1" imgW="202565" imgH="177800" progId="Equation.DSMT4">
                    <p:embed/>
                  </p:oleObj>
                </mc:Choice>
                <mc:Fallback>
                  <p:oleObj name="" r:id="rId1" imgW="202565" imgH="177800" progId="Equation.DSMT4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00" y="3292"/>
                          <a:ext cx="375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7653" name="Object 21"/>
          <p:cNvGraphicFramePr>
            <a:graphicFrameLocks noChangeAspect="1"/>
          </p:cNvGraphicFramePr>
          <p:nvPr/>
        </p:nvGraphicFramePr>
        <p:xfrm>
          <a:off x="3540125" y="923925"/>
          <a:ext cx="12700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3" imgW="520700" imgH="215900" progId="Equation.3">
                  <p:embed/>
                </p:oleObj>
              </mc:Choice>
              <mc:Fallback>
                <p:oleObj name="" r:id="rId3" imgW="520700" imgH="2159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40125" y="923925"/>
                        <a:ext cx="1270000" cy="487363"/>
                      </a:xfrm>
                      <a:prstGeom prst="rect">
                        <a:avLst/>
                      </a:prstGeom>
                      <a:solidFill>
                        <a:srgbClr val="FFF3FF"/>
                      </a:solidFill>
                      <a:ln w="1905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23"/>
          <p:cNvSpPr txBox="1"/>
          <p:nvPr/>
        </p:nvSpPr>
        <p:spPr>
          <a:xfrm>
            <a:off x="1560513" y="847725"/>
            <a:ext cx="2260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rgbClr val="CC0000"/>
                </a:solidFill>
                <a:latin typeface="宋体" panose="02010600030101010101" pitchFamily="2" charset="-122"/>
              </a:rPr>
              <a:t>四 相位</a:t>
            </a:r>
            <a:endParaRPr lang="zh-CN" altLang="en-US" sz="3600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97657" name="Object 25"/>
          <p:cNvGraphicFramePr>
            <a:graphicFrameLocks noChangeAspect="1"/>
          </p:cNvGraphicFramePr>
          <p:nvPr/>
        </p:nvGraphicFramePr>
        <p:xfrm>
          <a:off x="1600200" y="1685925"/>
          <a:ext cx="29622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5" imgW="1333500" imgH="241300" progId="Equation.3">
                  <p:embed/>
                </p:oleObj>
              </mc:Choice>
              <mc:Fallback>
                <p:oleObj name="" r:id="rId5" imgW="1333500" imgH="2413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0200" y="1685925"/>
                        <a:ext cx="296227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7662" name="Group 30"/>
          <p:cNvGrpSpPr/>
          <p:nvPr/>
        </p:nvGrpSpPr>
        <p:grpSpPr>
          <a:xfrm>
            <a:off x="838200" y="2538413"/>
            <a:ext cx="4405313" cy="579437"/>
            <a:chOff x="528" y="1545"/>
            <a:chExt cx="2775" cy="365"/>
          </a:xfrm>
        </p:grpSpPr>
        <p:sp>
          <p:nvSpPr>
            <p:cNvPr id="20495" name="Rectangle 4"/>
            <p:cNvSpPr/>
            <p:nvPr/>
          </p:nvSpPr>
          <p:spPr>
            <a:xfrm>
              <a:off x="528" y="1545"/>
              <a:ext cx="13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相    位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496" name="Object 26"/>
            <p:cNvGraphicFramePr>
              <a:graphicFrameLocks noChangeAspect="1"/>
            </p:cNvGraphicFramePr>
            <p:nvPr/>
          </p:nvGraphicFramePr>
          <p:xfrm>
            <a:off x="1872" y="1546"/>
            <a:ext cx="1431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7" imgW="838200" imgH="203200" progId="Equation.3">
                    <p:embed/>
                  </p:oleObj>
                </mc:Choice>
                <mc:Fallback>
                  <p:oleObj name="" r:id="rId7" imgW="838200" imgH="203200" progId="Equation.3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72" y="1546"/>
                          <a:ext cx="1431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838200" y="3286125"/>
            <a:ext cx="6037263" cy="617538"/>
            <a:chOff x="838200" y="3286125"/>
            <a:chExt cx="6037263" cy="617538"/>
          </a:xfrm>
        </p:grpSpPr>
        <p:grpSp>
          <p:nvGrpSpPr>
            <p:cNvPr id="20488" name="Group 31"/>
            <p:cNvGrpSpPr/>
            <p:nvPr/>
          </p:nvGrpSpPr>
          <p:grpSpPr>
            <a:xfrm>
              <a:off x="838200" y="3286125"/>
              <a:ext cx="3889375" cy="579438"/>
              <a:chOff x="528" y="2016"/>
              <a:chExt cx="2450" cy="365"/>
            </a:xfrm>
          </p:grpSpPr>
          <p:graphicFrame>
            <p:nvGraphicFramePr>
              <p:cNvPr id="20491" name="Object 27"/>
              <p:cNvGraphicFramePr>
                <a:graphicFrameLocks noChangeAspect="1"/>
              </p:cNvGraphicFramePr>
              <p:nvPr/>
            </p:nvGraphicFramePr>
            <p:xfrm>
              <a:off x="2524" y="2094"/>
              <a:ext cx="454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1" name="" r:id="rId9" imgW="316865" imgH="177165" progId="Equation.3">
                      <p:embed/>
                    </p:oleObj>
                  </mc:Choice>
                  <mc:Fallback>
                    <p:oleObj name="" r:id="rId9" imgW="316865" imgH="177165" progId="Equation.3">
                      <p:embed/>
                      <p:pic>
                        <p:nvPicPr>
                          <p:cNvPr id="0" name="图片 3180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524" y="2094"/>
                            <a:ext cx="454" cy="25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0492" name="Group 29"/>
              <p:cNvGrpSpPr/>
              <p:nvPr/>
            </p:nvGrpSpPr>
            <p:grpSpPr>
              <a:xfrm>
                <a:off x="528" y="2016"/>
                <a:ext cx="1126" cy="365"/>
                <a:chOff x="528" y="2016"/>
                <a:chExt cx="1126" cy="365"/>
              </a:xfrm>
            </p:grpSpPr>
            <p:sp>
              <p:nvSpPr>
                <p:cNvPr id="20493" name="Rectangle 7"/>
                <p:cNvSpPr/>
                <p:nvPr/>
              </p:nvSpPr>
              <p:spPr>
                <a:xfrm>
                  <a:off x="528" y="2016"/>
                  <a:ext cx="1008" cy="3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eaLnBrk="1" hangingPunct="1"/>
                  <a:r>
                    <a:rPr lang="zh-CN" altLang="en-US" dirty="0">
                      <a:latin typeface="Times New Roman" panose="02020603050405020304" pitchFamily="18" charset="0"/>
                    </a:rPr>
                    <a:t>初相位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20494" name="Object 28"/>
                <p:cNvGraphicFramePr>
                  <a:graphicFrameLocks noChangeAspect="1"/>
                </p:cNvGraphicFramePr>
                <p:nvPr/>
              </p:nvGraphicFramePr>
              <p:xfrm>
                <a:off x="1404" y="2077"/>
                <a:ext cx="250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74" name="" r:id="rId11" imgW="165100" imgH="190500" progId="Equation.3">
                        <p:embed/>
                      </p:oleObj>
                    </mc:Choice>
                    <mc:Fallback>
                      <p:oleObj name="" r:id="rId11" imgW="165100" imgH="190500" progId="Equation.3">
                        <p:embed/>
                        <p:pic>
                          <p:nvPicPr>
                            <p:cNvPr id="0" name="图片 3173"/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04" y="2077"/>
                              <a:ext cx="250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20489" name="文本框 1"/>
            <p:cNvSpPr txBox="1"/>
            <p:nvPr/>
          </p:nvSpPr>
          <p:spPr>
            <a:xfrm>
              <a:off x="4727575" y="3321050"/>
              <a:ext cx="1228725" cy="5826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时，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490" name="对象 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513388" y="3408363"/>
            <a:ext cx="1362075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" r:id="rId13" imgW="558800" imgH="203200" progId="Equation.KSEE3">
                    <p:embed/>
                  </p:oleObj>
                </mc:Choice>
                <mc:Fallback>
                  <p:oleObj name="" r:id="rId13" imgW="558800" imgH="203200" progId="Equation.KSEE3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513388" y="3408363"/>
                          <a:ext cx="1362075" cy="495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9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9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8658" name="Object 2"/>
          <p:cNvGraphicFramePr>
            <a:graphicFrameLocks noChangeAspect="1"/>
          </p:cNvGraphicFramePr>
          <p:nvPr/>
        </p:nvGraphicFramePr>
        <p:xfrm>
          <a:off x="1828800" y="3536950"/>
          <a:ext cx="2439988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1" imgW="1091565" imgH="533400" progId="Equation.3">
                  <p:embed/>
                </p:oleObj>
              </mc:Choice>
              <mc:Fallback>
                <p:oleObj name="" r:id="rId1" imgW="1091565" imgH="5334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28800" y="3536950"/>
                        <a:ext cx="2439988" cy="11509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3FF"/>
                          </a:gs>
                          <a:gs pos="50000">
                            <a:srgbClr val="FFFFFF"/>
                          </a:gs>
                          <a:gs pos="100000">
                            <a:srgbClr val="FFF3FF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59" name="Object 3"/>
          <p:cNvGraphicFramePr>
            <a:graphicFrameLocks noChangeAspect="1"/>
          </p:cNvGraphicFramePr>
          <p:nvPr/>
        </p:nvGraphicFramePr>
        <p:xfrm>
          <a:off x="1919288" y="4949825"/>
          <a:ext cx="21812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3" imgW="939165" imgH="520700" progId="Equation.3">
                  <p:embed/>
                </p:oleObj>
              </mc:Choice>
              <mc:Fallback>
                <p:oleObj name="" r:id="rId3" imgW="939165" imgH="5207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9288" y="4949825"/>
                        <a:ext cx="2181225" cy="11049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3FF"/>
                          </a:gs>
                          <a:gs pos="50000">
                            <a:srgbClr val="FFFFFF"/>
                          </a:gs>
                          <a:gs pos="100000">
                            <a:srgbClr val="FFF3FF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5"/>
          <p:cNvSpPr txBox="1"/>
          <p:nvPr/>
        </p:nvSpPr>
        <p:spPr>
          <a:xfrm>
            <a:off x="1143000" y="685800"/>
            <a:ext cx="5486400" cy="644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rgbClr val="CC0000"/>
                </a:solidFill>
                <a:latin typeface="宋体" panose="02010600030101010101" pitchFamily="2" charset="-122"/>
              </a:rPr>
              <a:t>五 常量  和  的确定</a:t>
            </a:r>
            <a:endParaRPr lang="zh-CN" altLang="en-US" sz="3600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1509" name="Object 6"/>
          <p:cNvGraphicFramePr>
            <a:graphicFrameLocks noChangeAspect="1"/>
          </p:cNvGraphicFramePr>
          <p:nvPr/>
        </p:nvGraphicFramePr>
        <p:xfrm>
          <a:off x="2808288" y="776288"/>
          <a:ext cx="4794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5" imgW="84455" imgH="89535" progId="Equation.DSMT4">
                  <p:embed/>
                </p:oleObj>
              </mc:Choice>
              <mc:Fallback>
                <p:oleObj name="" r:id="rId5" imgW="84455" imgH="89535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08288" y="776288"/>
                        <a:ext cx="479425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8686" name="Group 30"/>
          <p:cNvGrpSpPr/>
          <p:nvPr/>
        </p:nvGrpSpPr>
        <p:grpSpPr>
          <a:xfrm>
            <a:off x="1143000" y="2601913"/>
            <a:ext cx="5791200" cy="609600"/>
            <a:chOff x="720" y="1639"/>
            <a:chExt cx="3648" cy="384"/>
          </a:xfrm>
        </p:grpSpPr>
        <p:sp>
          <p:nvSpPr>
            <p:cNvPr id="198665" name="Rectangle 9"/>
            <p:cNvSpPr>
              <a:spLocks noChangeArrowheads="1"/>
            </p:cNvSpPr>
            <p:nvPr/>
          </p:nvSpPr>
          <p:spPr bwMode="auto">
            <a:xfrm>
              <a:off x="720" y="1639"/>
              <a:ext cx="3648" cy="384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9050">
              <a:solidFill>
                <a:srgbClr val="006666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1520" name="Object 10"/>
            <p:cNvGraphicFramePr>
              <a:graphicFrameLocks noChangeAspect="1"/>
            </p:cNvGraphicFramePr>
            <p:nvPr/>
          </p:nvGraphicFramePr>
          <p:xfrm>
            <a:off x="2064" y="1656"/>
            <a:ext cx="224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7" imgW="1524000" imgH="254000" progId="Equation.3">
                    <p:embed/>
                  </p:oleObj>
                </mc:Choice>
                <mc:Fallback>
                  <p:oleObj name="" r:id="rId7" imgW="1524000" imgH="25400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64" y="1656"/>
                          <a:ext cx="2246" cy="3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1" name="Text Box 11"/>
            <p:cNvSpPr txBox="1"/>
            <p:nvPr/>
          </p:nvSpPr>
          <p:spPr>
            <a:xfrm>
              <a:off x="768" y="1648"/>
              <a:ext cx="17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初始条件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8668" name="Group 12"/>
          <p:cNvGrpSpPr/>
          <p:nvPr/>
        </p:nvGrpSpPr>
        <p:grpSpPr>
          <a:xfrm>
            <a:off x="457200" y="4094163"/>
            <a:ext cx="1295400" cy="1219200"/>
            <a:chOff x="2880" y="2208"/>
            <a:chExt cx="816" cy="768"/>
          </a:xfrm>
        </p:grpSpPr>
        <p:sp>
          <p:nvSpPr>
            <p:cNvPr id="21517" name="AutoShape 13"/>
            <p:cNvSpPr/>
            <p:nvPr/>
          </p:nvSpPr>
          <p:spPr>
            <a:xfrm>
              <a:off x="2880" y="2496"/>
              <a:ext cx="480" cy="192"/>
            </a:xfrm>
            <a:prstGeom prst="notchedRightArrow">
              <a:avLst>
                <a:gd name="adj1" fmla="val 50000"/>
                <a:gd name="adj2" fmla="val 62500"/>
              </a:avLst>
            </a:prstGeom>
            <a:gradFill rotWithShape="0">
              <a:gsLst>
                <a:gs pos="0">
                  <a:srgbClr val="FFCCCC"/>
                </a:gs>
                <a:gs pos="100000">
                  <a:srgbClr val="FF0000"/>
                </a:gs>
              </a:gsLst>
              <a:lin ang="0" scaled="1"/>
              <a:tileRect/>
            </a:gradFill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1518" name="AutoShape 14"/>
            <p:cNvSpPr/>
            <p:nvPr/>
          </p:nvSpPr>
          <p:spPr>
            <a:xfrm>
              <a:off x="3552" y="2208"/>
              <a:ext cx="144" cy="768"/>
            </a:xfrm>
            <a:prstGeom prst="leftBrace">
              <a:avLst>
                <a:gd name="adj1" fmla="val 44370"/>
                <a:gd name="adj2" fmla="val 50000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1512" name="Object 16"/>
          <p:cNvGraphicFramePr>
            <a:graphicFrameLocks noChangeAspect="1"/>
          </p:cNvGraphicFramePr>
          <p:nvPr/>
        </p:nvGraphicFramePr>
        <p:xfrm>
          <a:off x="1511300" y="1985963"/>
          <a:ext cx="38227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9" imgW="1574800" imgH="241300" progId="Equation.3">
                  <p:embed/>
                </p:oleObj>
              </mc:Choice>
              <mc:Fallback>
                <p:oleObj name="" r:id="rId9" imgW="1574800" imgH="2413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11300" y="1985963"/>
                        <a:ext cx="3822700" cy="496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AutoShape 17"/>
          <p:cNvSpPr/>
          <p:nvPr/>
        </p:nvSpPr>
        <p:spPr>
          <a:xfrm>
            <a:off x="1219200" y="1392238"/>
            <a:ext cx="228600" cy="969962"/>
          </a:xfrm>
          <a:prstGeom prst="leftBrace">
            <a:avLst>
              <a:gd name="adj1" fmla="val 35299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1514" name="Object 18"/>
          <p:cNvGraphicFramePr>
            <a:graphicFrameLocks noChangeAspect="1"/>
          </p:cNvGraphicFramePr>
          <p:nvPr/>
        </p:nvGraphicFramePr>
        <p:xfrm>
          <a:off x="1524000" y="1311275"/>
          <a:ext cx="32766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11" imgW="1333500" imgH="241300" progId="Equation.3">
                  <p:embed/>
                </p:oleObj>
              </mc:Choice>
              <mc:Fallback>
                <p:oleObj name="" r:id="rId11" imgW="1333500" imgH="2413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24000" y="1311275"/>
                        <a:ext cx="3276600" cy="50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85" name="Text Box 29"/>
          <p:cNvSpPr txBox="1">
            <a:spLocks noChangeArrowheads="1"/>
          </p:cNvSpPr>
          <p:nvPr/>
        </p:nvSpPr>
        <p:spPr bwMode="auto">
          <a:xfrm>
            <a:off x="5029200" y="3276600"/>
            <a:ext cx="3352800" cy="304482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rgbClr val="006666"/>
            </a:solidFill>
            <a:miter lim="800000"/>
          </a:ln>
        </p:spPr>
        <p:txBody>
          <a:bodyPr>
            <a:spAutoFit/>
          </a:bodyPr>
          <a:lstStyle/>
          <a:p>
            <a:pPr marR="0" algn="dist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zh-CN" altLang="en-US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对给定振动系统，周期由系统本身性质决定，振幅和初相位由初始条件决定</a:t>
            </a:r>
            <a:r>
              <a:rPr kumimoji="0" lang="zh-CN" altLang="en-US" kern="1200" cap="none" spc="0" normalizeH="0" baseline="0" noProof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kern="1200" cap="none" spc="0" normalizeH="0" baseline="0" noProof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516" name="图片 3" descr="44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52850" y="822325"/>
            <a:ext cx="479425" cy="427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9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85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0706" name="Object 2"/>
          <p:cNvGraphicFramePr>
            <a:graphicFrameLocks noChangeAspect="1"/>
          </p:cNvGraphicFramePr>
          <p:nvPr/>
        </p:nvGraphicFramePr>
        <p:xfrm>
          <a:off x="800100" y="2057400"/>
          <a:ext cx="18811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1" imgW="862965" imgH="241300" progId="Equation.3">
                  <p:embed/>
                </p:oleObj>
              </mc:Choice>
              <mc:Fallback>
                <p:oleObj name="" r:id="rId1" imgW="862965" imgH="2413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0100" y="2057400"/>
                        <a:ext cx="1881188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07" name="Object 3"/>
          <p:cNvGraphicFramePr>
            <a:graphicFrameLocks noChangeAspect="1"/>
          </p:cNvGraphicFramePr>
          <p:nvPr/>
        </p:nvGraphicFramePr>
        <p:xfrm>
          <a:off x="2984500" y="1765300"/>
          <a:ext cx="14478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3" imgW="660400" imgH="469900" progId="Equation.3">
                  <p:embed/>
                </p:oleObj>
              </mc:Choice>
              <mc:Fallback>
                <p:oleObj name="" r:id="rId3" imgW="660400" imgH="4699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4500" y="1765300"/>
                        <a:ext cx="1447800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9"/>
          <p:cNvGraphicFramePr>
            <a:graphicFrameLocks noChangeAspect="1"/>
          </p:cNvGraphicFramePr>
          <p:nvPr/>
        </p:nvGraphicFramePr>
        <p:xfrm>
          <a:off x="3398838" y="1069975"/>
          <a:ext cx="310356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5" imgW="1345565" imgH="254000" progId="Equation.3">
                  <p:embed/>
                </p:oleObj>
              </mc:Choice>
              <mc:Fallback>
                <p:oleObj name="" r:id="rId5" imgW="1345565" imgH="2540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98838" y="1069975"/>
                        <a:ext cx="3103562" cy="54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10"/>
          <p:cNvSpPr/>
          <p:nvPr/>
        </p:nvSpPr>
        <p:spPr>
          <a:xfrm>
            <a:off x="2438400" y="979488"/>
            <a:ext cx="1447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010000"/>
                </a:solidFill>
                <a:latin typeface="Times New Roman" panose="02020603050405020304" pitchFamily="18" charset="0"/>
              </a:rPr>
              <a:t>已知</a:t>
            </a:r>
            <a:endParaRPr lang="zh-CN" altLang="en-US" dirty="0">
              <a:solidFill>
                <a:srgbClr val="01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4" name="Rectangle 11"/>
          <p:cNvSpPr/>
          <p:nvPr/>
        </p:nvSpPr>
        <p:spPr>
          <a:xfrm>
            <a:off x="6324600" y="1004888"/>
            <a:ext cx="8397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rgbClr val="01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10000"/>
                </a:solidFill>
                <a:latin typeface="Times New Roman" panose="02020603050405020304" pitchFamily="18" charset="0"/>
              </a:rPr>
              <a:t>求</a:t>
            </a:r>
            <a:endParaRPr lang="zh-CN" altLang="en-US" dirty="0">
              <a:solidFill>
                <a:srgbClr val="01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2535" name="Object 12"/>
          <p:cNvGraphicFramePr>
            <a:graphicFrameLocks noChangeAspect="1"/>
          </p:cNvGraphicFramePr>
          <p:nvPr/>
        </p:nvGraphicFramePr>
        <p:xfrm>
          <a:off x="7224713" y="1128713"/>
          <a:ext cx="3952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7" imgW="165100" imgH="190500" progId="Equation.3">
                  <p:embed/>
                </p:oleObj>
              </mc:Choice>
              <mc:Fallback>
                <p:oleObj name="" r:id="rId7" imgW="165100" imgH="1905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24713" y="1128713"/>
                        <a:ext cx="395287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36" name="Group 13"/>
          <p:cNvGrpSpPr/>
          <p:nvPr/>
        </p:nvGrpSpPr>
        <p:grpSpPr>
          <a:xfrm>
            <a:off x="838200" y="914400"/>
            <a:ext cx="1600200" cy="838200"/>
            <a:chOff x="240" y="480"/>
            <a:chExt cx="1008" cy="528"/>
          </a:xfrm>
        </p:grpSpPr>
        <p:sp>
          <p:nvSpPr>
            <p:cNvPr id="22606" name="AutoShape 14"/>
            <p:cNvSpPr/>
            <p:nvPr/>
          </p:nvSpPr>
          <p:spPr>
            <a:xfrm>
              <a:off x="240" y="480"/>
              <a:ext cx="816" cy="528"/>
            </a:xfrm>
            <a:prstGeom prst="horizontalScroll">
              <a:avLst>
                <a:gd name="adj" fmla="val 125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outerShdw dist="107763" dir="13499999" algn="ctr" rotWithShape="0">
                <a:srgbClr val="009900"/>
              </a:outerShdw>
            </a:effectLst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07" name="Text Box 15"/>
            <p:cNvSpPr txBox="1"/>
            <p:nvPr/>
          </p:nvSpPr>
          <p:spPr>
            <a:xfrm>
              <a:off x="336" y="528"/>
              <a:ext cx="9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讨论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2537" name="Rectangle 17"/>
          <p:cNvSpPr/>
          <p:nvPr/>
        </p:nvSpPr>
        <p:spPr>
          <a:xfrm>
            <a:off x="4495800" y="2057400"/>
            <a:ext cx="3886200" cy="3657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66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38" name="Line 19"/>
          <p:cNvSpPr/>
          <p:nvPr/>
        </p:nvSpPr>
        <p:spPr>
          <a:xfrm>
            <a:off x="5011738" y="2811463"/>
            <a:ext cx="76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grpSp>
        <p:nvGrpSpPr>
          <p:cNvPr id="22539" name="Group 20"/>
          <p:cNvGrpSpPr/>
          <p:nvPr/>
        </p:nvGrpSpPr>
        <p:grpSpPr>
          <a:xfrm>
            <a:off x="5087938" y="2647950"/>
            <a:ext cx="1579562" cy="215900"/>
            <a:chOff x="1180" y="3312"/>
            <a:chExt cx="2920" cy="384"/>
          </a:xfrm>
        </p:grpSpPr>
        <p:grpSp>
          <p:nvGrpSpPr>
            <p:cNvPr id="22578" name="Group 21"/>
            <p:cNvGrpSpPr/>
            <p:nvPr/>
          </p:nvGrpSpPr>
          <p:grpSpPr>
            <a:xfrm>
              <a:off x="1438" y="3312"/>
              <a:ext cx="299" cy="384"/>
              <a:chOff x="1632" y="2064"/>
              <a:chExt cx="336" cy="384"/>
            </a:xfrm>
          </p:grpSpPr>
          <p:sp>
            <p:nvSpPr>
              <p:cNvPr id="22604" name="Line 22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2605" name="Line 23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22579" name="Group 24"/>
            <p:cNvGrpSpPr/>
            <p:nvPr/>
          </p:nvGrpSpPr>
          <p:grpSpPr>
            <a:xfrm>
              <a:off x="1737" y="3312"/>
              <a:ext cx="301" cy="384"/>
              <a:chOff x="1632" y="2064"/>
              <a:chExt cx="336" cy="384"/>
            </a:xfrm>
          </p:grpSpPr>
          <p:sp>
            <p:nvSpPr>
              <p:cNvPr id="22602" name="Line 25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2603" name="Line 26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22580" name="Group 27"/>
            <p:cNvGrpSpPr/>
            <p:nvPr/>
          </p:nvGrpSpPr>
          <p:grpSpPr>
            <a:xfrm>
              <a:off x="2038" y="3312"/>
              <a:ext cx="301" cy="384"/>
              <a:chOff x="1632" y="2064"/>
              <a:chExt cx="336" cy="384"/>
            </a:xfrm>
          </p:grpSpPr>
          <p:sp>
            <p:nvSpPr>
              <p:cNvPr id="22600" name="Line 28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2601" name="Line 29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22581" name="Group 30"/>
            <p:cNvGrpSpPr/>
            <p:nvPr/>
          </p:nvGrpSpPr>
          <p:grpSpPr>
            <a:xfrm>
              <a:off x="2339" y="3312"/>
              <a:ext cx="301" cy="384"/>
              <a:chOff x="1632" y="2064"/>
              <a:chExt cx="336" cy="384"/>
            </a:xfrm>
          </p:grpSpPr>
          <p:sp>
            <p:nvSpPr>
              <p:cNvPr id="22598" name="Line 31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2599" name="Line 32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22582" name="Group 33"/>
            <p:cNvGrpSpPr/>
            <p:nvPr/>
          </p:nvGrpSpPr>
          <p:grpSpPr>
            <a:xfrm>
              <a:off x="2640" y="3312"/>
              <a:ext cx="301" cy="384"/>
              <a:chOff x="1632" y="2064"/>
              <a:chExt cx="336" cy="384"/>
            </a:xfrm>
          </p:grpSpPr>
          <p:sp>
            <p:nvSpPr>
              <p:cNvPr id="22596" name="Line 34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2597" name="Line 35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22583" name="Group 36"/>
            <p:cNvGrpSpPr/>
            <p:nvPr/>
          </p:nvGrpSpPr>
          <p:grpSpPr>
            <a:xfrm>
              <a:off x="2941" y="3312"/>
              <a:ext cx="301" cy="384"/>
              <a:chOff x="1632" y="2064"/>
              <a:chExt cx="336" cy="384"/>
            </a:xfrm>
          </p:grpSpPr>
          <p:sp>
            <p:nvSpPr>
              <p:cNvPr id="22594" name="Line 37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2595" name="Line 38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22584" name="Group 39"/>
            <p:cNvGrpSpPr/>
            <p:nvPr/>
          </p:nvGrpSpPr>
          <p:grpSpPr>
            <a:xfrm>
              <a:off x="3242" y="3312"/>
              <a:ext cx="301" cy="384"/>
              <a:chOff x="1632" y="2064"/>
              <a:chExt cx="336" cy="384"/>
            </a:xfrm>
          </p:grpSpPr>
          <p:sp>
            <p:nvSpPr>
              <p:cNvPr id="22592" name="Line 40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2593" name="Line 41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22585" name="Group 42"/>
            <p:cNvGrpSpPr/>
            <p:nvPr/>
          </p:nvGrpSpPr>
          <p:grpSpPr>
            <a:xfrm>
              <a:off x="3543" y="3312"/>
              <a:ext cx="299" cy="384"/>
              <a:chOff x="1632" y="2064"/>
              <a:chExt cx="336" cy="384"/>
            </a:xfrm>
          </p:grpSpPr>
          <p:sp>
            <p:nvSpPr>
              <p:cNvPr id="22590" name="Line 43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2591" name="Line 44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22586" name="Line 45"/>
            <p:cNvSpPr/>
            <p:nvPr/>
          </p:nvSpPr>
          <p:spPr>
            <a:xfrm flipH="1">
              <a:off x="1180" y="3312"/>
              <a:ext cx="85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2587" name="Line 46"/>
            <p:cNvSpPr/>
            <p:nvPr/>
          </p:nvSpPr>
          <p:spPr>
            <a:xfrm>
              <a:off x="1265" y="3312"/>
              <a:ext cx="173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2588" name="Line 47"/>
            <p:cNvSpPr/>
            <p:nvPr/>
          </p:nvSpPr>
          <p:spPr>
            <a:xfrm flipH="1">
              <a:off x="3842" y="3312"/>
              <a:ext cx="13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2589" name="Line 48"/>
            <p:cNvSpPr/>
            <p:nvPr/>
          </p:nvSpPr>
          <p:spPr>
            <a:xfrm>
              <a:off x="3972" y="3312"/>
              <a:ext cx="128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  <p:sp>
        <p:nvSpPr>
          <p:cNvPr id="22540" name="Line 49"/>
          <p:cNvSpPr/>
          <p:nvPr/>
        </p:nvSpPr>
        <p:spPr>
          <a:xfrm>
            <a:off x="5011738" y="3025775"/>
            <a:ext cx="22764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22541" name="Rectangle 50" descr="浅色下对角线"/>
          <p:cNvSpPr/>
          <p:nvPr/>
        </p:nvSpPr>
        <p:spPr>
          <a:xfrm>
            <a:off x="5011738" y="2990850"/>
            <a:ext cx="2938462" cy="136525"/>
          </a:xfrm>
          <a:prstGeom prst="rect">
            <a:avLst/>
          </a:prstGeom>
          <a:blipFill rotWithShape="0">
            <a:blip r:embed="rId9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42" name="Rectangle 51" descr="浅色上对角线"/>
          <p:cNvSpPr/>
          <p:nvPr/>
        </p:nvSpPr>
        <p:spPr>
          <a:xfrm>
            <a:off x="4859338" y="2374900"/>
            <a:ext cx="152400" cy="757238"/>
          </a:xfrm>
          <a:prstGeom prst="rect">
            <a:avLst/>
          </a:prstGeom>
          <a:blipFill rotWithShape="0">
            <a:blip r:embed="rId10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43" name="Line 52"/>
          <p:cNvSpPr/>
          <p:nvPr/>
        </p:nvSpPr>
        <p:spPr>
          <a:xfrm>
            <a:off x="5006975" y="2990850"/>
            <a:ext cx="2943225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22544" name="Line 53"/>
          <p:cNvSpPr/>
          <p:nvPr/>
        </p:nvSpPr>
        <p:spPr>
          <a:xfrm flipH="1">
            <a:off x="6551613" y="2306638"/>
            <a:ext cx="66357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sm" len="lg"/>
          </a:ln>
        </p:spPr>
      </p:sp>
      <p:graphicFrame>
        <p:nvGraphicFramePr>
          <p:cNvPr id="22545" name="Object 54"/>
          <p:cNvGraphicFramePr>
            <a:graphicFrameLocks noChangeAspect="1"/>
          </p:cNvGraphicFramePr>
          <p:nvPr/>
        </p:nvGraphicFramePr>
        <p:xfrm>
          <a:off x="7696200" y="2643188"/>
          <a:ext cx="26828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11" imgW="139700" imgH="139700" progId="Equation.DSMT4">
                  <p:embed/>
                </p:oleObj>
              </mc:Choice>
              <mc:Fallback>
                <p:oleObj name="" r:id="rId11" imgW="139700" imgH="139700" progId="Equation.DSMT4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96200" y="2643188"/>
                        <a:ext cx="268288" cy="250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55"/>
          <p:cNvGraphicFramePr>
            <a:graphicFrameLocks noChangeAspect="1"/>
          </p:cNvGraphicFramePr>
          <p:nvPr/>
        </p:nvGraphicFramePr>
        <p:xfrm>
          <a:off x="6169025" y="2112963"/>
          <a:ext cx="3079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3" imgW="127000" imgH="177165" progId="Equation.DSMT4">
                  <p:embed/>
                </p:oleObj>
              </mc:Choice>
              <mc:Fallback>
                <p:oleObj name="" r:id="rId13" imgW="127000" imgH="177165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69025" y="2112963"/>
                        <a:ext cx="307975" cy="401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7" name="Object 56"/>
          <p:cNvGraphicFramePr>
            <a:graphicFrameLocks noChangeAspect="1"/>
          </p:cNvGraphicFramePr>
          <p:nvPr/>
        </p:nvGraphicFramePr>
        <p:xfrm>
          <a:off x="6781800" y="3200400"/>
          <a:ext cx="4254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5" imgW="127000" imgH="139700" progId="Equation.3">
                  <p:embed/>
                </p:oleObj>
              </mc:Choice>
              <mc:Fallback>
                <p:oleObj name="" r:id="rId15" imgW="127000" imgH="1397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81800" y="3200400"/>
                        <a:ext cx="425450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8" name="Oval 57"/>
          <p:cNvSpPr/>
          <p:nvPr/>
        </p:nvSpPr>
        <p:spPr>
          <a:xfrm>
            <a:off x="6699250" y="2511425"/>
            <a:ext cx="515938" cy="47942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CC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49" name="Line 58"/>
          <p:cNvSpPr/>
          <p:nvPr/>
        </p:nvSpPr>
        <p:spPr>
          <a:xfrm>
            <a:off x="6958013" y="2511425"/>
            <a:ext cx="0" cy="752475"/>
          </a:xfrm>
          <a:prstGeom prst="line">
            <a:avLst/>
          </a:prstGeom>
          <a:ln w="28575" cap="flat" cmpd="sng">
            <a:solidFill>
              <a:srgbClr val="009900"/>
            </a:solidFill>
            <a:prstDash val="sysDot"/>
            <a:headEnd type="none" w="med" len="med"/>
            <a:tailEnd type="none" w="sm" len="lg"/>
          </a:ln>
        </p:spPr>
      </p:sp>
      <p:graphicFrame>
        <p:nvGraphicFramePr>
          <p:cNvPr id="200763" name="Object 59"/>
          <p:cNvGraphicFramePr>
            <a:graphicFrameLocks noChangeAspect="1"/>
          </p:cNvGraphicFramePr>
          <p:nvPr/>
        </p:nvGraphicFramePr>
        <p:xfrm>
          <a:off x="901700" y="4540250"/>
          <a:ext cx="30480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7" imgW="1397000" imgH="469900" progId="Equation.3">
                  <p:embed/>
                </p:oleObj>
              </mc:Choice>
              <mc:Fallback>
                <p:oleObj name="" r:id="rId17" imgW="1397000" imgH="4699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01700" y="4540250"/>
                        <a:ext cx="3048000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91" name="Rectangle 87"/>
          <p:cNvSpPr>
            <a:spLocks noChangeArrowheads="1"/>
          </p:cNvSpPr>
          <p:nvPr/>
        </p:nvSpPr>
        <p:spPr bwMode="auto">
          <a:xfrm>
            <a:off x="5934075" y="3700463"/>
            <a:ext cx="1150938" cy="3984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rgbClr val="006666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552" name="Object 89"/>
          <p:cNvGraphicFramePr>
            <a:graphicFrameLocks noChangeAspect="1"/>
          </p:cNvGraphicFramePr>
          <p:nvPr/>
        </p:nvGraphicFramePr>
        <p:xfrm>
          <a:off x="5934075" y="3732213"/>
          <a:ext cx="735013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19" imgW="481965" imgH="215900" progId="Equation.3">
                  <p:embed/>
                </p:oleObj>
              </mc:Choice>
              <mc:Fallback>
                <p:oleObj name="" r:id="rId19" imgW="481965" imgH="2159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934075" y="3732213"/>
                        <a:ext cx="735013" cy="325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3" name="Rectangle 90"/>
          <p:cNvSpPr/>
          <p:nvPr/>
        </p:nvSpPr>
        <p:spPr>
          <a:xfrm>
            <a:off x="6565900" y="3632200"/>
            <a:ext cx="11858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图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2554" name="Line 91"/>
          <p:cNvSpPr/>
          <p:nvPr/>
        </p:nvSpPr>
        <p:spPr>
          <a:xfrm flipV="1">
            <a:off x="5121275" y="4740275"/>
            <a:ext cx="29098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22555" name="Line 92"/>
          <p:cNvSpPr/>
          <p:nvPr/>
        </p:nvSpPr>
        <p:spPr>
          <a:xfrm flipV="1">
            <a:off x="5105400" y="3733800"/>
            <a:ext cx="6350" cy="1905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22556" name="Line 93"/>
          <p:cNvSpPr/>
          <p:nvPr/>
        </p:nvSpPr>
        <p:spPr>
          <a:xfrm flipH="1">
            <a:off x="5121275" y="4264025"/>
            <a:ext cx="26558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22557" name="Line 94"/>
          <p:cNvSpPr/>
          <p:nvPr/>
        </p:nvSpPr>
        <p:spPr>
          <a:xfrm flipH="1" flipV="1">
            <a:off x="5121275" y="5192713"/>
            <a:ext cx="2781300" cy="222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graphicFrame>
        <p:nvGraphicFramePr>
          <p:cNvPr id="22558" name="Object 95"/>
          <p:cNvGraphicFramePr>
            <a:graphicFrameLocks noChangeAspect="1"/>
          </p:cNvGraphicFramePr>
          <p:nvPr/>
        </p:nvGraphicFramePr>
        <p:xfrm>
          <a:off x="4795838" y="4038600"/>
          <a:ext cx="30956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21" imgW="165100" imgH="165100" progId="Equation.DSMT4">
                  <p:embed/>
                </p:oleObj>
              </mc:Choice>
              <mc:Fallback>
                <p:oleObj name="" r:id="rId21" imgW="165100" imgH="1651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795838" y="4038600"/>
                        <a:ext cx="309562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9" name="Object 96"/>
          <p:cNvGraphicFramePr>
            <a:graphicFrameLocks noChangeAspect="1"/>
          </p:cNvGraphicFramePr>
          <p:nvPr/>
        </p:nvGraphicFramePr>
        <p:xfrm>
          <a:off x="4648200" y="5029200"/>
          <a:ext cx="43973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23" imgW="254000" imgH="165100" progId="Equation.DSMT4">
                  <p:embed/>
                </p:oleObj>
              </mc:Choice>
              <mc:Fallback>
                <p:oleObj name="" r:id="rId23" imgW="254000" imgH="165100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48200" y="5029200"/>
                        <a:ext cx="439738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0" name="Object 97"/>
          <p:cNvGraphicFramePr>
            <a:graphicFrameLocks noChangeAspect="1"/>
          </p:cNvGraphicFramePr>
          <p:nvPr/>
        </p:nvGraphicFramePr>
        <p:xfrm>
          <a:off x="5164138" y="3667125"/>
          <a:ext cx="233362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25" imgW="139700" imgH="139700" progId="Equation.3">
                  <p:embed/>
                </p:oleObj>
              </mc:Choice>
              <mc:Fallback>
                <p:oleObj name="" r:id="rId25" imgW="139700" imgH="1397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164138" y="3667125"/>
                        <a:ext cx="233362" cy="285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61" name="Group 98"/>
          <p:cNvGrpSpPr/>
          <p:nvPr/>
        </p:nvGrpSpPr>
        <p:grpSpPr>
          <a:xfrm>
            <a:off x="5627688" y="4252913"/>
            <a:ext cx="2022475" cy="939800"/>
            <a:chOff x="3704" y="904"/>
            <a:chExt cx="1536" cy="896"/>
          </a:xfrm>
        </p:grpSpPr>
        <p:sp>
          <p:nvSpPr>
            <p:cNvPr id="22573" name="Line 99"/>
            <p:cNvSpPr/>
            <p:nvPr/>
          </p:nvSpPr>
          <p:spPr>
            <a:xfrm flipV="1">
              <a:off x="3704" y="904"/>
              <a:ext cx="0" cy="89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22574" name="Line 100"/>
            <p:cNvSpPr/>
            <p:nvPr/>
          </p:nvSpPr>
          <p:spPr>
            <a:xfrm flipV="1">
              <a:off x="5240" y="904"/>
              <a:ext cx="0" cy="89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22575" name="Line 101"/>
            <p:cNvSpPr/>
            <p:nvPr/>
          </p:nvSpPr>
          <p:spPr>
            <a:xfrm flipV="1">
              <a:off x="4856" y="904"/>
              <a:ext cx="0" cy="89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22576" name="Line 102"/>
            <p:cNvSpPr/>
            <p:nvPr/>
          </p:nvSpPr>
          <p:spPr>
            <a:xfrm flipV="1">
              <a:off x="4472" y="904"/>
              <a:ext cx="0" cy="89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22577" name="Line 103"/>
            <p:cNvSpPr/>
            <p:nvPr/>
          </p:nvSpPr>
          <p:spPr>
            <a:xfrm flipV="1">
              <a:off x="4088" y="904"/>
              <a:ext cx="0" cy="89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dash"/>
              <a:headEnd type="none" w="med" len="med"/>
              <a:tailEnd type="none" w="sm" len="lg"/>
            </a:ln>
          </p:spPr>
        </p:sp>
      </p:grpSp>
      <p:graphicFrame>
        <p:nvGraphicFramePr>
          <p:cNvPr id="22562" name="Object 104"/>
          <p:cNvGraphicFramePr>
            <a:graphicFrameLocks noChangeAspect="1"/>
          </p:cNvGraphicFramePr>
          <p:nvPr/>
        </p:nvGraphicFramePr>
        <p:xfrm>
          <a:off x="7207250" y="4484688"/>
          <a:ext cx="260350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27" imgW="152400" imgH="165100" progId="Equation.3">
                  <p:embed/>
                </p:oleObj>
              </mc:Choice>
              <mc:Fallback>
                <p:oleObj name="" r:id="rId27" imgW="152400" imgH="1651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207250" y="4484688"/>
                        <a:ext cx="260350" cy="239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3" name="Object 105"/>
          <p:cNvGraphicFramePr>
            <a:graphicFrameLocks noChangeAspect="1"/>
          </p:cNvGraphicFramePr>
          <p:nvPr/>
        </p:nvGraphicFramePr>
        <p:xfrm>
          <a:off x="6186488" y="4724400"/>
          <a:ext cx="36353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29" imgW="177800" imgH="393065" progId="Equation.DSMT4">
                  <p:embed/>
                </p:oleObj>
              </mc:Choice>
              <mc:Fallback>
                <p:oleObj name="" r:id="rId29" imgW="177800" imgH="393065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186488" y="4724400"/>
                        <a:ext cx="363537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4" name="Object 106"/>
          <p:cNvGraphicFramePr>
            <a:graphicFrameLocks noChangeAspect="1"/>
          </p:cNvGraphicFramePr>
          <p:nvPr/>
        </p:nvGraphicFramePr>
        <p:xfrm>
          <a:off x="7900988" y="4414838"/>
          <a:ext cx="18256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31" imgW="101600" imgH="165100" progId="Equation.3">
                  <p:embed/>
                </p:oleObj>
              </mc:Choice>
              <mc:Fallback>
                <p:oleObj name="" r:id="rId31" imgW="101600" imgH="1651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900988" y="4414838"/>
                        <a:ext cx="182562" cy="314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5" name="Object 107"/>
          <p:cNvGraphicFramePr>
            <a:graphicFrameLocks noChangeAspect="1"/>
          </p:cNvGraphicFramePr>
          <p:nvPr/>
        </p:nvGraphicFramePr>
        <p:xfrm>
          <a:off x="4760913" y="4540250"/>
          <a:ext cx="37941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33" imgW="127000" imgH="139700" progId="Equation.3">
                  <p:embed/>
                </p:oleObj>
              </mc:Choice>
              <mc:Fallback>
                <p:oleObj name="" r:id="rId33" imgW="127000" imgH="1397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760913" y="4540250"/>
                        <a:ext cx="379412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6" name="Freeform 108"/>
          <p:cNvSpPr>
            <a:spLocks noChangeAspect="1"/>
          </p:cNvSpPr>
          <p:nvPr/>
        </p:nvSpPr>
        <p:spPr>
          <a:xfrm>
            <a:off x="5111750" y="4262438"/>
            <a:ext cx="2714625" cy="93027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061" h="673">
                <a:moveTo>
                  <a:pt x="0" y="337"/>
                </a:moveTo>
                <a:lnTo>
                  <a:pt x="28" y="374"/>
                </a:lnTo>
                <a:lnTo>
                  <a:pt x="54" y="410"/>
                </a:lnTo>
                <a:lnTo>
                  <a:pt x="83" y="446"/>
                </a:lnTo>
                <a:lnTo>
                  <a:pt x="111" y="481"/>
                </a:lnTo>
                <a:lnTo>
                  <a:pt x="137" y="514"/>
                </a:lnTo>
                <a:lnTo>
                  <a:pt x="165" y="544"/>
                </a:lnTo>
                <a:lnTo>
                  <a:pt x="192" y="572"/>
                </a:lnTo>
                <a:lnTo>
                  <a:pt x="220" y="598"/>
                </a:lnTo>
                <a:lnTo>
                  <a:pt x="248" y="620"/>
                </a:lnTo>
                <a:lnTo>
                  <a:pt x="274" y="638"/>
                </a:lnTo>
                <a:lnTo>
                  <a:pt x="302" y="653"/>
                </a:lnTo>
                <a:lnTo>
                  <a:pt x="330" y="663"/>
                </a:lnTo>
                <a:lnTo>
                  <a:pt x="357" y="670"/>
                </a:lnTo>
                <a:lnTo>
                  <a:pt x="385" y="673"/>
                </a:lnTo>
                <a:lnTo>
                  <a:pt x="413" y="671"/>
                </a:lnTo>
                <a:lnTo>
                  <a:pt x="439" y="666"/>
                </a:lnTo>
                <a:lnTo>
                  <a:pt x="467" y="656"/>
                </a:lnTo>
                <a:lnTo>
                  <a:pt x="494" y="643"/>
                </a:lnTo>
                <a:lnTo>
                  <a:pt x="522" y="624"/>
                </a:lnTo>
                <a:lnTo>
                  <a:pt x="550" y="604"/>
                </a:lnTo>
                <a:lnTo>
                  <a:pt x="576" y="579"/>
                </a:lnTo>
                <a:lnTo>
                  <a:pt x="604" y="552"/>
                </a:lnTo>
                <a:lnTo>
                  <a:pt x="633" y="523"/>
                </a:lnTo>
                <a:lnTo>
                  <a:pt x="659" y="491"/>
                </a:lnTo>
                <a:lnTo>
                  <a:pt x="687" y="456"/>
                </a:lnTo>
                <a:lnTo>
                  <a:pt x="715" y="420"/>
                </a:lnTo>
                <a:lnTo>
                  <a:pt x="742" y="384"/>
                </a:lnTo>
                <a:lnTo>
                  <a:pt x="770" y="347"/>
                </a:lnTo>
                <a:lnTo>
                  <a:pt x="796" y="309"/>
                </a:lnTo>
                <a:lnTo>
                  <a:pt x="824" y="273"/>
                </a:lnTo>
                <a:lnTo>
                  <a:pt x="852" y="236"/>
                </a:lnTo>
                <a:lnTo>
                  <a:pt x="879" y="201"/>
                </a:lnTo>
                <a:lnTo>
                  <a:pt x="907" y="167"/>
                </a:lnTo>
                <a:lnTo>
                  <a:pt x="935" y="136"/>
                </a:lnTo>
                <a:lnTo>
                  <a:pt x="961" y="107"/>
                </a:lnTo>
                <a:lnTo>
                  <a:pt x="989" y="81"/>
                </a:lnTo>
                <a:lnTo>
                  <a:pt x="1017" y="59"/>
                </a:lnTo>
                <a:lnTo>
                  <a:pt x="1044" y="39"/>
                </a:lnTo>
                <a:lnTo>
                  <a:pt x="1072" y="24"/>
                </a:lnTo>
                <a:lnTo>
                  <a:pt x="1098" y="12"/>
                </a:lnTo>
                <a:lnTo>
                  <a:pt x="1126" y="4"/>
                </a:lnTo>
                <a:lnTo>
                  <a:pt x="1154" y="0"/>
                </a:lnTo>
                <a:lnTo>
                  <a:pt x="1181" y="1"/>
                </a:lnTo>
                <a:lnTo>
                  <a:pt x="1209" y="6"/>
                </a:lnTo>
                <a:lnTo>
                  <a:pt x="1237" y="14"/>
                </a:lnTo>
                <a:lnTo>
                  <a:pt x="1263" y="26"/>
                </a:lnTo>
                <a:lnTo>
                  <a:pt x="1291" y="43"/>
                </a:lnTo>
                <a:lnTo>
                  <a:pt x="1320" y="63"/>
                </a:lnTo>
                <a:lnTo>
                  <a:pt x="1346" y="87"/>
                </a:lnTo>
                <a:lnTo>
                  <a:pt x="1374" y="113"/>
                </a:lnTo>
                <a:lnTo>
                  <a:pt x="1400" y="142"/>
                </a:lnTo>
                <a:lnTo>
                  <a:pt x="1429" y="174"/>
                </a:lnTo>
                <a:lnTo>
                  <a:pt x="1457" y="207"/>
                </a:lnTo>
                <a:lnTo>
                  <a:pt x="1483" y="242"/>
                </a:lnTo>
                <a:lnTo>
                  <a:pt x="1511" y="279"/>
                </a:lnTo>
                <a:lnTo>
                  <a:pt x="1539" y="316"/>
                </a:lnTo>
                <a:lnTo>
                  <a:pt x="1566" y="354"/>
                </a:lnTo>
                <a:lnTo>
                  <a:pt x="1594" y="390"/>
                </a:lnTo>
                <a:lnTo>
                  <a:pt x="1622" y="427"/>
                </a:lnTo>
                <a:lnTo>
                  <a:pt x="1648" y="462"/>
                </a:lnTo>
                <a:lnTo>
                  <a:pt x="1676" y="496"/>
                </a:lnTo>
                <a:lnTo>
                  <a:pt x="1703" y="528"/>
                </a:lnTo>
                <a:lnTo>
                  <a:pt x="1731" y="558"/>
                </a:lnTo>
                <a:lnTo>
                  <a:pt x="1759" y="584"/>
                </a:lnTo>
                <a:lnTo>
                  <a:pt x="1785" y="608"/>
                </a:lnTo>
                <a:lnTo>
                  <a:pt x="1813" y="628"/>
                </a:lnTo>
                <a:lnTo>
                  <a:pt x="1841" y="645"/>
                </a:lnTo>
                <a:lnTo>
                  <a:pt x="1868" y="658"/>
                </a:lnTo>
                <a:lnTo>
                  <a:pt x="1896" y="667"/>
                </a:lnTo>
                <a:lnTo>
                  <a:pt x="1924" y="672"/>
                </a:lnTo>
                <a:lnTo>
                  <a:pt x="1950" y="673"/>
                </a:lnTo>
                <a:lnTo>
                  <a:pt x="1978" y="669"/>
                </a:lnTo>
                <a:lnTo>
                  <a:pt x="2005" y="662"/>
                </a:lnTo>
                <a:lnTo>
                  <a:pt x="2033" y="650"/>
                </a:lnTo>
                <a:lnTo>
                  <a:pt x="2061" y="635"/>
                </a:ln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00815" name="Object 111"/>
          <p:cNvGraphicFramePr>
            <a:graphicFrameLocks noChangeAspect="1"/>
          </p:cNvGraphicFramePr>
          <p:nvPr/>
        </p:nvGraphicFramePr>
        <p:xfrm>
          <a:off x="762000" y="2895600"/>
          <a:ext cx="3429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35" imgW="1612900" imgH="254000" progId="Equation.3">
                  <p:embed/>
                </p:oleObj>
              </mc:Choice>
              <mc:Fallback>
                <p:oleObj name="" r:id="rId35" imgW="1612900" imgH="2540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62000" y="2895600"/>
                        <a:ext cx="34290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816" name="Object 112"/>
          <p:cNvGraphicFramePr>
            <a:graphicFrameLocks noChangeAspect="1"/>
          </p:cNvGraphicFramePr>
          <p:nvPr/>
        </p:nvGraphicFramePr>
        <p:xfrm>
          <a:off x="762000" y="3783013"/>
          <a:ext cx="17526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37" imgW="838200" imgH="241300" progId="Equation.3">
                  <p:embed/>
                </p:oleObj>
              </mc:Choice>
              <mc:Fallback>
                <p:oleObj name="" r:id="rId37" imgW="838200" imgH="2413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62000" y="3783013"/>
                        <a:ext cx="1752600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0818" name="Group 114"/>
          <p:cNvGrpSpPr/>
          <p:nvPr/>
        </p:nvGrpSpPr>
        <p:grpSpPr>
          <a:xfrm>
            <a:off x="2514600" y="3429000"/>
            <a:ext cx="1841500" cy="1076325"/>
            <a:chOff x="1584" y="2488"/>
            <a:chExt cx="1160" cy="678"/>
          </a:xfrm>
        </p:grpSpPr>
        <p:sp>
          <p:nvSpPr>
            <p:cNvPr id="22571" name="Text Box 7"/>
            <p:cNvSpPr txBox="1"/>
            <p:nvPr/>
          </p:nvSpPr>
          <p:spPr>
            <a:xfrm>
              <a:off x="1584" y="2656"/>
              <a:ext cx="3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取</a:t>
              </a:r>
              <a:endParaRPr lang="zh-CN" altLang="en-US" dirty="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72" name="Object 113"/>
            <p:cNvGraphicFramePr>
              <a:graphicFrameLocks noChangeAspect="1"/>
            </p:cNvGraphicFramePr>
            <p:nvPr/>
          </p:nvGraphicFramePr>
          <p:xfrm>
            <a:off x="1976" y="2488"/>
            <a:ext cx="768" cy="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" name="" r:id="rId39" imgW="482600" imgH="469900" progId="Equation.3">
                    <p:embed/>
                  </p:oleObj>
                </mc:Choice>
                <mc:Fallback>
                  <p:oleObj name="" r:id="rId39" imgW="482600" imgH="46990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976" y="2488"/>
                          <a:ext cx="768" cy="6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0819" name="AutoShape 115"/>
          <p:cNvSpPr>
            <a:spLocks noChangeArrowheads="1"/>
          </p:cNvSpPr>
          <p:nvPr/>
        </p:nvSpPr>
        <p:spPr bwMode="auto">
          <a:xfrm>
            <a:off x="2667000" y="2159000"/>
            <a:ext cx="304800" cy="304800"/>
          </a:xfrm>
          <a:prstGeom prst="righ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CC0000"/>
              </a:gs>
              <a:gs pos="50000">
                <a:schemeClr val="bg1"/>
              </a:gs>
              <a:gs pos="100000">
                <a:srgbClr val="CC00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0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0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0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4_6简谐运动的合成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4_6简谐运动的合成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4_6简谐运动的合成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6简谐运动的合成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6简谐运动的合成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6简谐运动的合成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5_6简谐运动的合成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5_6简谐运动的合成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6简谐运动的合成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6简谐运动的合成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6简谐运动的合成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6简谐运动的合成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6简谐运动的合成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6简谐运动的合成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6简谐运动的合成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6简谐运动的合成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Documents\新课件\14(已改）\14_6简谐运动的合成.ppt</Template>
  <TotalTime>0</TotalTime>
  <Words>756</Words>
  <Application>WPS 演示</Application>
  <PresentationFormat>全屏显示(4:3)</PresentationFormat>
  <Paragraphs>144</Paragraphs>
  <Slides>16</Slides>
  <Notes>3</Notes>
  <HiddenSlides>0</HiddenSlides>
  <MMClips>0</MMClips>
  <ScaleCrop>false</ScaleCrop>
  <HeadingPairs>
    <vt:vector size="10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123</vt:i4>
      </vt:variant>
      <vt:variant>
        <vt:lpstr>幻灯片标题</vt:lpstr>
      </vt:variant>
      <vt:variant>
        <vt:i4>16</vt:i4>
      </vt:variant>
      <vt:variant>
        <vt:lpstr>自定义放映</vt:lpstr>
      </vt:variant>
      <vt:variant>
        <vt:i4>1</vt:i4>
      </vt:variant>
    </vt:vector>
  </HeadingPairs>
  <TitlesOfParts>
    <vt:vector size="154" baseType="lpstr">
      <vt:lpstr>Arial</vt:lpstr>
      <vt:lpstr>宋体</vt:lpstr>
      <vt:lpstr>Wingdings</vt:lpstr>
      <vt:lpstr>Times New Roman</vt:lpstr>
      <vt:lpstr>Verdana</vt:lpstr>
      <vt:lpstr>楷体_GB2312</vt:lpstr>
      <vt:lpstr>新宋体</vt:lpstr>
      <vt:lpstr>Calibri</vt:lpstr>
      <vt:lpstr>楷体</vt:lpstr>
      <vt:lpstr>KSOF3FB35F8F</vt:lpstr>
      <vt:lpstr>FFont-Family</vt:lpstr>
      <vt:lpstr>微软雅黑</vt:lpstr>
      <vt:lpstr>14_6简谐运动的合成</vt:lpstr>
      <vt:lpstr>15_6简谐运动的合成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Equation.KSEE3</vt:lpstr>
      <vt:lpstr>Equation.DSMT4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 1</vt:lpstr>
    </vt:vector>
  </TitlesOfParts>
  <Company>南京建筑工程学院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9-1简谐运动.ppt</dc:title>
  <dc:creator>江南大学物理基础部  朱云</dc:creator>
  <cp:lastModifiedBy>Administrator</cp:lastModifiedBy>
  <cp:revision>190</cp:revision>
  <dcterms:created xsi:type="dcterms:W3CDTF">2000-08-14T12:58:35Z</dcterms:created>
  <dcterms:modified xsi:type="dcterms:W3CDTF">2026-09-27T03:36:52Z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18CA8CC87F9042D1830B47216901F03D_13</vt:lpwstr>
  </property>
</Properties>
</file>