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277" r:id="rId4"/>
    <p:sldId id="278" r:id="rId5"/>
    <p:sldId id="275" r:id="rId6"/>
    <p:sldId id="259" r:id="rId7"/>
    <p:sldId id="284" r:id="rId8"/>
    <p:sldId id="276" r:id="rId9"/>
    <p:sldId id="285" r:id="rId10"/>
    <p:sldId id="286" r:id="rId11"/>
    <p:sldId id="287" r:id="rId12"/>
    <p:sldId id="273" r:id="rId13"/>
    <p:sldId id="279" r:id="rId14"/>
    <p:sldId id="274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99"/>
    <a:srgbClr val="CCFFCC"/>
    <a:srgbClr val="CC0000"/>
    <a:srgbClr val="CC00CC"/>
    <a:srgbClr val="FF0000"/>
    <a:srgbClr val="008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03"/>
  </p:normalViewPr>
  <p:slideViewPr>
    <p:cSldViewPr showGuides="1">
      <p:cViewPr varScale="1">
        <p:scale>
          <a:sx n="158" d="100"/>
          <a:sy n="158" d="100"/>
        </p:scale>
        <p:origin x="1808" y="88"/>
      </p:cViewPr>
      <p:guideLst>
        <p:guide orient="horz" pos="2160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emf"/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e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35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5.wmf"/><Relationship Id="rId8" Type="http://schemas.openxmlformats.org/officeDocument/2006/relationships/image" Target="../media/image64.wmf"/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50000"/>
              </a:spcBef>
              <a:defRPr sz="1200" b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200" b="1" dirty="0"/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080"/>
          <p:cNvSpPr>
            <a:spLocks noChangeArrowheads="1"/>
          </p:cNvSpPr>
          <p:nvPr/>
        </p:nvSpPr>
        <p:spPr bwMode="auto">
          <a:xfrm>
            <a:off x="5942013" y="92075"/>
            <a:ext cx="320198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9-4  简谐振动的能量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auto">
          <a:xfrm>
            <a:off x="3167063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65475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623050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 b="1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42159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62160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Rectangle 1133"/>
          <p:cNvSpPr>
            <a:spLocks noChangeArrowheads="1"/>
          </p:cNvSpPr>
          <p:nvPr/>
        </p:nvSpPr>
        <p:spPr bwMode="auto">
          <a:xfrm>
            <a:off x="6623050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b="1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b="1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pic>
        <p:nvPicPr>
          <p:cNvPr id="1033" name="直接连接符 13"/>
          <p:cNvPicPr/>
          <p:nvPr userDrawn="1"/>
        </p:nvPicPr>
        <p:blipFill>
          <a:blip r:embed="rId12"/>
          <a:stretch>
            <a:fillRect/>
          </a:stretch>
        </p:blipFill>
        <p:spPr>
          <a:xfrm>
            <a:off x="6042025" y="544513"/>
            <a:ext cx="2987675" cy="714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2" descr="C:\Users\qdx\Desktop\Aticles\20141011\temp_01.gif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5"/>
          <p:cNvSpPr>
            <a:spLocks noChangeArrowheads="1"/>
          </p:cNvSpPr>
          <p:nvPr/>
        </p:nvSpPr>
        <p:spPr bwMode="auto">
          <a:xfrm>
            <a:off x="3167063" y="6400800"/>
            <a:ext cx="2895600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165475" y="6400800"/>
            <a:ext cx="2895600" cy="268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第九章  振动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5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623050" y="63817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800" b="1">
                <a:solidFill>
                  <a:srgbClr val="0000CC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642159" y="6336000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1"/>
          <p:cNvCxnSpPr/>
          <p:nvPr/>
        </p:nvCxnSpPr>
        <p:spPr>
          <a:xfrm flipH="1">
            <a:off x="3562160" y="6334124"/>
            <a:ext cx="1080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5" name="Rectangle 32"/>
          <p:cNvSpPr>
            <a:spLocks noChangeArrowheads="1"/>
          </p:cNvSpPr>
          <p:nvPr/>
        </p:nvSpPr>
        <p:spPr bwMode="auto">
          <a:xfrm>
            <a:off x="6623050" y="6381750"/>
            <a:ext cx="21336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p>
            <a:pPr lvl="0" algn="r" eaLnBrk="1" hangingPunct="1"/>
            <a:fld id="{9A0DB2DC-4C9A-4742-B13C-FB6460FD3503}" type="slidenum">
              <a:rPr lang="zh-CN" altLang="en-US" sz="1800" b="1" dirty="0">
                <a:solidFill>
                  <a:srgbClr val="0000CC"/>
                </a:solidFill>
                <a:latin typeface="Calibri" panose="020F0502020204030204" pitchFamily="34" charset="0"/>
              </a:rPr>
            </a:fld>
            <a:endParaRPr lang="zh-CN" altLang="en-US" sz="1800" b="1" dirty="0">
              <a:solidFill>
                <a:srgbClr val="0000CC"/>
              </a:solidFill>
              <a:latin typeface="Calibri" panose="020F0502020204030204" pitchFamily="34" charset="0"/>
            </a:endParaRPr>
          </a:p>
        </p:txBody>
      </p:sp>
      <p:sp>
        <p:nvSpPr>
          <p:cNvPr id="2056" name="Rectangle 16"/>
          <p:cNvSpPr>
            <a:spLocks noChangeArrowheads="1"/>
          </p:cNvSpPr>
          <p:nvPr/>
        </p:nvSpPr>
        <p:spPr bwMode="auto">
          <a:xfrm>
            <a:off x="7031038" y="90488"/>
            <a:ext cx="1566863" cy="534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本章目录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000891" y="596900"/>
            <a:ext cx="1548000" cy="1588"/>
          </a:xfrm>
          <a:prstGeom prst="line">
            <a:avLst/>
          </a:prstGeom>
          <a:ln w="38100" cap="rnd">
            <a:gradFill flip="none" rotWithShape="1">
              <a:gsLst>
                <a:gs pos="0">
                  <a:srgbClr val="000099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beve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" name="Picture 12" descr="C:\Users\qdx\Desktop\Aticles\20141011\temp_01.gif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-271462" y="19050"/>
            <a:ext cx="1435100" cy="164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80"/>
          <p:cNvSpPr txBox="1">
            <a:spLocks noChangeArrowheads="1"/>
          </p:cNvSpPr>
          <p:nvPr/>
        </p:nvSpPr>
        <p:spPr bwMode="auto">
          <a:xfrm>
            <a:off x="123825" y="207963"/>
            <a:ext cx="661988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物理学第七版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9" Type="http://schemas.openxmlformats.org/officeDocument/2006/relationships/vmlDrawing" Target="../drawings/vmlDrawing3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0.wmf"/><Relationship Id="rId26" Type="http://schemas.openxmlformats.org/officeDocument/2006/relationships/oleObject" Target="../embeddings/oleObject21.bin"/><Relationship Id="rId25" Type="http://schemas.openxmlformats.org/officeDocument/2006/relationships/image" Target="../media/image19.wmf"/><Relationship Id="rId24" Type="http://schemas.openxmlformats.org/officeDocument/2006/relationships/oleObject" Target="../embeddings/oleObject20.bin"/><Relationship Id="rId23" Type="http://schemas.openxmlformats.org/officeDocument/2006/relationships/image" Target="../media/image18.wmf"/><Relationship Id="rId22" Type="http://schemas.openxmlformats.org/officeDocument/2006/relationships/oleObject" Target="../embeddings/oleObject19.bin"/><Relationship Id="rId21" Type="http://schemas.openxmlformats.org/officeDocument/2006/relationships/image" Target="../media/image17.wmf"/><Relationship Id="rId20" Type="http://schemas.openxmlformats.org/officeDocument/2006/relationships/oleObject" Target="../embeddings/oleObject18.bin"/><Relationship Id="rId2" Type="http://schemas.openxmlformats.org/officeDocument/2006/relationships/image" Target="../media/image9.wmf"/><Relationship Id="rId19" Type="http://schemas.openxmlformats.org/officeDocument/2006/relationships/oleObject" Target="../embeddings/oleObject17.bin"/><Relationship Id="rId18" Type="http://schemas.openxmlformats.org/officeDocument/2006/relationships/oleObject" Target="../embeddings/oleObject16.bin"/><Relationship Id="rId17" Type="http://schemas.openxmlformats.org/officeDocument/2006/relationships/oleObject" Target="../embeddings/oleObject15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15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4.e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3.bin"/><Relationship Id="rId26" Type="http://schemas.openxmlformats.org/officeDocument/2006/relationships/vmlDrawing" Target="../drawings/vmlDrawing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32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1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30.e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5.bin"/><Relationship Id="rId21" Type="http://schemas.openxmlformats.org/officeDocument/2006/relationships/vmlDrawing" Target="../drawings/vmlDrawing5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9" Type="http://schemas.openxmlformats.org/officeDocument/2006/relationships/image" Target="../media/image42.wmf"/><Relationship Id="rId18" Type="http://schemas.openxmlformats.org/officeDocument/2006/relationships/oleObject" Target="../embeddings/oleObject42.bin"/><Relationship Id="rId17" Type="http://schemas.openxmlformats.org/officeDocument/2006/relationships/image" Target="../media/image41.wmf"/><Relationship Id="rId16" Type="http://schemas.openxmlformats.org/officeDocument/2006/relationships/oleObject" Target="../embeddings/oleObject41.bin"/><Relationship Id="rId15" Type="http://schemas.openxmlformats.org/officeDocument/2006/relationships/image" Target="../media/image40.wmf"/><Relationship Id="rId14" Type="http://schemas.openxmlformats.org/officeDocument/2006/relationships/oleObject" Target="../embeddings/oleObject40.bin"/><Relationship Id="rId13" Type="http://schemas.openxmlformats.org/officeDocument/2006/relationships/image" Target="../media/image39.png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43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35.wmf"/><Relationship Id="rId1" Type="http://schemas.openxmlformats.org/officeDocument/2006/relationships/oleObject" Target="../embeddings/oleObject4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8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4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5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9.bin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5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65.w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5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8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66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Oval 29"/>
          <p:cNvSpPr/>
          <p:nvPr/>
        </p:nvSpPr>
        <p:spPr>
          <a:xfrm>
            <a:off x="6454775" y="4191000"/>
            <a:ext cx="1000125" cy="990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26"/>
          <p:cNvSpPr/>
          <p:nvPr/>
        </p:nvSpPr>
        <p:spPr>
          <a:xfrm>
            <a:off x="3810000" y="3657600"/>
            <a:ext cx="4572000" cy="2362200"/>
          </a:xfrm>
          <a:prstGeom prst="rect">
            <a:avLst/>
          </a:prstGeom>
          <a:noFill/>
          <a:ln w="12700" cap="flat" cmpd="sng">
            <a:solidFill>
              <a:srgbClr val="008000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00" name="Rectangle 3"/>
          <p:cNvSpPr/>
          <p:nvPr/>
        </p:nvSpPr>
        <p:spPr>
          <a:xfrm>
            <a:off x="1093788" y="9144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（1）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动能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1" name="Rectangle 4"/>
          <p:cNvSpPr/>
          <p:nvPr/>
        </p:nvSpPr>
        <p:spPr>
          <a:xfrm>
            <a:off x="3379788" y="762000"/>
            <a:ext cx="3859212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(以弹簧振子为例) 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102" name="Text Box 6"/>
          <p:cNvSpPr txBox="1"/>
          <p:nvPr/>
        </p:nvSpPr>
        <p:spPr>
          <a:xfrm>
            <a:off x="5562600" y="5424488"/>
            <a:ext cx="28956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800" i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800" i="1" dirty="0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4103" name="Line 7"/>
          <p:cNvSpPr/>
          <p:nvPr/>
        </p:nvSpPr>
        <p:spPr>
          <a:xfrm>
            <a:off x="4191000" y="4052888"/>
            <a:ext cx="0" cy="11430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4" name="Line 10"/>
          <p:cNvSpPr/>
          <p:nvPr/>
        </p:nvSpPr>
        <p:spPr>
          <a:xfrm>
            <a:off x="5791200" y="5424488"/>
            <a:ext cx="24384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105" name="Line 11"/>
          <p:cNvSpPr/>
          <p:nvPr/>
        </p:nvSpPr>
        <p:spPr>
          <a:xfrm flipH="1">
            <a:off x="3886200" y="4052888"/>
            <a:ext cx="228600" cy="203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6" name="Line 12"/>
          <p:cNvSpPr/>
          <p:nvPr/>
        </p:nvSpPr>
        <p:spPr>
          <a:xfrm flipH="1">
            <a:off x="3886200" y="43576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7" name="Line 13"/>
          <p:cNvSpPr/>
          <p:nvPr/>
        </p:nvSpPr>
        <p:spPr>
          <a:xfrm flipH="1">
            <a:off x="3886200" y="46624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8" name="Line 14"/>
          <p:cNvSpPr/>
          <p:nvPr/>
        </p:nvSpPr>
        <p:spPr>
          <a:xfrm flipH="1">
            <a:off x="3886200" y="49672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09" name="Line 17"/>
          <p:cNvSpPr/>
          <p:nvPr/>
        </p:nvSpPr>
        <p:spPr>
          <a:xfrm>
            <a:off x="4191000" y="5195888"/>
            <a:ext cx="3810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10" name="AutoShape 19"/>
          <p:cNvSpPr/>
          <p:nvPr/>
        </p:nvSpPr>
        <p:spPr>
          <a:xfrm>
            <a:off x="5943600" y="3886200"/>
            <a:ext cx="685800" cy="304800"/>
          </a:xfrm>
          <a:prstGeom prst="leftArrow">
            <a:avLst>
              <a:gd name="adj1" fmla="val 50000"/>
              <a:gd name="adj2" fmla="val 56250"/>
            </a:avLst>
          </a:prstGeom>
          <a:gradFill rotWithShape="0">
            <a:gsLst>
              <a:gs pos="0">
                <a:srgbClr val="000000"/>
              </a:gs>
              <a:gs pos="50000">
                <a:srgbClr val="FF0066"/>
              </a:gs>
              <a:gs pos="100000">
                <a:srgbClr val="000000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Line 20"/>
          <p:cNvSpPr/>
          <p:nvPr/>
        </p:nvSpPr>
        <p:spPr>
          <a:xfrm>
            <a:off x="6934200" y="39624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68" name="Group 65"/>
          <p:cNvGrpSpPr/>
          <p:nvPr/>
        </p:nvGrpSpPr>
        <p:grpSpPr>
          <a:xfrm>
            <a:off x="1447800" y="3505200"/>
            <a:ext cx="1490663" cy="1343025"/>
            <a:chOff x="933" y="2256"/>
            <a:chExt cx="939" cy="846"/>
          </a:xfrm>
        </p:grpSpPr>
        <p:graphicFrame>
          <p:nvGraphicFramePr>
            <p:cNvPr id="4148" name="Object 23"/>
            <p:cNvGraphicFramePr>
              <a:graphicFrameLocks noChangeAspect="1"/>
            </p:cNvGraphicFramePr>
            <p:nvPr/>
          </p:nvGraphicFramePr>
          <p:xfrm>
            <a:off x="933" y="2473"/>
            <a:ext cx="939" cy="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568325" imgH="431165" progId="Equation.3">
                    <p:embed/>
                  </p:oleObj>
                </mc:Choice>
                <mc:Fallback>
                  <p:oleObj name="" r:id="rId1" imgW="568325" imgH="43116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3" y="2473"/>
                          <a:ext cx="939" cy="6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49" name="Line 24"/>
            <p:cNvSpPr/>
            <p:nvPr/>
          </p:nvSpPr>
          <p:spPr>
            <a:xfrm flipV="1">
              <a:off x="1556" y="2256"/>
              <a:ext cx="0" cy="395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headEnd type="none" w="med" len="med"/>
              <a:tailEnd type="triangle" w="sm" len="lg"/>
            </a:ln>
          </p:spPr>
        </p:sp>
      </p:grpSp>
      <p:sp>
        <p:nvSpPr>
          <p:cNvPr id="4113" name="Oval 28"/>
          <p:cNvSpPr/>
          <p:nvPr/>
        </p:nvSpPr>
        <p:spPr>
          <a:xfrm>
            <a:off x="5753100" y="5168900"/>
            <a:ext cx="76200" cy="762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14" name="Object 30"/>
          <p:cNvGraphicFramePr>
            <a:graphicFrameLocks noChangeAspect="1"/>
          </p:cNvGraphicFramePr>
          <p:nvPr/>
        </p:nvGraphicFramePr>
        <p:xfrm>
          <a:off x="6705600" y="4495800"/>
          <a:ext cx="460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08915" imgH="169545" progId="Equation.3">
                  <p:embed/>
                </p:oleObj>
              </mc:Choice>
              <mc:Fallback>
                <p:oleObj name="" r:id="rId3" imgW="208915" imgH="16954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05600" y="4495800"/>
                        <a:ext cx="4603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15" name="Group 31"/>
          <p:cNvGrpSpPr/>
          <p:nvPr/>
        </p:nvGrpSpPr>
        <p:grpSpPr>
          <a:xfrm>
            <a:off x="4191000" y="4343400"/>
            <a:ext cx="2286000" cy="609600"/>
            <a:chOff x="1104" y="2064"/>
            <a:chExt cx="2400" cy="384"/>
          </a:xfrm>
        </p:grpSpPr>
        <p:grpSp>
          <p:nvGrpSpPr>
            <p:cNvPr id="4118" name="Group 32"/>
            <p:cNvGrpSpPr/>
            <p:nvPr/>
          </p:nvGrpSpPr>
          <p:grpSpPr>
            <a:xfrm>
              <a:off x="1469" y="2064"/>
              <a:ext cx="208" cy="384"/>
              <a:chOff x="1632" y="2064"/>
              <a:chExt cx="336" cy="384"/>
            </a:xfrm>
          </p:grpSpPr>
          <p:sp>
            <p:nvSpPr>
              <p:cNvPr id="4146" name="Line 33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7" name="Line 34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19" name="Group 35"/>
            <p:cNvGrpSpPr/>
            <p:nvPr/>
          </p:nvGrpSpPr>
          <p:grpSpPr>
            <a:xfrm>
              <a:off x="1677" y="2064"/>
              <a:ext cx="209" cy="384"/>
              <a:chOff x="1632" y="2064"/>
              <a:chExt cx="336" cy="384"/>
            </a:xfrm>
          </p:grpSpPr>
          <p:sp>
            <p:nvSpPr>
              <p:cNvPr id="4144" name="Line 36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5" name="Line 37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0" name="Group 38"/>
            <p:cNvGrpSpPr/>
            <p:nvPr/>
          </p:nvGrpSpPr>
          <p:grpSpPr>
            <a:xfrm>
              <a:off x="1886" y="2064"/>
              <a:ext cx="209" cy="384"/>
              <a:chOff x="1632" y="2064"/>
              <a:chExt cx="336" cy="384"/>
            </a:xfrm>
          </p:grpSpPr>
          <p:sp>
            <p:nvSpPr>
              <p:cNvPr id="4142" name="Line 3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3" name="Line 4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1" name="Group 41"/>
            <p:cNvGrpSpPr/>
            <p:nvPr/>
          </p:nvGrpSpPr>
          <p:grpSpPr>
            <a:xfrm>
              <a:off x="2095" y="2064"/>
              <a:ext cx="209" cy="384"/>
              <a:chOff x="1632" y="2064"/>
              <a:chExt cx="336" cy="384"/>
            </a:xfrm>
          </p:grpSpPr>
          <p:sp>
            <p:nvSpPr>
              <p:cNvPr id="4140" name="Line 4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41" name="Line 4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2" name="Group 44"/>
            <p:cNvGrpSpPr/>
            <p:nvPr/>
          </p:nvGrpSpPr>
          <p:grpSpPr>
            <a:xfrm>
              <a:off x="2304" y="2064"/>
              <a:ext cx="209" cy="384"/>
              <a:chOff x="1632" y="2064"/>
              <a:chExt cx="336" cy="384"/>
            </a:xfrm>
          </p:grpSpPr>
          <p:sp>
            <p:nvSpPr>
              <p:cNvPr id="4138" name="Line 4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9" name="Line 4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3" name="Group 47"/>
            <p:cNvGrpSpPr/>
            <p:nvPr/>
          </p:nvGrpSpPr>
          <p:grpSpPr>
            <a:xfrm>
              <a:off x="2513" y="2064"/>
              <a:ext cx="209" cy="384"/>
              <a:chOff x="1632" y="2064"/>
              <a:chExt cx="336" cy="384"/>
            </a:xfrm>
          </p:grpSpPr>
          <p:sp>
            <p:nvSpPr>
              <p:cNvPr id="4136" name="Line 4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7" name="Line 4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4" name="Group 50"/>
            <p:cNvGrpSpPr/>
            <p:nvPr/>
          </p:nvGrpSpPr>
          <p:grpSpPr>
            <a:xfrm>
              <a:off x="2722" y="2064"/>
              <a:ext cx="209" cy="384"/>
              <a:chOff x="1632" y="2064"/>
              <a:chExt cx="336" cy="384"/>
            </a:xfrm>
          </p:grpSpPr>
          <p:sp>
            <p:nvSpPr>
              <p:cNvPr id="4134" name="Line 5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5" name="Line 5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4125" name="Group 53"/>
            <p:cNvGrpSpPr/>
            <p:nvPr/>
          </p:nvGrpSpPr>
          <p:grpSpPr>
            <a:xfrm>
              <a:off x="2931" y="2064"/>
              <a:ext cx="208" cy="384"/>
              <a:chOff x="1632" y="2064"/>
              <a:chExt cx="336" cy="384"/>
            </a:xfrm>
          </p:grpSpPr>
          <p:sp>
            <p:nvSpPr>
              <p:cNvPr id="4132" name="Line 5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4133" name="Line 5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4126" name="Line 56"/>
            <p:cNvSpPr/>
            <p:nvPr/>
          </p:nvSpPr>
          <p:spPr>
            <a:xfrm flipH="1">
              <a:off x="1290" y="2064"/>
              <a:ext cx="59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7" name="Line 57"/>
            <p:cNvSpPr/>
            <p:nvPr/>
          </p:nvSpPr>
          <p:spPr>
            <a:xfrm>
              <a:off x="1349" y="2064"/>
              <a:ext cx="12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8" name="Line 58"/>
            <p:cNvSpPr/>
            <p:nvPr/>
          </p:nvSpPr>
          <p:spPr>
            <a:xfrm>
              <a:off x="1104" y="2352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29" name="Line 59"/>
            <p:cNvSpPr/>
            <p:nvPr/>
          </p:nvSpPr>
          <p:spPr>
            <a:xfrm flipH="1">
              <a:off x="3139" y="2064"/>
              <a:ext cx="9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30" name="Line 60"/>
            <p:cNvSpPr/>
            <p:nvPr/>
          </p:nvSpPr>
          <p:spPr>
            <a:xfrm>
              <a:off x="3229" y="2064"/>
              <a:ext cx="89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131" name="Line 61"/>
            <p:cNvSpPr/>
            <p:nvPr/>
          </p:nvSpPr>
          <p:spPr>
            <a:xfrm>
              <a:off x="3318" y="2304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</p:grpSp>
      <p:sp>
        <p:nvSpPr>
          <p:cNvPr id="4116" name="Line 62"/>
          <p:cNvSpPr/>
          <p:nvPr/>
        </p:nvSpPr>
        <p:spPr>
          <a:xfrm>
            <a:off x="5803900" y="39878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105" name="Object 64"/>
          <p:cNvGraphicFramePr>
            <a:graphicFrameLocks noChangeAspect="1"/>
          </p:cNvGraphicFramePr>
          <p:nvPr/>
        </p:nvGraphicFramePr>
        <p:xfrm>
          <a:off x="1371600" y="1524000"/>
          <a:ext cx="57912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2717800" imgH="977900" progId="Equation.3">
                  <p:embed/>
                </p:oleObj>
              </mc:Choice>
              <mc:Fallback>
                <p:oleObj name="" r:id="rId5" imgW="2717800" imgH="977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1524000"/>
                        <a:ext cx="5791200" cy="208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533400" y="912813"/>
            <a:ext cx="2120900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（2）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势能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69" name="Text Box 21"/>
          <p:cNvSpPr txBox="1">
            <a:spLocks noChangeArrowheads="1"/>
          </p:cNvSpPr>
          <p:nvPr/>
        </p:nvSpPr>
        <p:spPr bwMode="auto">
          <a:xfrm>
            <a:off x="914400" y="2997200"/>
            <a:ext cx="2590800" cy="30448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rgbClr val="CC00CC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线性回复力是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保守力</a:t>
            </a: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，作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简谐</a:t>
            </a:r>
            <a:r>
              <a:rPr kumimoji="0" lang="zh-CN" altLang="en-US" b="1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振动的系统</a:t>
            </a:r>
            <a:r>
              <a:rPr kumimoji="0" lang="zh-CN" altLang="en-US" b="1" kern="1200" cap="none" spc="0" normalizeH="0" baseline="0" noProof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机械能守恒</a:t>
            </a:r>
            <a:r>
              <a:rPr kumimoji="0" lang="zh-CN" altLang="en-US" b="1" kern="1200" cap="none" spc="0" normalizeH="0" baseline="0" noProof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b="1" kern="1200" cap="none" spc="0" normalizeH="0" baseline="0" noProof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4517" name="Object 69"/>
          <p:cNvGraphicFramePr>
            <a:graphicFrameLocks noChangeAspect="1"/>
          </p:cNvGraphicFramePr>
          <p:nvPr/>
        </p:nvGraphicFramePr>
        <p:xfrm>
          <a:off x="3048000" y="806450"/>
          <a:ext cx="5029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87600" imgH="469900" progId="Equation.3">
                  <p:embed/>
                </p:oleObj>
              </mc:Choice>
              <mc:Fallback>
                <p:oleObj name="" r:id="rId1" imgW="2387600" imgH="469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806450"/>
                        <a:ext cx="50292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18" name="Rectangle 70"/>
          <p:cNvSpPr/>
          <p:nvPr/>
        </p:nvSpPr>
        <p:spPr>
          <a:xfrm>
            <a:off x="533400" y="1905000"/>
            <a:ext cx="2528888" cy="6762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（3）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机械能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519" name="Object 71"/>
          <p:cNvGraphicFramePr>
            <a:graphicFrameLocks noChangeAspect="1"/>
          </p:cNvGraphicFramePr>
          <p:nvPr/>
        </p:nvGraphicFramePr>
        <p:xfrm>
          <a:off x="3060700" y="1825625"/>
          <a:ext cx="50784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400300" imgH="469900" progId="Equation.3">
                  <p:embed/>
                </p:oleObj>
              </mc:Choice>
              <mc:Fallback>
                <p:oleObj name="" r:id="rId3" imgW="2400300" imgH="469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60700" y="1825625"/>
                        <a:ext cx="5078413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Oval 23"/>
          <p:cNvSpPr/>
          <p:nvPr/>
        </p:nvSpPr>
        <p:spPr>
          <a:xfrm>
            <a:off x="6454775" y="4191000"/>
            <a:ext cx="1000125" cy="99060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5C0000"/>
              </a:gs>
            </a:gsLst>
            <a:path path="shape">
              <a:fillToRect l="50000" t="50000" r="50000" b="50000"/>
            </a:path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8" name="Rectangle 24"/>
          <p:cNvSpPr/>
          <p:nvPr/>
        </p:nvSpPr>
        <p:spPr>
          <a:xfrm>
            <a:off x="3810000" y="3657600"/>
            <a:ext cx="4572000" cy="2362200"/>
          </a:xfrm>
          <a:prstGeom prst="rect">
            <a:avLst/>
          </a:prstGeom>
          <a:noFill/>
          <a:ln w="12700" cap="flat" cmpd="sng">
            <a:solidFill>
              <a:srgbClr val="008000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9" name="Text Box 25"/>
          <p:cNvSpPr txBox="1"/>
          <p:nvPr/>
        </p:nvSpPr>
        <p:spPr>
          <a:xfrm>
            <a:off x="5562600" y="5424488"/>
            <a:ext cx="2895600" cy="5191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O           x          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5130" name="Line 26"/>
          <p:cNvSpPr/>
          <p:nvPr/>
        </p:nvSpPr>
        <p:spPr>
          <a:xfrm>
            <a:off x="4191000" y="4052888"/>
            <a:ext cx="0" cy="11430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1" name="Line 27"/>
          <p:cNvSpPr/>
          <p:nvPr/>
        </p:nvSpPr>
        <p:spPr>
          <a:xfrm>
            <a:off x="5791200" y="5424488"/>
            <a:ext cx="24384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5132" name="Line 28"/>
          <p:cNvSpPr/>
          <p:nvPr/>
        </p:nvSpPr>
        <p:spPr>
          <a:xfrm flipH="1">
            <a:off x="3886200" y="4052888"/>
            <a:ext cx="228600" cy="203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3" name="Line 29"/>
          <p:cNvSpPr/>
          <p:nvPr/>
        </p:nvSpPr>
        <p:spPr>
          <a:xfrm flipH="1">
            <a:off x="3886200" y="43576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4" name="Line 30"/>
          <p:cNvSpPr/>
          <p:nvPr/>
        </p:nvSpPr>
        <p:spPr>
          <a:xfrm flipH="1">
            <a:off x="3886200" y="46624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5" name="Line 31"/>
          <p:cNvSpPr/>
          <p:nvPr/>
        </p:nvSpPr>
        <p:spPr>
          <a:xfrm flipH="1">
            <a:off x="3886200" y="4967288"/>
            <a:ext cx="228600" cy="201612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36" name="Line 32"/>
          <p:cNvSpPr/>
          <p:nvPr/>
        </p:nvSpPr>
        <p:spPr>
          <a:xfrm>
            <a:off x="4191000" y="5195888"/>
            <a:ext cx="3810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7" name="AutoShape 33"/>
          <p:cNvSpPr/>
          <p:nvPr/>
        </p:nvSpPr>
        <p:spPr>
          <a:xfrm>
            <a:off x="5943600" y="3886200"/>
            <a:ext cx="685800" cy="304800"/>
          </a:xfrm>
          <a:prstGeom prst="leftArrow">
            <a:avLst>
              <a:gd name="adj1" fmla="val 50000"/>
              <a:gd name="adj2" fmla="val 56250"/>
            </a:avLst>
          </a:prstGeom>
          <a:gradFill rotWithShape="0">
            <a:gsLst>
              <a:gs pos="0">
                <a:srgbClr val="76002F"/>
              </a:gs>
              <a:gs pos="50000">
                <a:srgbClr val="FF0066"/>
              </a:gs>
              <a:gs pos="100000">
                <a:srgbClr val="76002F"/>
              </a:gs>
            </a:gsLst>
            <a:lin ang="5400000" scaled="1"/>
            <a:tileRect/>
          </a:gra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38" name="Line 34"/>
          <p:cNvSpPr/>
          <p:nvPr/>
        </p:nvSpPr>
        <p:spPr>
          <a:xfrm>
            <a:off x="6934200" y="39624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139" name="Oval 35"/>
          <p:cNvSpPr/>
          <p:nvPr/>
        </p:nvSpPr>
        <p:spPr>
          <a:xfrm>
            <a:off x="5753100" y="5168900"/>
            <a:ext cx="76200" cy="762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sm" len="lg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40" name="Object 36"/>
          <p:cNvGraphicFramePr>
            <a:graphicFrameLocks noChangeAspect="1"/>
          </p:cNvGraphicFramePr>
          <p:nvPr/>
        </p:nvGraphicFramePr>
        <p:xfrm>
          <a:off x="6705600" y="4495800"/>
          <a:ext cx="460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08915" imgH="169545" progId="Equation.3">
                  <p:embed/>
                </p:oleObj>
              </mc:Choice>
              <mc:Fallback>
                <p:oleObj name="" r:id="rId5" imgW="208915" imgH="16954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705600" y="4495800"/>
                        <a:ext cx="4603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41" name="Group 37"/>
          <p:cNvGrpSpPr/>
          <p:nvPr/>
        </p:nvGrpSpPr>
        <p:grpSpPr>
          <a:xfrm>
            <a:off x="4191000" y="4343400"/>
            <a:ext cx="2286000" cy="609600"/>
            <a:chOff x="1104" y="2064"/>
            <a:chExt cx="2400" cy="384"/>
          </a:xfrm>
        </p:grpSpPr>
        <p:grpSp>
          <p:nvGrpSpPr>
            <p:cNvPr id="5143" name="Group 38"/>
            <p:cNvGrpSpPr/>
            <p:nvPr/>
          </p:nvGrpSpPr>
          <p:grpSpPr>
            <a:xfrm>
              <a:off x="1469" y="2064"/>
              <a:ext cx="208" cy="384"/>
              <a:chOff x="1632" y="2064"/>
              <a:chExt cx="336" cy="384"/>
            </a:xfrm>
          </p:grpSpPr>
          <p:sp>
            <p:nvSpPr>
              <p:cNvPr id="5171" name="Line 39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72" name="Line 40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4" name="Group 41"/>
            <p:cNvGrpSpPr/>
            <p:nvPr/>
          </p:nvGrpSpPr>
          <p:grpSpPr>
            <a:xfrm>
              <a:off x="1677" y="2064"/>
              <a:ext cx="209" cy="384"/>
              <a:chOff x="1632" y="2064"/>
              <a:chExt cx="336" cy="384"/>
            </a:xfrm>
          </p:grpSpPr>
          <p:sp>
            <p:nvSpPr>
              <p:cNvPr id="5169" name="Line 42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70" name="Line 43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5" name="Group 44"/>
            <p:cNvGrpSpPr/>
            <p:nvPr/>
          </p:nvGrpSpPr>
          <p:grpSpPr>
            <a:xfrm>
              <a:off x="1886" y="2064"/>
              <a:ext cx="209" cy="384"/>
              <a:chOff x="1632" y="2064"/>
              <a:chExt cx="336" cy="384"/>
            </a:xfrm>
          </p:grpSpPr>
          <p:sp>
            <p:nvSpPr>
              <p:cNvPr id="5167" name="Line 45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8" name="Line 46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6" name="Group 47"/>
            <p:cNvGrpSpPr/>
            <p:nvPr/>
          </p:nvGrpSpPr>
          <p:grpSpPr>
            <a:xfrm>
              <a:off x="2095" y="2064"/>
              <a:ext cx="209" cy="384"/>
              <a:chOff x="1632" y="2064"/>
              <a:chExt cx="336" cy="384"/>
            </a:xfrm>
          </p:grpSpPr>
          <p:sp>
            <p:nvSpPr>
              <p:cNvPr id="5165" name="Line 48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6" name="Line 49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7" name="Group 50"/>
            <p:cNvGrpSpPr/>
            <p:nvPr/>
          </p:nvGrpSpPr>
          <p:grpSpPr>
            <a:xfrm>
              <a:off x="2304" y="2064"/>
              <a:ext cx="209" cy="384"/>
              <a:chOff x="1632" y="2064"/>
              <a:chExt cx="336" cy="384"/>
            </a:xfrm>
          </p:grpSpPr>
          <p:sp>
            <p:nvSpPr>
              <p:cNvPr id="5163" name="Line 51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4" name="Line 52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8" name="Group 53"/>
            <p:cNvGrpSpPr/>
            <p:nvPr/>
          </p:nvGrpSpPr>
          <p:grpSpPr>
            <a:xfrm>
              <a:off x="2513" y="2064"/>
              <a:ext cx="209" cy="384"/>
              <a:chOff x="1632" y="2064"/>
              <a:chExt cx="336" cy="384"/>
            </a:xfrm>
          </p:grpSpPr>
          <p:sp>
            <p:nvSpPr>
              <p:cNvPr id="5161" name="Line 54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2" name="Line 55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49" name="Group 56"/>
            <p:cNvGrpSpPr/>
            <p:nvPr/>
          </p:nvGrpSpPr>
          <p:grpSpPr>
            <a:xfrm>
              <a:off x="2722" y="2064"/>
              <a:ext cx="209" cy="384"/>
              <a:chOff x="1632" y="2064"/>
              <a:chExt cx="336" cy="384"/>
            </a:xfrm>
          </p:grpSpPr>
          <p:sp>
            <p:nvSpPr>
              <p:cNvPr id="5159" name="Line 57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60" name="Line 58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grpSp>
          <p:nvGrpSpPr>
            <p:cNvPr id="5150" name="Group 59"/>
            <p:cNvGrpSpPr/>
            <p:nvPr/>
          </p:nvGrpSpPr>
          <p:grpSpPr>
            <a:xfrm>
              <a:off x="2931" y="2064"/>
              <a:ext cx="208" cy="384"/>
              <a:chOff x="1632" y="2064"/>
              <a:chExt cx="336" cy="384"/>
            </a:xfrm>
          </p:grpSpPr>
          <p:sp>
            <p:nvSpPr>
              <p:cNvPr id="5157" name="Line 60"/>
              <p:cNvSpPr/>
              <p:nvPr/>
            </p:nvSpPr>
            <p:spPr>
              <a:xfrm flipH="1">
                <a:off x="1632" y="2064"/>
                <a:ext cx="144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5158" name="Line 61"/>
              <p:cNvSpPr/>
              <p:nvPr/>
            </p:nvSpPr>
            <p:spPr>
              <a:xfrm>
                <a:off x="1776" y="2064"/>
                <a:ext cx="192" cy="38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5151" name="Line 62"/>
            <p:cNvSpPr/>
            <p:nvPr/>
          </p:nvSpPr>
          <p:spPr>
            <a:xfrm flipH="1">
              <a:off x="1290" y="2064"/>
              <a:ext cx="59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2" name="Line 63"/>
            <p:cNvSpPr/>
            <p:nvPr/>
          </p:nvSpPr>
          <p:spPr>
            <a:xfrm>
              <a:off x="1349" y="2064"/>
              <a:ext cx="12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3" name="Line 64"/>
            <p:cNvSpPr/>
            <p:nvPr/>
          </p:nvSpPr>
          <p:spPr>
            <a:xfrm>
              <a:off x="1104" y="2352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4" name="Line 65"/>
            <p:cNvSpPr/>
            <p:nvPr/>
          </p:nvSpPr>
          <p:spPr>
            <a:xfrm flipH="1">
              <a:off x="3139" y="2064"/>
              <a:ext cx="90" cy="38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5" name="Line 66"/>
            <p:cNvSpPr/>
            <p:nvPr/>
          </p:nvSpPr>
          <p:spPr>
            <a:xfrm>
              <a:off x="3229" y="2064"/>
              <a:ext cx="89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5156" name="Line 67"/>
            <p:cNvSpPr/>
            <p:nvPr/>
          </p:nvSpPr>
          <p:spPr>
            <a:xfrm>
              <a:off x="3318" y="2304"/>
              <a:ext cx="18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sm" len="lg"/>
              <a:tailEnd type="none" w="sm" len="lg"/>
            </a:ln>
          </p:spPr>
        </p:sp>
      </p:grpSp>
      <p:sp>
        <p:nvSpPr>
          <p:cNvPr id="5142" name="Line 68"/>
          <p:cNvSpPr/>
          <p:nvPr/>
        </p:nvSpPr>
        <p:spPr>
          <a:xfrm>
            <a:off x="5803900" y="3987800"/>
            <a:ext cx="0" cy="1462088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69" grpId="0" bldLvl="0" animBg="1"/>
      <p:bldP spid="1045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/>
          <p:nvPr/>
        </p:nvSpPr>
        <p:spPr>
          <a:xfrm>
            <a:off x="609600" y="914400"/>
            <a:ext cx="7848600" cy="5257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7" name="Text Box 4"/>
          <p:cNvSpPr txBox="1"/>
          <p:nvPr/>
        </p:nvSpPr>
        <p:spPr>
          <a:xfrm>
            <a:off x="2133600" y="914400"/>
            <a:ext cx="4038600" cy="52228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简 谐 振 动 能 量 图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7" name="Line 11"/>
          <p:cNvSpPr/>
          <p:nvPr/>
        </p:nvSpPr>
        <p:spPr>
          <a:xfrm flipV="1">
            <a:off x="1409700" y="3668713"/>
            <a:ext cx="2646363" cy="1587"/>
          </a:xfrm>
          <a:prstGeom prst="line">
            <a:avLst/>
          </a:prstGeom>
          <a:ln w="28575" cap="flat" cmpd="sng">
            <a:solidFill>
              <a:srgbClr val="00CC00"/>
            </a:solidFill>
            <a:prstDash val="solid"/>
            <a:headEnd type="none" w="med" len="med"/>
            <a:tailEnd type="none" w="sm" len="lg"/>
          </a:ln>
        </p:spPr>
      </p:sp>
      <p:sp>
        <p:nvSpPr>
          <p:cNvPr id="101388" name="Freeform 12"/>
          <p:cNvSpPr/>
          <p:nvPr/>
        </p:nvSpPr>
        <p:spPr>
          <a:xfrm>
            <a:off x="1143000" y="3676650"/>
            <a:ext cx="2692400" cy="1390650"/>
          </a:xfrm>
          <a:custGeom>
            <a:avLst/>
            <a:gdLst/>
            <a:ahLst/>
            <a:cxnLst>
              <a:cxn ang="0">
                <a:pos x="0" y="915675863"/>
              </a:cxn>
              <a:cxn ang="0">
                <a:pos x="359360155" y="0"/>
              </a:cxn>
              <a:cxn ang="0">
                <a:pos x="718720310" y="915675863"/>
              </a:cxn>
              <a:cxn ang="0">
                <a:pos x="1078081833" y="1831351726"/>
              </a:cxn>
              <a:cxn ang="0">
                <a:pos x="1437441988" y="915675863"/>
              </a:cxn>
              <a:cxn ang="0">
                <a:pos x="1796802143" y="0"/>
              </a:cxn>
              <a:cxn ang="0">
                <a:pos x="2147483646" y="915675863"/>
              </a:cxn>
              <a:cxn ang="0">
                <a:pos x="2147483646" y="1831351726"/>
              </a:cxn>
              <a:cxn ang="0">
                <a:pos x="2147483646" y="915675863"/>
              </a:cxn>
              <a:cxn ang="0">
                <a:pos x="2147483646" y="0"/>
              </a:cxn>
              <a:cxn ang="0">
                <a:pos x="2147483646" y="915675863"/>
              </a:cxn>
              <a:cxn ang="0">
                <a:pos x="2147483646" y="1165405524"/>
              </a:cxn>
            </a:cxnLst>
            <a:pathLst>
              <a:path w="1968" h="1056">
                <a:moveTo>
                  <a:pt x="0" y="528"/>
                </a:moveTo>
                <a:cubicBezTo>
                  <a:pt x="64" y="264"/>
                  <a:pt x="128" y="0"/>
                  <a:pt x="192" y="0"/>
                </a:cubicBezTo>
                <a:cubicBezTo>
                  <a:pt x="256" y="0"/>
                  <a:pt x="320" y="352"/>
                  <a:pt x="384" y="528"/>
                </a:cubicBezTo>
                <a:cubicBezTo>
                  <a:pt x="448" y="704"/>
                  <a:pt x="512" y="1056"/>
                  <a:pt x="576" y="1056"/>
                </a:cubicBezTo>
                <a:cubicBezTo>
                  <a:pt x="640" y="1056"/>
                  <a:pt x="704" y="704"/>
                  <a:pt x="768" y="528"/>
                </a:cubicBezTo>
                <a:cubicBezTo>
                  <a:pt x="832" y="352"/>
                  <a:pt x="896" y="0"/>
                  <a:pt x="960" y="0"/>
                </a:cubicBezTo>
                <a:cubicBezTo>
                  <a:pt x="1024" y="0"/>
                  <a:pt x="1088" y="352"/>
                  <a:pt x="1152" y="528"/>
                </a:cubicBezTo>
                <a:cubicBezTo>
                  <a:pt x="1216" y="704"/>
                  <a:pt x="1280" y="1056"/>
                  <a:pt x="1344" y="1056"/>
                </a:cubicBezTo>
                <a:cubicBezTo>
                  <a:pt x="1408" y="1056"/>
                  <a:pt x="1472" y="704"/>
                  <a:pt x="1536" y="528"/>
                </a:cubicBezTo>
                <a:cubicBezTo>
                  <a:pt x="1600" y="352"/>
                  <a:pt x="1664" y="0"/>
                  <a:pt x="1728" y="0"/>
                </a:cubicBezTo>
                <a:cubicBezTo>
                  <a:pt x="1792" y="0"/>
                  <a:pt x="1880" y="416"/>
                  <a:pt x="1920" y="528"/>
                </a:cubicBezTo>
                <a:cubicBezTo>
                  <a:pt x="1960" y="640"/>
                  <a:pt x="1960" y="648"/>
                  <a:pt x="1968" y="672"/>
                </a:cubicBezTo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101389" name="Freeform 13"/>
          <p:cNvSpPr/>
          <p:nvPr/>
        </p:nvSpPr>
        <p:spPr>
          <a:xfrm>
            <a:off x="1143000" y="3676650"/>
            <a:ext cx="2692400" cy="1390650"/>
          </a:xfrm>
          <a:custGeom>
            <a:avLst/>
            <a:gdLst/>
            <a:ahLst/>
            <a:cxnLst>
              <a:cxn ang="0">
                <a:pos x="0" y="915675863"/>
              </a:cxn>
              <a:cxn ang="0">
                <a:pos x="359360155" y="1831351726"/>
              </a:cxn>
              <a:cxn ang="0">
                <a:pos x="718720310" y="915675863"/>
              </a:cxn>
              <a:cxn ang="0">
                <a:pos x="1078081833" y="0"/>
              </a:cxn>
              <a:cxn ang="0">
                <a:pos x="1437441988" y="915675863"/>
              </a:cxn>
              <a:cxn ang="0">
                <a:pos x="1796802143" y="1831351726"/>
              </a:cxn>
              <a:cxn ang="0">
                <a:pos x="2147483646" y="915675863"/>
              </a:cxn>
              <a:cxn ang="0">
                <a:pos x="2147483646" y="0"/>
              </a:cxn>
              <a:cxn ang="0">
                <a:pos x="2147483646" y="915675863"/>
              </a:cxn>
              <a:cxn ang="0">
                <a:pos x="2147483646" y="1831351726"/>
              </a:cxn>
              <a:cxn ang="0">
                <a:pos x="2147483646" y="915675863"/>
              </a:cxn>
              <a:cxn ang="0">
                <a:pos x="2147483646" y="665946202"/>
              </a:cxn>
            </a:cxnLst>
            <a:pathLst>
              <a:path w="1968" h="1056">
                <a:moveTo>
                  <a:pt x="0" y="528"/>
                </a:moveTo>
                <a:cubicBezTo>
                  <a:pt x="64" y="792"/>
                  <a:pt x="128" y="1056"/>
                  <a:pt x="192" y="1056"/>
                </a:cubicBezTo>
                <a:cubicBezTo>
                  <a:pt x="256" y="1056"/>
                  <a:pt x="320" y="704"/>
                  <a:pt x="384" y="528"/>
                </a:cubicBezTo>
                <a:cubicBezTo>
                  <a:pt x="448" y="352"/>
                  <a:pt x="512" y="0"/>
                  <a:pt x="576" y="0"/>
                </a:cubicBezTo>
                <a:cubicBezTo>
                  <a:pt x="640" y="0"/>
                  <a:pt x="704" y="352"/>
                  <a:pt x="768" y="528"/>
                </a:cubicBezTo>
                <a:cubicBezTo>
                  <a:pt x="832" y="704"/>
                  <a:pt x="896" y="1056"/>
                  <a:pt x="960" y="1056"/>
                </a:cubicBezTo>
                <a:cubicBezTo>
                  <a:pt x="1024" y="1056"/>
                  <a:pt x="1088" y="704"/>
                  <a:pt x="1152" y="528"/>
                </a:cubicBezTo>
                <a:cubicBezTo>
                  <a:pt x="1216" y="352"/>
                  <a:pt x="1280" y="0"/>
                  <a:pt x="1344" y="0"/>
                </a:cubicBezTo>
                <a:cubicBezTo>
                  <a:pt x="1408" y="0"/>
                  <a:pt x="1472" y="352"/>
                  <a:pt x="1536" y="528"/>
                </a:cubicBezTo>
                <a:cubicBezTo>
                  <a:pt x="1600" y="704"/>
                  <a:pt x="1664" y="1056"/>
                  <a:pt x="1728" y="1056"/>
                </a:cubicBezTo>
                <a:cubicBezTo>
                  <a:pt x="1792" y="1056"/>
                  <a:pt x="1880" y="640"/>
                  <a:pt x="1920" y="528"/>
                </a:cubicBezTo>
                <a:cubicBezTo>
                  <a:pt x="1960" y="416"/>
                  <a:pt x="1960" y="408"/>
                  <a:pt x="1968" y="384"/>
                </a:cubicBezTo>
              </a:path>
            </a:pathLst>
          </a:custGeom>
          <a:noFill/>
          <a:ln w="2857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sm" len="lg"/>
          </a:ln>
        </p:spPr>
        <p:txBody>
          <a:bodyPr/>
          <a:p>
            <a:endParaRPr lang="zh-CN" altLang="en-US"/>
          </a:p>
        </p:txBody>
      </p:sp>
      <p:sp>
        <p:nvSpPr>
          <p:cNvPr id="6151" name="Rectangle 27"/>
          <p:cNvSpPr/>
          <p:nvPr/>
        </p:nvSpPr>
        <p:spPr>
          <a:xfrm>
            <a:off x="1069975" y="3679825"/>
            <a:ext cx="328613" cy="14557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1436" name="Group 60"/>
          <p:cNvGrpSpPr/>
          <p:nvPr/>
        </p:nvGrpSpPr>
        <p:grpSpPr>
          <a:xfrm>
            <a:off x="3700463" y="4033838"/>
            <a:ext cx="3995737" cy="838200"/>
            <a:chOff x="2331" y="2467"/>
            <a:chExt cx="2643" cy="528"/>
          </a:xfrm>
        </p:grpSpPr>
        <p:graphicFrame>
          <p:nvGraphicFramePr>
            <p:cNvPr id="6201" name="Object 53"/>
            <p:cNvGraphicFramePr>
              <a:graphicFrameLocks noChangeAspect="1"/>
            </p:cNvGraphicFramePr>
            <p:nvPr/>
          </p:nvGraphicFramePr>
          <p:xfrm>
            <a:off x="3156" y="2467"/>
            <a:ext cx="181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168400" imgH="393700" progId="Equation.3">
                    <p:embed/>
                  </p:oleObj>
                </mc:Choice>
                <mc:Fallback>
                  <p:oleObj name="" r:id="rId1" imgW="1168400" imgH="3937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56" y="2467"/>
                          <a:ext cx="1818" cy="528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CC"/>
                            </a:gs>
                            <a:gs pos="50000">
                              <a:srgbClr val="FFFFFF"/>
                            </a:gs>
                            <a:gs pos="100000">
                              <a:srgbClr val="FFCCCC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02" name="Line 54"/>
            <p:cNvSpPr/>
            <p:nvPr/>
          </p:nvSpPr>
          <p:spPr>
            <a:xfrm>
              <a:off x="2331" y="2487"/>
              <a:ext cx="687" cy="17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sm" len="lg"/>
            </a:ln>
          </p:spPr>
        </p:sp>
      </p:grpSp>
      <p:grpSp>
        <p:nvGrpSpPr>
          <p:cNvPr id="101438" name="Group 62"/>
          <p:cNvGrpSpPr/>
          <p:nvPr/>
        </p:nvGrpSpPr>
        <p:grpSpPr>
          <a:xfrm>
            <a:off x="3733800" y="4648200"/>
            <a:ext cx="4267200" cy="1371600"/>
            <a:chOff x="2352" y="2928"/>
            <a:chExt cx="2688" cy="864"/>
          </a:xfrm>
        </p:grpSpPr>
        <p:graphicFrame>
          <p:nvGraphicFramePr>
            <p:cNvPr id="6199" name="Object 56"/>
            <p:cNvGraphicFramePr>
              <a:graphicFrameLocks noChangeAspect="1"/>
            </p:cNvGraphicFramePr>
            <p:nvPr/>
          </p:nvGraphicFramePr>
          <p:xfrm>
            <a:off x="2978" y="3155"/>
            <a:ext cx="2062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3" imgW="1651000" imgH="469900" progId="Equation.3">
                    <p:embed/>
                  </p:oleObj>
                </mc:Choice>
                <mc:Fallback>
                  <p:oleObj name="" r:id="rId3" imgW="1651000" imgH="4699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78" y="3155"/>
                          <a:ext cx="2062" cy="63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ECFF"/>
                            </a:gs>
                            <a:gs pos="50000">
                              <a:srgbClr val="FFFFFF"/>
                            </a:gs>
                            <a:gs pos="100000">
                              <a:srgbClr val="CCECFF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00" name="Line 57"/>
            <p:cNvSpPr/>
            <p:nvPr/>
          </p:nvSpPr>
          <p:spPr>
            <a:xfrm>
              <a:off x="2352" y="2928"/>
              <a:ext cx="624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</p:grpSp>
      <p:grpSp>
        <p:nvGrpSpPr>
          <p:cNvPr id="101447" name="Group 71"/>
          <p:cNvGrpSpPr/>
          <p:nvPr/>
        </p:nvGrpSpPr>
        <p:grpSpPr>
          <a:xfrm>
            <a:off x="584200" y="1528763"/>
            <a:ext cx="3832225" cy="4262437"/>
            <a:chOff x="368" y="963"/>
            <a:chExt cx="2414" cy="2685"/>
          </a:xfrm>
        </p:grpSpPr>
        <p:sp>
          <p:nvSpPr>
            <p:cNvPr id="6176" name="Line 29"/>
            <p:cNvSpPr/>
            <p:nvPr/>
          </p:nvSpPr>
          <p:spPr>
            <a:xfrm flipV="1">
              <a:off x="1543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7" name="Line 30"/>
            <p:cNvSpPr/>
            <p:nvPr/>
          </p:nvSpPr>
          <p:spPr>
            <a:xfrm flipV="1">
              <a:off x="2205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8" name="Line 31"/>
            <p:cNvSpPr/>
            <p:nvPr/>
          </p:nvSpPr>
          <p:spPr>
            <a:xfrm flipV="1">
              <a:off x="1874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79" name="Line 32"/>
            <p:cNvSpPr/>
            <p:nvPr/>
          </p:nvSpPr>
          <p:spPr>
            <a:xfrm flipV="1">
              <a:off x="1212" y="963"/>
              <a:ext cx="0" cy="22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6180" name="Line 33"/>
            <p:cNvSpPr/>
            <p:nvPr/>
          </p:nvSpPr>
          <p:spPr>
            <a:xfrm>
              <a:off x="881" y="3195"/>
              <a:ext cx="184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6181" name="Group 34"/>
            <p:cNvGrpSpPr/>
            <p:nvPr/>
          </p:nvGrpSpPr>
          <p:grpSpPr>
            <a:xfrm>
              <a:off x="1129" y="3196"/>
              <a:ext cx="165" cy="452"/>
              <a:chOff x="1455" y="1538"/>
              <a:chExt cx="124" cy="485"/>
            </a:xfrm>
          </p:grpSpPr>
          <p:sp>
            <p:nvSpPr>
              <p:cNvPr id="6196" name="Line 35"/>
              <p:cNvSpPr/>
              <p:nvPr/>
            </p:nvSpPr>
            <p:spPr>
              <a:xfrm>
                <a:off x="1460" y="1763"/>
                <a:ext cx="119" cy="1"/>
              </a:xfrm>
              <a:prstGeom prst="line">
                <a:avLst/>
              </a:prstGeom>
              <a:ln w="7938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7" name="Rectangle 36"/>
              <p:cNvSpPr/>
              <p:nvPr/>
            </p:nvSpPr>
            <p:spPr>
              <a:xfrm>
                <a:off x="1477" y="1786"/>
                <a:ext cx="6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8" name="Rectangle 37"/>
              <p:cNvSpPr/>
              <p:nvPr/>
            </p:nvSpPr>
            <p:spPr>
              <a:xfrm>
                <a:off x="1455" y="1538"/>
                <a:ext cx="77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82" name="Group 38"/>
            <p:cNvGrpSpPr/>
            <p:nvPr/>
          </p:nvGrpSpPr>
          <p:grpSpPr>
            <a:xfrm>
              <a:off x="1460" y="3195"/>
              <a:ext cx="165" cy="452"/>
              <a:chOff x="1887" y="1201"/>
              <a:chExt cx="124" cy="485"/>
            </a:xfrm>
          </p:grpSpPr>
          <p:sp>
            <p:nvSpPr>
              <p:cNvPr id="6193" name="Line 39"/>
              <p:cNvSpPr/>
              <p:nvPr/>
            </p:nvSpPr>
            <p:spPr>
              <a:xfrm>
                <a:off x="1892" y="1427"/>
                <a:ext cx="119" cy="1"/>
              </a:xfrm>
              <a:prstGeom prst="line">
                <a:avLst/>
              </a:prstGeom>
              <a:ln w="7938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4" name="Rectangle 40"/>
              <p:cNvSpPr/>
              <p:nvPr/>
            </p:nvSpPr>
            <p:spPr>
              <a:xfrm>
                <a:off x="1909" y="1449"/>
                <a:ext cx="6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5" name="Rectangle 41"/>
              <p:cNvSpPr/>
              <p:nvPr/>
            </p:nvSpPr>
            <p:spPr>
              <a:xfrm>
                <a:off x="1887" y="1201"/>
                <a:ext cx="77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183" name="Group 42"/>
            <p:cNvGrpSpPr/>
            <p:nvPr/>
          </p:nvGrpSpPr>
          <p:grpSpPr>
            <a:xfrm>
              <a:off x="1791" y="3195"/>
              <a:ext cx="207" cy="451"/>
              <a:chOff x="2236" y="1537"/>
              <a:chExt cx="200" cy="484"/>
            </a:xfrm>
          </p:grpSpPr>
          <p:sp>
            <p:nvSpPr>
              <p:cNvPr id="6189" name="Line 43"/>
              <p:cNvSpPr/>
              <p:nvPr/>
            </p:nvSpPr>
            <p:spPr>
              <a:xfrm>
                <a:off x="2236" y="1763"/>
                <a:ext cx="200" cy="1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6190" name="Rectangle 44"/>
              <p:cNvSpPr/>
              <p:nvPr/>
            </p:nvSpPr>
            <p:spPr>
              <a:xfrm>
                <a:off x="2294" y="1784"/>
                <a:ext cx="90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1" name="Rectangle 45"/>
              <p:cNvSpPr/>
              <p:nvPr/>
            </p:nvSpPr>
            <p:spPr>
              <a:xfrm>
                <a:off x="2236" y="1537"/>
                <a:ext cx="89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zh-CN" altLang="en-US" sz="23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2" name="Rectangle 46"/>
              <p:cNvSpPr/>
              <p:nvPr/>
            </p:nvSpPr>
            <p:spPr>
              <a:xfrm>
                <a:off x="2314" y="1537"/>
                <a:ext cx="98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pPr eaLnBrk="1" hangingPunct="1"/>
                <a:r>
                  <a:rPr lang="en-US" altLang="zh-CN" sz="2300" i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84" name="Text Box 47"/>
            <p:cNvSpPr txBox="1"/>
            <p:nvPr/>
          </p:nvSpPr>
          <p:spPr>
            <a:xfrm>
              <a:off x="368" y="2039"/>
              <a:ext cx="5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能量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85" name="Line 48"/>
            <p:cNvSpPr/>
            <p:nvPr/>
          </p:nvSpPr>
          <p:spPr>
            <a:xfrm flipV="1">
              <a:off x="881" y="2039"/>
              <a:ext cx="0" cy="11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86" name="Object 65"/>
            <p:cNvGraphicFramePr>
              <a:graphicFrameLocks noChangeAspect="1"/>
            </p:cNvGraphicFramePr>
            <p:nvPr/>
          </p:nvGraphicFramePr>
          <p:xfrm>
            <a:off x="673" y="3216"/>
            <a:ext cx="29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5" imgW="127000" imgH="139700" progId="Equation.3">
                    <p:embed/>
                  </p:oleObj>
                </mc:Choice>
                <mc:Fallback>
                  <p:oleObj name="" r:id="rId5" imgW="127000" imgH="1397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73" y="3216"/>
                          <a:ext cx="294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7" name="Object 66"/>
            <p:cNvGraphicFramePr>
              <a:graphicFrameLocks noChangeAspect="1"/>
            </p:cNvGraphicFramePr>
            <p:nvPr/>
          </p:nvGraphicFramePr>
          <p:xfrm>
            <a:off x="2592" y="3216"/>
            <a:ext cx="19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7" imgW="114300" imgH="215900" progId="Equation.3">
                    <p:embed/>
                  </p:oleObj>
                </mc:Choice>
                <mc:Fallback>
                  <p:oleObj name="" r:id="rId7" imgW="114300" imgH="2159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92" y="3216"/>
                          <a:ext cx="190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8" name="Object 68"/>
            <p:cNvGraphicFramePr>
              <a:graphicFrameLocks noChangeAspect="1"/>
            </p:cNvGraphicFramePr>
            <p:nvPr/>
          </p:nvGraphicFramePr>
          <p:xfrm>
            <a:off x="2128" y="3216"/>
            <a:ext cx="22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9" imgW="139700" imgH="165100" progId="Equation.3">
                    <p:embed/>
                  </p:oleObj>
                </mc:Choice>
                <mc:Fallback>
                  <p:oleObj name="" r:id="rId9" imgW="139700" imgH="1651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28" y="3216"/>
                          <a:ext cx="224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464" name="Group 88"/>
          <p:cNvGrpSpPr/>
          <p:nvPr/>
        </p:nvGrpSpPr>
        <p:grpSpPr>
          <a:xfrm>
            <a:off x="644525" y="1257300"/>
            <a:ext cx="6480175" cy="1866900"/>
            <a:chOff x="406" y="792"/>
            <a:chExt cx="4082" cy="1176"/>
          </a:xfrm>
        </p:grpSpPr>
        <p:sp>
          <p:nvSpPr>
            <p:cNvPr id="6160" name="Rectangle 16"/>
            <p:cNvSpPr/>
            <p:nvPr/>
          </p:nvSpPr>
          <p:spPr>
            <a:xfrm>
              <a:off x="1821" y="894"/>
              <a:ext cx="260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1" name="Rectangle 17"/>
            <p:cNvSpPr/>
            <p:nvPr/>
          </p:nvSpPr>
          <p:spPr>
            <a:xfrm>
              <a:off x="696" y="1053"/>
              <a:ext cx="215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2" name="Rectangle 18"/>
            <p:cNvSpPr/>
            <p:nvPr/>
          </p:nvSpPr>
          <p:spPr>
            <a:xfrm>
              <a:off x="737" y="1332"/>
              <a:ext cx="17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3" name="Freeform 74"/>
            <p:cNvSpPr/>
            <p:nvPr/>
          </p:nvSpPr>
          <p:spPr>
            <a:xfrm>
              <a:off x="888" y="1008"/>
              <a:ext cx="3456" cy="828"/>
            </a:xfrm>
            <a:custGeom>
              <a:avLst/>
              <a:gdLst/>
              <a:ahLst/>
              <a:cxnLst>
                <a:cxn ang="0">
                  <a:pos x="0" y="325"/>
                </a:cxn>
                <a:cxn ang="0">
                  <a:pos x="592" y="649"/>
                </a:cxn>
                <a:cxn ang="0">
                  <a:pos x="1184" y="325"/>
                </a:cxn>
                <a:cxn ang="0">
                  <a:pos x="1777" y="0"/>
                </a:cxn>
                <a:cxn ang="0">
                  <a:pos x="2369" y="325"/>
                </a:cxn>
                <a:cxn ang="0">
                  <a:pos x="2961" y="649"/>
                </a:cxn>
                <a:cxn ang="0">
                  <a:pos x="3553" y="325"/>
                </a:cxn>
                <a:cxn ang="0">
                  <a:pos x="4144" y="0"/>
                </a:cxn>
                <a:cxn ang="0">
                  <a:pos x="4736" y="325"/>
                </a:cxn>
                <a:cxn ang="0">
                  <a:pos x="5330" y="649"/>
                </a:cxn>
                <a:cxn ang="0">
                  <a:pos x="5922" y="325"/>
                </a:cxn>
                <a:cxn ang="0">
                  <a:pos x="6069" y="236"/>
                </a:cxn>
              </a:cxnLst>
              <a:pathLst>
                <a:path w="1968" h="1056">
                  <a:moveTo>
                    <a:pt x="0" y="528"/>
                  </a:moveTo>
                  <a:cubicBezTo>
                    <a:pt x="64" y="792"/>
                    <a:pt x="128" y="1056"/>
                    <a:pt x="192" y="1056"/>
                  </a:cubicBezTo>
                  <a:cubicBezTo>
                    <a:pt x="256" y="1056"/>
                    <a:pt x="320" y="704"/>
                    <a:pt x="384" y="528"/>
                  </a:cubicBezTo>
                  <a:cubicBezTo>
                    <a:pt x="448" y="352"/>
                    <a:pt x="512" y="0"/>
                    <a:pt x="576" y="0"/>
                  </a:cubicBezTo>
                  <a:cubicBezTo>
                    <a:pt x="640" y="0"/>
                    <a:pt x="704" y="352"/>
                    <a:pt x="768" y="528"/>
                  </a:cubicBezTo>
                  <a:cubicBezTo>
                    <a:pt x="832" y="704"/>
                    <a:pt x="896" y="1056"/>
                    <a:pt x="960" y="1056"/>
                  </a:cubicBezTo>
                  <a:cubicBezTo>
                    <a:pt x="1024" y="1056"/>
                    <a:pt x="1088" y="704"/>
                    <a:pt x="1152" y="528"/>
                  </a:cubicBezTo>
                  <a:cubicBezTo>
                    <a:pt x="1216" y="352"/>
                    <a:pt x="1280" y="0"/>
                    <a:pt x="1344" y="0"/>
                  </a:cubicBezTo>
                  <a:cubicBezTo>
                    <a:pt x="1408" y="0"/>
                    <a:pt x="1472" y="352"/>
                    <a:pt x="1536" y="528"/>
                  </a:cubicBezTo>
                  <a:cubicBezTo>
                    <a:pt x="1600" y="704"/>
                    <a:pt x="1664" y="1056"/>
                    <a:pt x="1728" y="1056"/>
                  </a:cubicBezTo>
                  <a:cubicBezTo>
                    <a:pt x="1792" y="1056"/>
                    <a:pt x="1880" y="640"/>
                    <a:pt x="1920" y="528"/>
                  </a:cubicBezTo>
                  <a:cubicBezTo>
                    <a:pt x="1960" y="416"/>
                    <a:pt x="1960" y="408"/>
                    <a:pt x="1968" y="384"/>
                  </a:cubicBez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" name="Freeform 76"/>
            <p:cNvSpPr/>
            <p:nvPr/>
          </p:nvSpPr>
          <p:spPr>
            <a:xfrm rot="10800000">
              <a:off x="496" y="1184"/>
              <a:ext cx="3312" cy="528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544" y="264"/>
                </a:cxn>
                <a:cxn ang="0">
                  <a:pos x="1087" y="132"/>
                </a:cxn>
                <a:cxn ang="0">
                  <a:pos x="1631" y="0"/>
                </a:cxn>
                <a:cxn ang="0">
                  <a:pos x="2174" y="132"/>
                </a:cxn>
                <a:cxn ang="0">
                  <a:pos x="2720" y="264"/>
                </a:cxn>
                <a:cxn ang="0">
                  <a:pos x="3263" y="132"/>
                </a:cxn>
                <a:cxn ang="0">
                  <a:pos x="3807" y="0"/>
                </a:cxn>
                <a:cxn ang="0">
                  <a:pos x="4350" y="132"/>
                </a:cxn>
                <a:cxn ang="0">
                  <a:pos x="4894" y="264"/>
                </a:cxn>
                <a:cxn ang="0">
                  <a:pos x="5438" y="132"/>
                </a:cxn>
                <a:cxn ang="0">
                  <a:pos x="5574" y="96"/>
                </a:cxn>
              </a:cxnLst>
              <a:pathLst>
                <a:path w="1968" h="1056">
                  <a:moveTo>
                    <a:pt x="0" y="528"/>
                  </a:moveTo>
                  <a:cubicBezTo>
                    <a:pt x="64" y="792"/>
                    <a:pt x="128" y="1056"/>
                    <a:pt x="192" y="1056"/>
                  </a:cubicBezTo>
                  <a:cubicBezTo>
                    <a:pt x="256" y="1056"/>
                    <a:pt x="320" y="704"/>
                    <a:pt x="384" y="528"/>
                  </a:cubicBezTo>
                  <a:cubicBezTo>
                    <a:pt x="448" y="352"/>
                    <a:pt x="512" y="0"/>
                    <a:pt x="576" y="0"/>
                  </a:cubicBezTo>
                  <a:cubicBezTo>
                    <a:pt x="640" y="0"/>
                    <a:pt x="704" y="352"/>
                    <a:pt x="768" y="528"/>
                  </a:cubicBezTo>
                  <a:cubicBezTo>
                    <a:pt x="832" y="704"/>
                    <a:pt x="896" y="1056"/>
                    <a:pt x="960" y="1056"/>
                  </a:cubicBezTo>
                  <a:cubicBezTo>
                    <a:pt x="1024" y="1056"/>
                    <a:pt x="1088" y="704"/>
                    <a:pt x="1152" y="528"/>
                  </a:cubicBezTo>
                  <a:cubicBezTo>
                    <a:pt x="1216" y="352"/>
                    <a:pt x="1280" y="0"/>
                    <a:pt x="1344" y="0"/>
                  </a:cubicBezTo>
                  <a:cubicBezTo>
                    <a:pt x="1408" y="0"/>
                    <a:pt x="1472" y="352"/>
                    <a:pt x="1536" y="528"/>
                  </a:cubicBezTo>
                  <a:cubicBezTo>
                    <a:pt x="1600" y="704"/>
                    <a:pt x="1664" y="1056"/>
                    <a:pt x="1728" y="1056"/>
                  </a:cubicBezTo>
                  <a:cubicBezTo>
                    <a:pt x="1792" y="1056"/>
                    <a:pt x="1880" y="640"/>
                    <a:pt x="1920" y="528"/>
                  </a:cubicBezTo>
                  <a:cubicBezTo>
                    <a:pt x="1960" y="416"/>
                    <a:pt x="1960" y="408"/>
                    <a:pt x="1968" y="384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5" name="Rectangle 75"/>
            <p:cNvSpPr/>
            <p:nvPr/>
          </p:nvSpPr>
          <p:spPr>
            <a:xfrm>
              <a:off x="2424" y="960"/>
              <a:ext cx="2064" cy="100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6" name="Rectangle 77"/>
            <p:cNvSpPr/>
            <p:nvPr/>
          </p:nvSpPr>
          <p:spPr>
            <a:xfrm>
              <a:off x="2520" y="1296"/>
              <a:ext cx="720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7" name="Rectangle 78"/>
            <p:cNvSpPr/>
            <p:nvPr/>
          </p:nvSpPr>
          <p:spPr>
            <a:xfrm>
              <a:off x="406" y="1056"/>
              <a:ext cx="490" cy="86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68" name="Object 79"/>
            <p:cNvGraphicFramePr>
              <a:graphicFrameLocks noChangeAspect="1"/>
            </p:cNvGraphicFramePr>
            <p:nvPr/>
          </p:nvGraphicFramePr>
          <p:xfrm>
            <a:off x="2424" y="1104"/>
            <a:ext cx="52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1" imgW="368300" imgH="177800" progId="Equation.3">
                    <p:embed/>
                  </p:oleObj>
                </mc:Choice>
                <mc:Fallback>
                  <p:oleObj name="" r:id="rId11" imgW="368300" imgH="1778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24" y="1104"/>
                          <a:ext cx="523" cy="24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CCCC"/>
                            </a:gs>
                            <a:gs pos="50000">
                              <a:srgbClr val="FFFFFF"/>
                            </a:gs>
                            <a:gs pos="100000">
                              <a:srgbClr val="FFCCCC"/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9" name="Object 80"/>
            <p:cNvGraphicFramePr>
              <a:graphicFrameLocks noChangeAspect="1"/>
            </p:cNvGraphicFramePr>
            <p:nvPr/>
          </p:nvGraphicFramePr>
          <p:xfrm>
            <a:off x="2448" y="1680"/>
            <a:ext cx="48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3" imgW="380365" imgH="177800" progId="Equation.3">
                    <p:embed/>
                  </p:oleObj>
                </mc:Choice>
                <mc:Fallback>
                  <p:oleObj name="" r:id="rId13" imgW="380365" imgH="1778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48" y="1680"/>
                          <a:ext cx="480" cy="215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CCECFF">
                                <a:alpha val="50000"/>
                              </a:srgbClr>
                            </a:gs>
                            <a:gs pos="50000">
                              <a:srgbClr val="FFFFFF"/>
                            </a:gs>
                            <a:gs pos="100000">
                              <a:srgbClr val="CCECFF">
                                <a:alpha val="50000"/>
                              </a:srgbClr>
                            </a:gs>
                          </a:gsLst>
                          <a:lin ang="5400000" scaled="1"/>
                          <a:tileRect/>
                        </a:gradFill>
                        <a:ln w="1905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81"/>
            <p:cNvGraphicFramePr>
              <a:graphicFrameLocks noChangeAspect="1"/>
            </p:cNvGraphicFramePr>
            <p:nvPr/>
          </p:nvGraphicFramePr>
          <p:xfrm>
            <a:off x="456" y="792"/>
            <a:ext cx="432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5" imgW="266065" imgH="165100" progId="Equation.3">
                    <p:embed/>
                  </p:oleObj>
                </mc:Choice>
                <mc:Fallback>
                  <p:oleObj name="" r:id="rId15" imgW="266065" imgH="1651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56" y="792"/>
                          <a:ext cx="432" cy="2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1" name="Object 82"/>
            <p:cNvGraphicFramePr>
              <a:graphicFrameLocks noChangeAspect="1"/>
            </p:cNvGraphicFramePr>
            <p:nvPr/>
          </p:nvGraphicFramePr>
          <p:xfrm>
            <a:off x="2624" y="1439"/>
            <a:ext cx="19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7" imgW="114300" imgH="215900" progId="Equation.3">
                    <p:embed/>
                  </p:oleObj>
                </mc:Choice>
                <mc:Fallback>
                  <p:oleObj name="" r:id="rId17" imgW="114300" imgH="2159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24" y="1439"/>
                          <a:ext cx="190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2" name="Line 83"/>
            <p:cNvSpPr/>
            <p:nvPr/>
          </p:nvSpPr>
          <p:spPr>
            <a:xfrm flipV="1">
              <a:off x="888" y="932"/>
              <a:ext cx="0" cy="10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73" name="Object 84"/>
            <p:cNvGraphicFramePr>
              <a:graphicFrameLocks noChangeAspect="1"/>
            </p:cNvGraphicFramePr>
            <p:nvPr/>
          </p:nvGraphicFramePr>
          <p:xfrm>
            <a:off x="580" y="1292"/>
            <a:ext cx="31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8" imgW="127000" imgH="139700" progId="Equation.3">
                    <p:embed/>
                  </p:oleObj>
                </mc:Choice>
                <mc:Fallback>
                  <p:oleObj name="" r:id="rId18" imgW="127000" imgH="139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0" y="1292"/>
                          <a:ext cx="316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4" name="Line 85"/>
            <p:cNvSpPr/>
            <p:nvPr/>
          </p:nvSpPr>
          <p:spPr>
            <a:xfrm>
              <a:off x="888" y="1440"/>
              <a:ext cx="18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6175" name="Object 86"/>
            <p:cNvGraphicFramePr>
              <a:graphicFrameLocks noChangeAspect="1"/>
            </p:cNvGraphicFramePr>
            <p:nvPr/>
          </p:nvGraphicFramePr>
          <p:xfrm>
            <a:off x="2016" y="1432"/>
            <a:ext cx="224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9" imgW="139700" imgH="165100" progId="Equation.3">
                    <p:embed/>
                  </p:oleObj>
                </mc:Choice>
                <mc:Fallback>
                  <p:oleObj name="" r:id="rId19" imgW="139700" imgH="1651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16" y="1432"/>
                          <a:ext cx="224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385" name="Object 9"/>
          <p:cNvGraphicFramePr>
            <a:graphicFrameLocks noChangeAspect="1"/>
          </p:cNvGraphicFramePr>
          <p:nvPr/>
        </p:nvGraphicFramePr>
        <p:xfrm>
          <a:off x="5410200" y="1878013"/>
          <a:ext cx="20637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0" imgW="939165" imgH="203200" progId="Equation.3">
                  <p:embed/>
                </p:oleObj>
              </mc:Choice>
              <mc:Fallback>
                <p:oleObj name="" r:id="rId20" imgW="939165" imgH="203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10200" y="1878013"/>
                        <a:ext cx="2063750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10"/>
          <p:cNvGraphicFramePr>
            <a:graphicFrameLocks noChangeAspect="1"/>
          </p:cNvGraphicFramePr>
          <p:nvPr/>
        </p:nvGraphicFramePr>
        <p:xfrm>
          <a:off x="5410200" y="2386013"/>
          <a:ext cx="26781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2" imgW="1180465" imgH="203200" progId="Equation.3">
                  <p:embed/>
                </p:oleObj>
              </mc:Choice>
              <mc:Fallback>
                <p:oleObj name="" r:id="rId22" imgW="1180465" imgH="2032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10200" y="2386013"/>
                        <a:ext cx="2678113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7"/>
          <p:cNvGraphicFramePr>
            <a:graphicFrameLocks noChangeAspect="1"/>
          </p:cNvGraphicFramePr>
          <p:nvPr/>
        </p:nvGraphicFramePr>
        <p:xfrm>
          <a:off x="4851400" y="2895600"/>
          <a:ext cx="21590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4" imgW="761365" imgH="469900" progId="Equation.3">
                  <p:embed/>
                </p:oleObj>
              </mc:Choice>
              <mc:Fallback>
                <p:oleObj name="" r:id="rId24" imgW="761365" imgH="469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51400" y="2895600"/>
                        <a:ext cx="2159000" cy="10064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5410200" y="1404938"/>
          <a:ext cx="10080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6" imgW="444500" imgH="241300" progId="Equation.3">
                  <p:embed/>
                </p:oleObj>
              </mc:Choice>
              <mc:Fallback>
                <p:oleObj name="" r:id="rId26" imgW="444500" imgH="2413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410200" y="1404938"/>
                        <a:ext cx="100806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3"/>
          <p:cNvSpPr txBox="1">
            <a:spLocks noChangeArrowheads="1"/>
          </p:cNvSpPr>
          <p:nvPr/>
        </p:nvSpPr>
        <p:spPr bwMode="auto">
          <a:xfrm>
            <a:off x="1066800" y="685800"/>
            <a:ext cx="3860800" cy="121761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b="1" kern="1200" cap="none" spc="0" normalizeH="0" baseline="0" noProof="0" dirty="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简谐振动能量守恒，振幅不变</a:t>
            </a:r>
            <a:endParaRPr kumimoji="0" lang="zh-CN" altLang="en-US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71" name="Object 51"/>
          <p:cNvGraphicFramePr>
            <a:graphicFrameLocks noChangeAspect="1"/>
          </p:cNvGraphicFramePr>
          <p:nvPr/>
        </p:nvGraphicFramePr>
        <p:xfrm>
          <a:off x="5562600" y="884238"/>
          <a:ext cx="2209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761365" imgH="469900" progId="Equation.3">
                  <p:embed/>
                </p:oleObj>
              </mc:Choice>
              <mc:Fallback>
                <p:oleObj name="" r:id="rId1" imgW="761365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62600" y="884238"/>
                        <a:ext cx="2209800" cy="10017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9050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66"/>
          <p:cNvGrpSpPr/>
          <p:nvPr/>
        </p:nvGrpSpPr>
        <p:grpSpPr>
          <a:xfrm>
            <a:off x="1066800" y="2057400"/>
            <a:ext cx="6781800" cy="4191000"/>
            <a:chOff x="768" y="1296"/>
            <a:chExt cx="4272" cy="2784"/>
          </a:xfrm>
        </p:grpSpPr>
        <p:sp>
          <p:nvSpPr>
            <p:cNvPr id="7203" name="Rectangle 56"/>
            <p:cNvSpPr/>
            <p:nvPr/>
          </p:nvSpPr>
          <p:spPr>
            <a:xfrm>
              <a:off x="768" y="1296"/>
              <a:ext cx="4272" cy="27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04" name="Rectangle 41"/>
            <p:cNvSpPr/>
            <p:nvPr/>
          </p:nvSpPr>
          <p:spPr>
            <a:xfrm>
              <a:off x="1920" y="1353"/>
              <a:ext cx="2688" cy="38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r>
                <a:rPr lang="zh-CN" altLang="en-US" b="1" dirty="0">
                  <a:solidFill>
                    <a:srgbClr val="003300"/>
                  </a:solidFill>
                  <a:latin typeface="Times New Roman" panose="02020603050405020304" pitchFamily="18" charset="0"/>
                </a:rPr>
                <a:t>简谐运动势能曲线</a:t>
              </a:r>
              <a:endParaRPr lang="zh-CN" altLang="en-US" b="1" dirty="0">
                <a:solidFill>
                  <a:srgbClr val="0033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Freeform 23"/>
          <p:cNvSpPr/>
          <p:nvPr/>
        </p:nvSpPr>
        <p:spPr>
          <a:xfrm>
            <a:off x="2519363" y="3429000"/>
            <a:ext cx="3124200" cy="2070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1152" h="720">
                <a:moveTo>
                  <a:pt x="0" y="0"/>
                </a:moveTo>
                <a:cubicBezTo>
                  <a:pt x="192" y="360"/>
                  <a:pt x="384" y="720"/>
                  <a:pt x="576" y="720"/>
                </a:cubicBezTo>
                <a:cubicBezTo>
                  <a:pt x="768" y="720"/>
                  <a:pt x="1056" y="120"/>
                  <a:pt x="1152" y="0"/>
                </a:cubicBez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p>
            <a:endParaRPr lang="zh-CN" altLang="en-US"/>
          </a:p>
        </p:txBody>
      </p:sp>
      <p:grpSp>
        <p:nvGrpSpPr>
          <p:cNvPr id="41" name="Group 75"/>
          <p:cNvGrpSpPr/>
          <p:nvPr/>
        </p:nvGrpSpPr>
        <p:grpSpPr>
          <a:xfrm>
            <a:off x="4267200" y="3429000"/>
            <a:ext cx="533400" cy="1249363"/>
            <a:chOff x="2688" y="2160"/>
            <a:chExt cx="336" cy="787"/>
          </a:xfrm>
        </p:grpSpPr>
        <p:sp>
          <p:nvSpPr>
            <p:cNvPr id="7201" name="Line 33"/>
            <p:cNvSpPr/>
            <p:nvPr/>
          </p:nvSpPr>
          <p:spPr>
            <a:xfrm>
              <a:off x="2976" y="2160"/>
              <a:ext cx="0" cy="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7202" name="Object 37"/>
            <p:cNvGraphicFramePr>
              <a:graphicFrameLocks noChangeAspect="1"/>
            </p:cNvGraphicFramePr>
            <p:nvPr/>
          </p:nvGraphicFramePr>
          <p:xfrm>
            <a:off x="2688" y="2450"/>
            <a:ext cx="336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3" imgW="176530" imgH="196215" progId="Equation.3">
                    <p:embed/>
                  </p:oleObj>
                </mc:Choice>
                <mc:Fallback>
                  <p:oleObj name="" r:id="rId3" imgW="176530" imgH="19621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88" y="2450"/>
                          <a:ext cx="336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Group 76"/>
          <p:cNvGrpSpPr/>
          <p:nvPr/>
        </p:nvGrpSpPr>
        <p:grpSpPr>
          <a:xfrm>
            <a:off x="5105400" y="4648200"/>
            <a:ext cx="523875" cy="838200"/>
            <a:chOff x="3216" y="2928"/>
            <a:chExt cx="330" cy="528"/>
          </a:xfrm>
        </p:grpSpPr>
        <p:sp>
          <p:nvSpPr>
            <p:cNvPr id="7199" name="Line 34"/>
            <p:cNvSpPr/>
            <p:nvPr/>
          </p:nvSpPr>
          <p:spPr>
            <a:xfrm>
              <a:off x="3216" y="2928"/>
              <a:ext cx="0" cy="52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</p:sp>
        <p:graphicFrame>
          <p:nvGraphicFramePr>
            <p:cNvPr id="7200" name="Object 38"/>
            <p:cNvGraphicFramePr>
              <a:graphicFrameLocks noChangeAspect="1"/>
            </p:cNvGraphicFramePr>
            <p:nvPr/>
          </p:nvGraphicFramePr>
          <p:xfrm>
            <a:off x="3264" y="3024"/>
            <a:ext cx="28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5" imgW="163195" imgH="215265" progId="Equation.3">
                    <p:embed/>
                  </p:oleObj>
                </mc:Choice>
                <mc:Fallback>
                  <p:oleObj name="" r:id="rId5" imgW="163195" imgH="215265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4" y="3024"/>
                          <a:ext cx="28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Group 74"/>
          <p:cNvGrpSpPr/>
          <p:nvPr/>
        </p:nvGrpSpPr>
        <p:grpSpPr>
          <a:xfrm>
            <a:off x="4062413" y="3429000"/>
            <a:ext cx="1347787" cy="2667000"/>
            <a:chOff x="2559" y="2160"/>
            <a:chExt cx="849" cy="1680"/>
          </a:xfrm>
        </p:grpSpPr>
        <p:sp>
          <p:nvSpPr>
            <p:cNvPr id="7195" name="Line 44"/>
            <p:cNvSpPr/>
            <p:nvPr/>
          </p:nvSpPr>
          <p:spPr>
            <a:xfrm>
              <a:off x="2559" y="3552"/>
              <a:ext cx="561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triangle" w="sm" len="lg"/>
              <a:tailEnd type="triangle" w="sm" len="lg"/>
            </a:ln>
          </p:spPr>
        </p:sp>
        <p:sp>
          <p:nvSpPr>
            <p:cNvPr id="7196" name="Line 31"/>
            <p:cNvSpPr/>
            <p:nvPr/>
          </p:nvSpPr>
          <p:spPr>
            <a:xfrm>
              <a:off x="3104" y="2160"/>
              <a:ext cx="0" cy="168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7197" name="Line 32"/>
            <p:cNvSpPr/>
            <p:nvPr/>
          </p:nvSpPr>
          <p:spPr>
            <a:xfrm flipH="1">
              <a:off x="2559" y="2928"/>
              <a:ext cx="849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none" w="sm" len="lg"/>
              <a:tailEnd type="none" w="sm" len="lg"/>
            </a:ln>
          </p:spPr>
        </p:sp>
        <p:graphicFrame>
          <p:nvGraphicFramePr>
            <p:cNvPr id="7198" name="Object 43"/>
            <p:cNvGraphicFramePr>
              <a:graphicFrameLocks noChangeAspect="1"/>
            </p:cNvGraphicFramePr>
            <p:nvPr/>
          </p:nvGraphicFramePr>
          <p:xfrm>
            <a:off x="2736" y="3552"/>
            <a:ext cx="19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7" imgW="156845" imgH="169545" progId="Equation.3">
                    <p:embed/>
                  </p:oleObj>
                </mc:Choice>
                <mc:Fallback>
                  <p:oleObj name="" r:id="rId7" imgW="156845" imgH="16954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3552"/>
                          <a:ext cx="19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Group 73"/>
          <p:cNvGrpSpPr/>
          <p:nvPr/>
        </p:nvGrpSpPr>
        <p:grpSpPr>
          <a:xfrm>
            <a:off x="1671638" y="2713038"/>
            <a:ext cx="5018087" cy="3414712"/>
            <a:chOff x="1053" y="1689"/>
            <a:chExt cx="3161" cy="2151"/>
          </a:xfrm>
        </p:grpSpPr>
        <p:graphicFrame>
          <p:nvGraphicFramePr>
            <p:cNvPr id="7188" name="Object 48"/>
            <p:cNvGraphicFramePr>
              <a:graphicFrameLocks noChangeAspect="1"/>
            </p:cNvGraphicFramePr>
            <p:nvPr/>
          </p:nvGraphicFramePr>
          <p:xfrm>
            <a:off x="3408" y="3496"/>
            <a:ext cx="28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9" imgW="393700" imgH="228600" progId="Equation.3">
                    <p:embed/>
                  </p:oleObj>
                </mc:Choice>
                <mc:Fallback>
                  <p:oleObj name="" r:id="rId9" imgW="393700" imgH="2286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08" y="3496"/>
                          <a:ext cx="28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9" name="Object 49"/>
            <p:cNvGraphicFramePr>
              <a:graphicFrameLocks noChangeAspect="1"/>
            </p:cNvGraphicFramePr>
            <p:nvPr/>
          </p:nvGraphicFramePr>
          <p:xfrm>
            <a:off x="1392" y="3491"/>
            <a:ext cx="288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1" imgW="393700" imgH="228600" progId="Equation.3">
                    <p:embed/>
                  </p:oleObj>
                </mc:Choice>
                <mc:Fallback>
                  <p:oleObj name="" r:id="rId11" imgW="393700" imgH="2286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92" y="3491"/>
                          <a:ext cx="288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0" name="Line 18"/>
            <p:cNvSpPr/>
            <p:nvPr/>
          </p:nvSpPr>
          <p:spPr>
            <a:xfrm>
              <a:off x="1053" y="3456"/>
              <a:ext cx="312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7191" name="Object 39"/>
            <p:cNvGraphicFramePr>
              <a:graphicFrameLocks noChangeAspect="1"/>
            </p:cNvGraphicFramePr>
            <p:nvPr/>
          </p:nvGraphicFramePr>
          <p:xfrm>
            <a:off x="2192" y="1689"/>
            <a:ext cx="37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3" imgW="190500" imgH="241300" progId="Equation.3">
                    <p:embed/>
                  </p:oleObj>
                </mc:Choice>
                <mc:Fallback>
                  <p:oleObj name="" r:id="rId13" imgW="190500" imgH="2413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92" y="1689"/>
                          <a:ext cx="379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2" name="Object 42"/>
            <p:cNvGraphicFramePr>
              <a:graphicFrameLocks noChangeAspect="1"/>
            </p:cNvGraphicFramePr>
            <p:nvPr/>
          </p:nvGraphicFramePr>
          <p:xfrm>
            <a:off x="4023" y="3504"/>
            <a:ext cx="19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5" imgW="177800" imgH="190500" progId="Equation.3">
                    <p:embed/>
                  </p:oleObj>
                </mc:Choice>
                <mc:Fallback>
                  <p:oleObj name="" r:id="rId15" imgW="177800" imgH="1905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23" y="3504"/>
                          <a:ext cx="191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3" name="Line 52"/>
            <p:cNvSpPr/>
            <p:nvPr/>
          </p:nvSpPr>
          <p:spPr>
            <a:xfrm flipV="1">
              <a:off x="2571" y="1776"/>
              <a:ext cx="0" cy="206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7194" name="Object 55"/>
            <p:cNvGraphicFramePr>
              <a:graphicFrameLocks noChangeAspect="1"/>
            </p:cNvGraphicFramePr>
            <p:nvPr/>
          </p:nvGraphicFramePr>
          <p:xfrm>
            <a:off x="2257" y="3504"/>
            <a:ext cx="33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7" imgW="152400" imgH="177800" progId="Equation.3">
                    <p:embed/>
                  </p:oleObj>
                </mc:Choice>
                <mc:Fallback>
                  <p:oleObj name="" r:id="rId17" imgW="152400" imgH="1778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257" y="3504"/>
                          <a:ext cx="334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77"/>
          <p:cNvGrpSpPr/>
          <p:nvPr/>
        </p:nvGrpSpPr>
        <p:grpSpPr>
          <a:xfrm>
            <a:off x="2135188" y="3232150"/>
            <a:ext cx="4189412" cy="2266950"/>
            <a:chOff x="1345" y="2036"/>
            <a:chExt cx="2639" cy="1428"/>
          </a:xfrm>
        </p:grpSpPr>
        <p:graphicFrame>
          <p:nvGraphicFramePr>
            <p:cNvPr id="7179" name="Object 47"/>
            <p:cNvGraphicFramePr>
              <a:graphicFrameLocks noChangeAspect="1"/>
            </p:cNvGraphicFramePr>
            <p:nvPr/>
          </p:nvGraphicFramePr>
          <p:xfrm>
            <a:off x="2352" y="2186"/>
            <a:ext cx="240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9" imgW="196215" imgH="202565" progId="Equation.3">
                    <p:embed/>
                  </p:oleObj>
                </mc:Choice>
                <mc:Fallback>
                  <p:oleObj name="" r:id="rId19" imgW="196215" imgH="2025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52" y="2186"/>
                          <a:ext cx="240" cy="2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80" name="Group 72"/>
            <p:cNvGrpSpPr/>
            <p:nvPr/>
          </p:nvGrpSpPr>
          <p:grpSpPr>
            <a:xfrm>
              <a:off x="1345" y="2036"/>
              <a:ext cx="2639" cy="1428"/>
              <a:chOff x="1345" y="2036"/>
              <a:chExt cx="2639" cy="1428"/>
            </a:xfrm>
          </p:grpSpPr>
          <p:sp>
            <p:nvSpPr>
              <p:cNvPr id="7181" name="Line 20"/>
              <p:cNvSpPr/>
              <p:nvPr/>
            </p:nvSpPr>
            <p:spPr>
              <a:xfrm flipV="1">
                <a:off x="1607" y="2160"/>
                <a:ext cx="0" cy="130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7182" name="Line 21"/>
              <p:cNvSpPr/>
              <p:nvPr/>
            </p:nvSpPr>
            <p:spPr>
              <a:xfrm flipV="1">
                <a:off x="3555" y="2160"/>
                <a:ext cx="0" cy="130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</p:sp>
          <p:sp>
            <p:nvSpPr>
              <p:cNvPr id="7183" name="Line 22"/>
              <p:cNvSpPr/>
              <p:nvPr/>
            </p:nvSpPr>
            <p:spPr>
              <a:xfrm>
                <a:off x="1587" y="2176"/>
                <a:ext cx="1965" cy="0"/>
              </a:xfrm>
              <a:prstGeom prst="line">
                <a:avLst/>
              </a:prstGeom>
              <a:ln w="28575" cap="flat" cmpd="sng">
                <a:solidFill>
                  <a:srgbClr val="009900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7184" name="Oval 24"/>
              <p:cNvSpPr/>
              <p:nvPr/>
            </p:nvSpPr>
            <p:spPr>
              <a:xfrm>
                <a:off x="1572" y="2152"/>
                <a:ext cx="60" cy="56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7185" name="Object 53"/>
              <p:cNvGraphicFramePr>
                <a:graphicFrameLocks noChangeAspect="1"/>
              </p:cNvGraphicFramePr>
              <p:nvPr/>
            </p:nvGraphicFramePr>
            <p:xfrm>
              <a:off x="3696" y="2036"/>
              <a:ext cx="288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3" name="" r:id="rId21" imgW="152400" imgH="165100" progId="Equation.3">
                      <p:embed/>
                    </p:oleObj>
                  </mc:Choice>
                  <mc:Fallback>
                    <p:oleObj name="" r:id="rId21" imgW="152400" imgH="165100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696" y="2036"/>
                            <a:ext cx="288" cy="22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54"/>
              <p:cNvGraphicFramePr>
                <a:graphicFrameLocks noChangeAspect="1"/>
              </p:cNvGraphicFramePr>
              <p:nvPr/>
            </p:nvGraphicFramePr>
            <p:xfrm>
              <a:off x="1345" y="2064"/>
              <a:ext cx="191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8" name="" r:id="rId23" imgW="152400" imgH="177800" progId="Equation.3">
                      <p:embed/>
                    </p:oleObj>
                  </mc:Choice>
                  <mc:Fallback>
                    <p:oleObj name="" r:id="rId23" imgW="152400" imgH="1778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345" y="2064"/>
                            <a:ext cx="191" cy="22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7" name="Oval 25"/>
              <p:cNvSpPr/>
              <p:nvPr/>
            </p:nvSpPr>
            <p:spPr>
              <a:xfrm>
                <a:off x="3507" y="2152"/>
                <a:ext cx="60" cy="56"/>
              </a:xfrm>
              <a:prstGeom prst="ellipse">
                <a:avLst/>
              </a:prstGeom>
              <a:solidFill>
                <a:srgbClr val="FF0000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533400" y="838200"/>
            <a:ext cx="8153400" cy="2405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  弹簧振子的动能     与位移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的关系如图所示，如果其最大动能为                   ，弹簧振子的质量为              ，则弹簧振子的角频率    是多少？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5" name="Object 4"/>
          <p:cNvGraphicFramePr>
            <a:graphicFrameLocks noChangeAspect="1"/>
          </p:cNvGraphicFramePr>
          <p:nvPr/>
        </p:nvGraphicFramePr>
        <p:xfrm>
          <a:off x="3911600" y="2135188"/>
          <a:ext cx="14525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20700" imgH="203200" progId="Equation.DSMT4">
                  <p:embed/>
                </p:oleObj>
              </mc:Choice>
              <mc:Fallback>
                <p:oleObj name="" r:id="rId1" imgW="520700" imgH="203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1600" y="2135188"/>
                        <a:ext cx="1452563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5"/>
          <p:cNvGraphicFramePr>
            <a:graphicFrameLocks noChangeAspect="1"/>
          </p:cNvGraphicFramePr>
          <p:nvPr/>
        </p:nvGraphicFramePr>
        <p:xfrm>
          <a:off x="1403350" y="2741613"/>
          <a:ext cx="3603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152400" imgH="139700" progId="Equation.DSMT4">
                  <p:embed/>
                </p:oleObj>
              </mc:Choice>
              <mc:Fallback>
                <p:oleObj name="" r:id="rId3" imgW="152400" imgH="1397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2741613"/>
                        <a:ext cx="360363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5" imgW="114300" imgH="215900" progId="Equation.3">
                  <p:embed/>
                </p:oleObj>
              </mc:Choice>
              <mc:Fallback>
                <p:oleObj name="" r:id="rId5" imgW="114300" imgH="2159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11188" y="3141663"/>
            <a:ext cx="8075612" cy="2060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解   </a:t>
            </a:r>
            <a:r>
              <a:rPr lang="zh-CN" altLang="en-US" b="1" dirty="0">
                <a:latin typeface="Times New Roman" panose="02020603050405020304" pitchFamily="18" charset="0"/>
              </a:rPr>
              <a:t>由图可知，弹簧振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子的振幅            ，弹簧振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子的最大速率为       ，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</a:rPr>
              <a:t>所以有       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2268538" y="3716338"/>
          <a:ext cx="14192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508000" imgH="165100" progId="Equation.DSMT4">
                  <p:embed/>
                </p:oleObj>
              </mc:Choice>
              <mc:Fallback>
                <p:oleObj name="" r:id="rId7" imgW="508000" imgH="1651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68538" y="3716338"/>
                        <a:ext cx="141922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3587750" y="4149725"/>
          <a:ext cx="6000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9" imgW="253365" imgH="177800" progId="Equation.DSMT4">
                  <p:embed/>
                </p:oleObj>
              </mc:Choice>
              <mc:Fallback>
                <p:oleObj name="" r:id="rId9" imgW="253365" imgH="1778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7750" y="4149725"/>
                        <a:ext cx="600075" cy="509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2268538" y="5722938"/>
          <a:ext cx="24177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1" imgW="774065" imgH="203200" progId="Equation.DSMT4">
                  <p:embed/>
                </p:oleObj>
              </mc:Choice>
              <mc:Fallback>
                <p:oleObj name="" r:id="rId11" imgW="774065" imgH="2032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8538" y="5722938"/>
                        <a:ext cx="2417762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2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92725" y="3398838"/>
            <a:ext cx="3575050" cy="25352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203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92725" y="952500"/>
          <a:ext cx="4683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4" imgW="203200" imgH="215900" progId="Equation.KSEE3">
                  <p:embed/>
                </p:oleObj>
              </mc:Choice>
              <mc:Fallback>
                <p:oleObj name="" r:id="rId14" imgW="203200" imgH="2159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92725" y="952500"/>
                        <a:ext cx="468313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21375" y="1530350"/>
          <a:ext cx="19113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6" imgW="762000" imgH="241300" progId="Equation.KSEE3">
                  <p:embed/>
                </p:oleObj>
              </mc:Choice>
              <mc:Fallback>
                <p:oleObj name="" r:id="rId16" imgW="762000" imgH="2413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21375" y="1530350"/>
                        <a:ext cx="1911350" cy="60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03425" y="4813300"/>
          <a:ext cx="29464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8" imgW="1130300" imgH="393700" progId="Equation.KSEE3">
                  <p:embed/>
                </p:oleObj>
              </mc:Choice>
              <mc:Fallback>
                <p:oleObj name="" r:id="rId18" imgW="1130300" imgH="3937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03425" y="4813300"/>
                        <a:ext cx="2946400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8" name="Group 2"/>
          <p:cNvGrpSpPr/>
          <p:nvPr/>
        </p:nvGrpSpPr>
        <p:grpSpPr>
          <a:xfrm>
            <a:off x="742950" y="762000"/>
            <a:ext cx="6343650" cy="912813"/>
            <a:chOff x="1044" y="480"/>
            <a:chExt cx="3996" cy="575"/>
          </a:xfrm>
        </p:grpSpPr>
        <p:sp>
          <p:nvSpPr>
            <p:cNvPr id="9226" name="Rectangle 3"/>
            <p:cNvSpPr/>
            <p:nvPr/>
          </p:nvSpPr>
          <p:spPr>
            <a:xfrm>
              <a:off x="1044" y="687"/>
              <a:ext cx="15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能量守恒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27" name="Rectangle 4"/>
            <p:cNvSpPr/>
            <p:nvPr/>
          </p:nvSpPr>
          <p:spPr>
            <a:xfrm>
              <a:off x="3232" y="687"/>
              <a:ext cx="180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简谐振动方程</a:t>
              </a:r>
              <a:endPara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28" name="AutoShape 5"/>
            <p:cNvSpPr/>
            <p:nvPr/>
          </p:nvSpPr>
          <p:spPr>
            <a:xfrm>
              <a:off x="2256" y="816"/>
              <a:ext cx="864" cy="144"/>
            </a:xfrm>
            <a:prstGeom prst="rightArrow">
              <a:avLst>
                <a:gd name="adj1" fmla="val 50000"/>
                <a:gd name="adj2" fmla="val 150000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  <a:tileRect/>
            </a:gradFill>
            <a:ln w="2857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29" name="Text Box 6"/>
            <p:cNvSpPr txBox="1"/>
            <p:nvPr/>
          </p:nvSpPr>
          <p:spPr>
            <a:xfrm>
              <a:off x="2360" y="480"/>
              <a:ext cx="10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导出</a:t>
              </a:r>
              <a:endPara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02407" name="Object 7"/>
          <p:cNvGraphicFramePr>
            <a:graphicFrameLocks noChangeAspect="1"/>
          </p:cNvGraphicFramePr>
          <p:nvPr/>
        </p:nvGraphicFramePr>
        <p:xfrm>
          <a:off x="1508125" y="1727200"/>
          <a:ext cx="32496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600200" imgH="393700" progId="Equation.3">
                  <p:embed/>
                </p:oleObj>
              </mc:Choice>
              <mc:Fallback>
                <p:oleObj name="" r:id="rId1" imgW="1600200" imgH="3937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1727200"/>
                        <a:ext cx="3249613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8" name="Object 8"/>
          <p:cNvGraphicFramePr>
            <a:graphicFrameLocks noChangeAspect="1"/>
          </p:cNvGraphicFramePr>
          <p:nvPr/>
        </p:nvGraphicFramePr>
        <p:xfrm>
          <a:off x="1509713" y="2825750"/>
          <a:ext cx="2908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384300" imgH="393700" progId="Equation.3">
                  <p:embed/>
                </p:oleObj>
              </mc:Choice>
              <mc:Fallback>
                <p:oleObj name="" r:id="rId3" imgW="1384300" imgH="3937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9713" y="2825750"/>
                        <a:ext cx="2908300" cy="828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9" name="Object 9"/>
          <p:cNvGraphicFramePr>
            <a:graphicFrameLocks noChangeAspect="1"/>
          </p:cNvGraphicFramePr>
          <p:nvPr/>
        </p:nvGraphicFramePr>
        <p:xfrm>
          <a:off x="1204913" y="3794125"/>
          <a:ext cx="306228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1371600" imgH="469900" progId="Equation.3">
                  <p:embed/>
                </p:oleObj>
              </mc:Choice>
              <mc:Fallback>
                <p:oleObj name="" r:id="rId5" imgW="1371600" imgH="4699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04913" y="3794125"/>
                        <a:ext cx="3062287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10" name="Group 10"/>
          <p:cNvGrpSpPr/>
          <p:nvPr/>
        </p:nvGrpSpPr>
        <p:grpSpPr>
          <a:xfrm>
            <a:off x="1600200" y="3810000"/>
            <a:ext cx="1905000" cy="1066800"/>
            <a:chOff x="1248" y="3072"/>
            <a:chExt cx="1200" cy="672"/>
          </a:xfrm>
        </p:grpSpPr>
        <p:sp>
          <p:nvSpPr>
            <p:cNvPr id="9224" name="Line 11"/>
            <p:cNvSpPr/>
            <p:nvPr/>
          </p:nvSpPr>
          <p:spPr>
            <a:xfrm>
              <a:off x="1248" y="3168"/>
              <a:ext cx="96" cy="52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5" name="Line 12"/>
            <p:cNvSpPr/>
            <p:nvPr/>
          </p:nvSpPr>
          <p:spPr>
            <a:xfrm>
              <a:off x="2304" y="3072"/>
              <a:ext cx="144" cy="67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02413" name="Object 13"/>
          <p:cNvGraphicFramePr>
            <a:graphicFrameLocks noChangeAspect="1"/>
          </p:cNvGraphicFramePr>
          <p:nvPr/>
        </p:nvGraphicFramePr>
        <p:xfrm>
          <a:off x="1219200" y="4876800"/>
          <a:ext cx="30353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1066800" imgH="482600" progId="Equation.3">
                  <p:embed/>
                </p:oleObj>
              </mc:Choice>
              <mc:Fallback>
                <p:oleObj name="" r:id="rId7" imgW="1066800" imgH="482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19200" y="4876800"/>
                        <a:ext cx="3035300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533400" y="692150"/>
            <a:ext cx="8153400" cy="422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  如图所示，轻质弹簧的弹性系数为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</a:rPr>
              <a:t>，一端固定在墙上，另一端连接质量为</a:t>
            </a:r>
            <a:r>
              <a:rPr lang="en-US" altLang="zh-CN" b="1" dirty="0">
                <a:latin typeface="Times New Roman" panose="02020603050405020304" pitchFamily="18" charset="0"/>
              </a:rPr>
              <a:t>m'</a:t>
            </a:r>
            <a:r>
              <a:rPr lang="zh-CN" altLang="en-US" b="1" dirty="0">
                <a:latin typeface="Times New Roman" panose="02020603050405020304" pitchFamily="18" charset="0"/>
              </a:rPr>
              <a:t>的容器，容器可在光滑水平面上运动，当弹簧处于原长时容器位于点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</a:rPr>
              <a:t> 现使容器自点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左端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处从静止开始运动，每经过点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一次时，从上方滴管中滴入一滴质量为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的油滴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当容器被滴入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滴油滴后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4365625"/>
            <a:ext cx="3384550" cy="1866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18"/>
          <p:cNvSpPr txBox="1"/>
          <p:nvPr/>
        </p:nvSpPr>
        <p:spPr>
          <a:xfrm>
            <a:off x="827088" y="836613"/>
            <a:ext cx="7416800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问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容器运动到离点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的最远距离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是多少？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088" y="1989138"/>
            <a:ext cx="756126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b="1" dirty="0">
                <a:latin typeface="Times New Roman" panose="02020603050405020304" pitchFamily="18" charset="0"/>
              </a:rPr>
              <a:t>水平方向动量守恒，有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7088" y="3203575"/>
            <a:ext cx="7848600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容器初始运动到</a:t>
            </a:r>
            <a:r>
              <a:rPr lang="en-US" altLang="zh-CN" b="1" i="1" dirty="0">
                <a:latin typeface="Times New Roman" panose="02020603050405020304" pitchFamily="18" charset="0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</a:rPr>
              <a:t>时的动能与初始势能相等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55650" y="4716463"/>
            <a:ext cx="78486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滴油滴后，系统的动能等于最大势能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867400" y="5254625"/>
          <a:ext cx="2405063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939165" imgH="444500" progId="Equation.DSMT4">
                  <p:embed/>
                </p:oleObj>
              </mc:Choice>
              <mc:Fallback>
                <p:oleObj name="" r:id="rId1" imgW="939165" imgH="4445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67400" y="5254625"/>
                        <a:ext cx="2405063" cy="1138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914400" imgH="215900" progId="Equation.KSEE3">
                  <p:embed/>
                </p:oleObj>
              </mc:Choice>
              <mc:Fallback>
                <p:oleObj name="" r:id="rId3" imgW="914400" imgH="21590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3087688" y="2573338"/>
          <a:ext cx="31845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155700" imgH="228600" progId="Equation.3">
                  <p:embed/>
                </p:oleObj>
              </mc:Choice>
              <mc:Fallback>
                <p:oleObj name="" r:id="rId5" imgW="1155700" imgH="2286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7688" y="2573338"/>
                        <a:ext cx="3184525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348038" y="3630613"/>
          <a:ext cx="2519362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7" imgW="914400" imgH="393700" progId="Equation.3">
                  <p:embed/>
                </p:oleObj>
              </mc:Choice>
              <mc:Fallback>
                <p:oleObj name="" r:id="rId7" imgW="914400" imgH="393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8038" y="3630613"/>
                        <a:ext cx="2519362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1682750" y="5191125"/>
          <a:ext cx="36385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1320165" imgH="393700" progId="Equation.3">
                  <p:embed/>
                </p:oleObj>
              </mc:Choice>
              <mc:Fallback>
                <p:oleObj name="" r:id="rId9" imgW="1320165" imgH="3937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82750" y="5191125"/>
                        <a:ext cx="363855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18"/>
          <p:cNvSpPr txBox="1"/>
          <p:nvPr/>
        </p:nvSpPr>
        <p:spPr>
          <a:xfrm>
            <a:off x="827088" y="836613"/>
            <a:ext cx="7416800" cy="1077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问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</a:rPr>
              <a:t>容器运动到被滴入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+1</a:t>
            </a:r>
            <a:r>
              <a:rPr lang="zh-CN" altLang="en-US" b="1" dirty="0">
                <a:latin typeface="Times New Roman" panose="02020603050405020304" pitchFamily="18" charset="0"/>
              </a:rPr>
              <a:t>滴油滴的时间</a:t>
            </a:r>
            <a:r>
              <a:rPr lang="en-US" altLang="zh-CN" b="1" i="1" dirty="0">
                <a:latin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</a:rPr>
              <a:t>是多少？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088" y="1989138"/>
            <a:ext cx="78486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解  </a:t>
            </a:r>
            <a:r>
              <a:rPr lang="zh-CN" altLang="en-US" b="1" dirty="0">
                <a:latin typeface="Times New Roman" panose="02020603050405020304" pitchFamily="18" charset="0"/>
              </a:rPr>
              <a:t>从第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滴油滴滴入容器到第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+1</a:t>
            </a:r>
            <a:r>
              <a:rPr lang="zh-CN" altLang="en-US" b="1" dirty="0">
                <a:latin typeface="Times New Roman" panose="02020603050405020304" pitchFamily="18" charset="0"/>
              </a:rPr>
              <a:t>滴油滴滴入容器，所经历的时间为质量为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'+</a:t>
            </a:r>
            <a:r>
              <a:rPr lang="en-US" altLang="zh-CN" b="1" i="1" dirty="0">
                <a:latin typeface="Times New Roman" panose="02020603050405020304" pitchFamily="18" charset="0"/>
              </a:rPr>
              <a:t>nm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的弹簧系统振动周期的</a:t>
            </a:r>
            <a:r>
              <a:rPr lang="en-US" altLang="zh-CN" b="1" dirty="0">
                <a:latin typeface="Times New Roman" panose="02020603050405020304" pitchFamily="18" charset="0"/>
              </a:rPr>
              <a:t>1/2</a:t>
            </a:r>
            <a:r>
              <a:rPr lang="zh-CN" altLang="en-US" b="1" dirty="0">
                <a:latin typeface="Times New Roman" panose="02020603050405020304" pitchFamily="18" charset="0"/>
              </a:rPr>
              <a:t>，所以有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9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35275" y="3717925"/>
          <a:ext cx="4060825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320165" imgH="444500" progId="Equation.KSEE3">
                  <p:embed/>
                </p:oleObj>
              </mc:Choice>
              <mc:Fallback>
                <p:oleObj name="" r:id="rId1" imgW="1320165" imgH="4445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275" y="3717925"/>
                        <a:ext cx="4060825" cy="1366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533400" y="838200"/>
            <a:ext cx="8153400" cy="1273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例</a:t>
            </a: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  质量为            的物体，以振幅                                              作简谐振动，其最大加速度为                ，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求：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3309938" y="1016000"/>
          <a:ext cx="13811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609600" imgH="241300" progId="Equation.3">
                  <p:embed/>
                </p:oleObj>
              </mc:Choice>
              <mc:Fallback>
                <p:oleObj name="" r:id="rId1" imgW="6096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09938" y="1016000"/>
                        <a:ext cx="13811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7437438" y="990600"/>
          <a:ext cx="1431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901065" imgH="228600" progId="Equation.3">
                  <p:embed/>
                </p:oleObj>
              </mc:Choice>
              <mc:Fallback>
                <p:oleObj name="" r:id="rId3" imgW="901065" imgH="2286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37438" y="990600"/>
                        <a:ext cx="1431925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3"/>
          <p:cNvGraphicFramePr>
            <a:graphicFrameLocks noChangeAspect="1"/>
          </p:cNvGraphicFramePr>
          <p:nvPr/>
        </p:nvGraphicFramePr>
        <p:xfrm>
          <a:off x="4667250" y="40068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114300" imgH="215900" progId="Equation.3">
                  <p:embed/>
                </p:oleObj>
              </mc:Choice>
              <mc:Fallback>
                <p:oleObj name="" r:id="rId5" imgW="114300" imgH="2159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7250" y="40068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7"/>
          <p:cNvSpPr/>
          <p:nvPr/>
        </p:nvSpPr>
        <p:spPr>
          <a:xfrm>
            <a:off x="1219200" y="2362200"/>
            <a:ext cx="67818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（1）</a:t>
            </a:r>
            <a:r>
              <a:rPr lang="zh-CN" altLang="en-US" b="1" dirty="0">
                <a:latin typeface="Times New Roman" panose="02020603050405020304" pitchFamily="18" charset="0"/>
              </a:rPr>
              <a:t>振动的周期；    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19" name="Rectangle 8"/>
          <p:cNvSpPr/>
          <p:nvPr/>
        </p:nvSpPr>
        <p:spPr>
          <a:xfrm>
            <a:off x="1219200" y="3209925"/>
            <a:ext cx="57912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（2）</a:t>
            </a:r>
            <a:r>
              <a:rPr lang="zh-CN" altLang="en-US" b="1" dirty="0">
                <a:latin typeface="Times New Roman" panose="02020603050405020304" pitchFamily="18" charset="0"/>
              </a:rPr>
              <a:t>通过平衡位置的动能；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20" name="Rectangle 9"/>
          <p:cNvSpPr/>
          <p:nvPr/>
        </p:nvSpPr>
        <p:spPr>
          <a:xfrm>
            <a:off x="1219200" y="3971925"/>
            <a:ext cx="45720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（3）</a:t>
            </a:r>
            <a:r>
              <a:rPr lang="zh-CN" altLang="en-US" b="1" dirty="0">
                <a:latin typeface="Times New Roman" panose="02020603050405020304" pitchFamily="18" charset="0"/>
              </a:rPr>
              <a:t>总能量；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3321" name="Rectangle 10"/>
          <p:cNvSpPr/>
          <p:nvPr/>
        </p:nvSpPr>
        <p:spPr>
          <a:xfrm>
            <a:off x="1219200" y="4724400"/>
            <a:ext cx="7240588" cy="682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（4）</a:t>
            </a:r>
            <a:r>
              <a:rPr lang="zh-CN" altLang="en-US" b="1" dirty="0">
                <a:latin typeface="Times New Roman" panose="02020603050405020304" pitchFamily="18" charset="0"/>
              </a:rPr>
              <a:t>物体在何处时其动能和势能相等？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322" name="Object 21"/>
          <p:cNvGraphicFramePr>
            <a:graphicFrameLocks noChangeAspect="1"/>
          </p:cNvGraphicFramePr>
          <p:nvPr/>
        </p:nvGraphicFramePr>
        <p:xfrm>
          <a:off x="5978525" y="1549400"/>
          <a:ext cx="16065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7" imgW="749300" imgH="228600" progId="Equation.3">
                  <p:embed/>
                </p:oleObj>
              </mc:Choice>
              <mc:Fallback>
                <p:oleObj name="" r:id="rId7" imgW="749300" imgH="2286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78525" y="1549400"/>
                        <a:ext cx="1606550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4419600" y="2286000"/>
          <a:ext cx="17875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812165" imgH="520700" progId="Equation.3">
                  <p:embed/>
                </p:oleObj>
              </mc:Choice>
              <mc:Fallback>
                <p:oleObj name="" r:id="rId1" imgW="812165" imgH="5207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9600" y="2286000"/>
                        <a:ext cx="1787525" cy="1103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2459038" y="3490913"/>
          <a:ext cx="29940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3" imgW="1320165" imgH="469900" progId="Equation.3">
                  <p:embed/>
                </p:oleObj>
              </mc:Choice>
              <mc:Fallback>
                <p:oleObj name="" r:id="rId3" imgW="1320165" imgH="469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9038" y="3490913"/>
                        <a:ext cx="2994025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6283325" y="2590800"/>
          <a:ext cx="13668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584200" imgH="228600" progId="Equation.3">
                  <p:embed/>
                </p:oleObj>
              </mc:Choice>
              <mc:Fallback>
                <p:oleObj name="" r:id="rId5" imgW="584200" imgH="2286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3325" y="2590800"/>
                        <a:ext cx="1366838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3375025" y="5638800"/>
          <a:ext cx="2774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990600" imgH="228600" progId="Equation.3">
                  <p:embed/>
                </p:oleObj>
              </mc:Choice>
              <mc:Fallback>
                <p:oleObj name="" r:id="rId7" imgW="990600" imgH="2286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75025" y="5638800"/>
                        <a:ext cx="277495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493" name="Group 21"/>
          <p:cNvGrpSpPr/>
          <p:nvPr/>
        </p:nvGrpSpPr>
        <p:grpSpPr>
          <a:xfrm>
            <a:off x="1473200" y="4419600"/>
            <a:ext cx="5311775" cy="992188"/>
            <a:chOff x="480" y="2640"/>
            <a:chExt cx="3346" cy="625"/>
          </a:xfrm>
        </p:grpSpPr>
        <p:sp>
          <p:nvSpPr>
            <p:cNvPr id="14352" name="Text Box 7"/>
            <p:cNvSpPr txBox="1"/>
            <p:nvPr/>
          </p:nvSpPr>
          <p:spPr>
            <a:xfrm>
              <a:off x="480" y="2784"/>
              <a:ext cx="13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（2）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3" name="Object 9"/>
            <p:cNvGraphicFramePr>
              <a:graphicFrameLocks noChangeAspect="1"/>
            </p:cNvGraphicFramePr>
            <p:nvPr/>
          </p:nvGraphicFramePr>
          <p:xfrm>
            <a:off x="1104" y="2640"/>
            <a:ext cx="2722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9" imgW="2044700" imgH="469900" progId="Equation.3">
                    <p:embed/>
                  </p:oleObj>
                </mc:Choice>
                <mc:Fallback>
                  <p:oleObj name="" r:id="rId9" imgW="2044700" imgH="4699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04" y="2640"/>
                          <a:ext cx="2722" cy="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5492" name="Group 20"/>
          <p:cNvGrpSpPr/>
          <p:nvPr/>
        </p:nvGrpSpPr>
        <p:grpSpPr>
          <a:xfrm>
            <a:off x="990600" y="2590800"/>
            <a:ext cx="3263900" cy="676275"/>
            <a:chOff x="624" y="1632"/>
            <a:chExt cx="2056" cy="426"/>
          </a:xfrm>
        </p:grpSpPr>
        <p:sp>
          <p:nvSpPr>
            <p:cNvPr id="14350" name="Text Box 2"/>
            <p:cNvSpPr txBox="1"/>
            <p:nvPr/>
          </p:nvSpPr>
          <p:spPr>
            <a:xfrm>
              <a:off x="624" y="1632"/>
              <a:ext cx="1536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解（1）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1" name="Object 12"/>
            <p:cNvGraphicFramePr>
              <a:graphicFrameLocks noChangeAspect="1"/>
            </p:cNvGraphicFramePr>
            <p:nvPr/>
          </p:nvGraphicFramePr>
          <p:xfrm>
            <a:off x="1519" y="1658"/>
            <a:ext cx="116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11" imgW="850265" imgH="266700" progId="Equation.3">
                    <p:embed/>
                  </p:oleObj>
                </mc:Choice>
                <mc:Fallback>
                  <p:oleObj name="" r:id="rId11" imgW="850265" imgH="26670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19" y="1658"/>
                          <a:ext cx="1161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4" name="Text Box 13"/>
          <p:cNvSpPr txBox="1"/>
          <p:nvPr/>
        </p:nvSpPr>
        <p:spPr>
          <a:xfrm>
            <a:off x="914400" y="9906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4345" name="Object 14"/>
          <p:cNvGraphicFramePr>
            <a:graphicFrameLocks noChangeAspect="1"/>
          </p:cNvGraphicFramePr>
          <p:nvPr/>
        </p:nvGraphicFramePr>
        <p:xfrm>
          <a:off x="2303463" y="1073150"/>
          <a:ext cx="40989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3" imgW="1892300" imgH="482600" progId="Equation.3">
                  <p:embed/>
                </p:oleObj>
              </mc:Choice>
              <mc:Fallback>
                <p:oleObj name="" r:id="rId13" imgW="1892300" imgH="482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03463" y="1073150"/>
                        <a:ext cx="4098925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6"/>
          <p:cNvGraphicFramePr>
            <a:graphicFrameLocks noChangeAspect="1"/>
          </p:cNvGraphicFramePr>
          <p:nvPr/>
        </p:nvGraphicFramePr>
        <p:xfrm>
          <a:off x="5819775" y="1671638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5" imgW="165100" imgH="190500" progId="Equation.3">
                  <p:embed/>
                </p:oleObj>
              </mc:Choice>
              <mc:Fallback>
                <p:oleObj name="" r:id="rId15" imgW="165100" imgH="1905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19775" y="1671638"/>
                        <a:ext cx="330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7"/>
          <p:cNvSpPr txBox="1"/>
          <p:nvPr/>
        </p:nvSpPr>
        <p:spPr>
          <a:xfrm>
            <a:off x="6086475" y="1570038"/>
            <a:ext cx="22320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;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    </a:t>
            </a: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0" lang="en-US" altLang="zh-CN" b="1" kern="1200" cap="none" spc="0" normalizeH="0" baseline="0" noProof="1">
              <a:solidFill>
                <a:schemeClr val="accent4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48" name="Object 19"/>
          <p:cNvGraphicFramePr>
            <a:graphicFrameLocks noChangeAspect="1"/>
          </p:cNvGraphicFramePr>
          <p:nvPr/>
        </p:nvGraphicFramePr>
        <p:xfrm>
          <a:off x="7162800" y="1625600"/>
          <a:ext cx="8429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7" imgW="405765" imgH="266700" progId="Equation.3">
                  <p:embed/>
                </p:oleObj>
              </mc:Choice>
              <mc:Fallback>
                <p:oleObj name="" r:id="rId17" imgW="405765" imgH="266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62800" y="1625600"/>
                        <a:ext cx="842963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2"/>
          <p:cNvSpPr txBox="1"/>
          <p:nvPr/>
        </p:nvSpPr>
        <p:spPr>
          <a:xfrm>
            <a:off x="4419600" y="1570038"/>
            <a:ext cx="15255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1">
                <a:solidFill>
                  <a:schemeClr val="accent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</a:t>
            </a:r>
            <a:r>
              <a:rPr kumimoji="0" lang="zh-CN" altLang="en-US" sz="2800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b="1" kern="1200" cap="none" spc="0" normalizeH="0" baseline="0" noProof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b="1" kern="1200" cap="none" spc="0" normalizeH="0" baseline="0" noProof="1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Object 54"/>
          <p:cNvGraphicFramePr>
            <a:graphicFrameLocks noChangeAspect="1"/>
          </p:cNvGraphicFramePr>
          <p:nvPr/>
        </p:nvGraphicFramePr>
        <p:xfrm>
          <a:off x="2070100" y="1073150"/>
          <a:ext cx="409733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892300" imgH="482600" progId="Equation.3">
                  <p:embed/>
                </p:oleObj>
              </mc:Choice>
              <mc:Fallback>
                <p:oleObj name="" r:id="rId1" imgW="1892300" imgH="4826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0100" y="1073150"/>
                        <a:ext cx="4097338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91" name="Group 39"/>
          <p:cNvGrpSpPr/>
          <p:nvPr/>
        </p:nvGrpSpPr>
        <p:grpSpPr>
          <a:xfrm>
            <a:off x="1374775" y="3505200"/>
            <a:ext cx="3016250" cy="631825"/>
            <a:chOff x="480" y="2208"/>
            <a:chExt cx="1900" cy="398"/>
          </a:xfrm>
        </p:grpSpPr>
        <p:sp>
          <p:nvSpPr>
            <p:cNvPr id="15382" name="Text Box 9"/>
            <p:cNvSpPr txBox="1"/>
            <p:nvPr/>
          </p:nvSpPr>
          <p:spPr>
            <a:xfrm>
              <a:off x="480" y="2208"/>
              <a:ext cx="136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（4）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383" name="Group 31"/>
            <p:cNvGrpSpPr/>
            <p:nvPr/>
          </p:nvGrpSpPr>
          <p:grpSpPr>
            <a:xfrm>
              <a:off x="1104" y="2208"/>
              <a:ext cx="1276" cy="398"/>
              <a:chOff x="1488" y="1993"/>
              <a:chExt cx="1276" cy="398"/>
            </a:xfrm>
          </p:grpSpPr>
          <p:graphicFrame>
            <p:nvGraphicFramePr>
              <p:cNvPr id="15384" name="Object 10"/>
              <p:cNvGraphicFramePr>
                <a:graphicFrameLocks noChangeAspect="1"/>
              </p:cNvGraphicFramePr>
              <p:nvPr/>
            </p:nvGraphicFramePr>
            <p:xfrm>
              <a:off x="1488" y="2016"/>
              <a:ext cx="806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0" name="" r:id="rId3" imgW="609600" imgH="279400" progId="Equation.3">
                      <p:embed/>
                    </p:oleObj>
                  </mc:Choice>
                  <mc:Fallback>
                    <p:oleObj name="" r:id="rId3" imgW="609600" imgH="279400" progId="Equation.3">
                      <p:embed/>
                      <p:pic>
                        <p:nvPicPr>
                          <p:cNvPr id="0" name="图片 3129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488" y="2016"/>
                            <a:ext cx="806" cy="37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5" name="Text Box 11"/>
              <p:cNvSpPr txBox="1"/>
              <p:nvPr/>
            </p:nvSpPr>
            <p:spPr>
              <a:xfrm>
                <a:off x="2304" y="1993"/>
                <a:ext cx="46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</a:rPr>
                  <a:t>时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00364" name="Object 12"/>
          <p:cNvGraphicFramePr>
            <a:graphicFrameLocks noChangeAspect="1"/>
          </p:cNvGraphicFramePr>
          <p:nvPr/>
        </p:nvGraphicFramePr>
        <p:xfrm>
          <a:off x="4575175" y="3541713"/>
          <a:ext cx="26606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1257300" imgH="292100" progId="Equation.3">
                  <p:embed/>
                </p:oleObj>
              </mc:Choice>
              <mc:Fallback>
                <p:oleObj name="" r:id="rId5" imgW="1257300" imgH="2921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5175" y="3541713"/>
                        <a:ext cx="2660650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404" name="Group 52"/>
          <p:cNvGrpSpPr/>
          <p:nvPr/>
        </p:nvGrpSpPr>
        <p:grpSpPr>
          <a:xfrm>
            <a:off x="2843213" y="4076700"/>
            <a:ext cx="4254500" cy="1079500"/>
            <a:chOff x="1791" y="2568"/>
            <a:chExt cx="2680" cy="680"/>
          </a:xfrm>
        </p:grpSpPr>
        <p:sp>
          <p:nvSpPr>
            <p:cNvPr id="15380" name="Text Box 13"/>
            <p:cNvSpPr txBox="1"/>
            <p:nvPr/>
          </p:nvSpPr>
          <p:spPr>
            <a:xfrm>
              <a:off x="1791" y="2702"/>
              <a:ext cx="6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由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81" name="Object 14"/>
            <p:cNvGraphicFramePr>
              <a:graphicFrameLocks noChangeAspect="1"/>
            </p:cNvGraphicFramePr>
            <p:nvPr/>
          </p:nvGraphicFramePr>
          <p:xfrm>
            <a:off x="2336" y="2568"/>
            <a:ext cx="2135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7" imgW="1371600" imgH="393700" progId="Equation.3">
                    <p:embed/>
                  </p:oleObj>
                </mc:Choice>
                <mc:Fallback>
                  <p:oleObj name="" r:id="rId7" imgW="1371600" imgH="3937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36" y="2568"/>
                          <a:ext cx="2135" cy="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1727200" y="5067300"/>
          <a:ext cx="169227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799465" imgH="495300" progId="Equation.3">
                  <p:embed/>
                </p:oleObj>
              </mc:Choice>
              <mc:Fallback>
                <p:oleObj name="" r:id="rId9" imgW="799465" imgH="4953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7200" y="5067300"/>
                        <a:ext cx="1692275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/>
          <p:cNvGraphicFramePr>
            <a:graphicFrameLocks noChangeAspect="1"/>
          </p:cNvGraphicFramePr>
          <p:nvPr/>
        </p:nvGraphicFramePr>
        <p:xfrm>
          <a:off x="3389313" y="5334000"/>
          <a:ext cx="23590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1" imgW="1117600" imgH="228600" progId="Equation.3">
                  <p:embed/>
                </p:oleObj>
              </mc:Choice>
              <mc:Fallback>
                <p:oleObj name="" r:id="rId11" imgW="1117600" imgH="2286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9313" y="5334000"/>
                        <a:ext cx="2359025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29"/>
          <p:cNvSpPr txBox="1"/>
          <p:nvPr/>
        </p:nvSpPr>
        <p:spPr>
          <a:xfrm>
            <a:off x="5748338" y="1625600"/>
            <a:ext cx="20574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总能量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pSp>
        <p:nvGrpSpPr>
          <p:cNvPr id="100401" name="Group 49"/>
          <p:cNvGrpSpPr/>
          <p:nvPr/>
        </p:nvGrpSpPr>
        <p:grpSpPr>
          <a:xfrm>
            <a:off x="971550" y="2565400"/>
            <a:ext cx="4956175" cy="798513"/>
            <a:chOff x="612" y="1616"/>
            <a:chExt cx="3122" cy="503"/>
          </a:xfrm>
        </p:grpSpPr>
        <p:sp>
          <p:nvSpPr>
            <p:cNvPr id="15376" name="Text Box 5"/>
            <p:cNvSpPr txBox="1"/>
            <p:nvPr/>
          </p:nvSpPr>
          <p:spPr>
            <a:xfrm>
              <a:off x="839" y="1706"/>
              <a:ext cx="128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（3）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77" name="Object 7"/>
            <p:cNvGraphicFramePr>
              <a:graphicFrameLocks noChangeAspect="1"/>
            </p:cNvGraphicFramePr>
            <p:nvPr/>
          </p:nvGraphicFramePr>
          <p:xfrm>
            <a:off x="1474" y="1706"/>
            <a:ext cx="1011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3" imgW="647700" imgH="241300" progId="Equation.3">
                    <p:embed/>
                  </p:oleObj>
                </mc:Choice>
                <mc:Fallback>
                  <p:oleObj name="" r:id="rId13" imgW="647700" imgH="2413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74" y="1706"/>
                          <a:ext cx="1011" cy="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8"/>
            <p:cNvGraphicFramePr>
              <a:graphicFrameLocks noChangeAspect="1"/>
            </p:cNvGraphicFramePr>
            <p:nvPr/>
          </p:nvGraphicFramePr>
          <p:xfrm>
            <a:off x="2472" y="1705"/>
            <a:ext cx="126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15" imgW="990600" imgH="228600" progId="Equation.3">
                    <p:embed/>
                  </p:oleObj>
                </mc:Choice>
                <mc:Fallback>
                  <p:oleObj name="" r:id="rId15" imgW="990600" imgH="2286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472" y="1705"/>
                          <a:ext cx="1262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9" name="Text Box 34"/>
            <p:cNvSpPr txBox="1"/>
            <p:nvPr/>
          </p:nvSpPr>
          <p:spPr>
            <a:xfrm>
              <a:off x="612" y="1616"/>
              <a:ext cx="388" cy="4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解</a:t>
              </a:r>
              <a:endPara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5370" name="Rectangle 38"/>
          <p:cNvSpPr/>
          <p:nvPr/>
        </p:nvSpPr>
        <p:spPr>
          <a:xfrm>
            <a:off x="5091113" y="2128838"/>
            <a:ext cx="38576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何处动势能相等?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5371" name="Text Box 43"/>
          <p:cNvSpPr txBox="1"/>
          <p:nvPr/>
        </p:nvSpPr>
        <p:spPr>
          <a:xfrm>
            <a:off x="4273550" y="1625600"/>
            <a:ext cx="1627188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求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endParaRPr lang="zh-CN" altLang="en-US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0403" name="Group 51"/>
          <p:cNvGrpSpPr/>
          <p:nvPr/>
        </p:nvGrpSpPr>
        <p:grpSpPr>
          <a:xfrm>
            <a:off x="5724525" y="5367338"/>
            <a:ext cx="2808288" cy="438150"/>
            <a:chOff x="3606" y="3381"/>
            <a:chExt cx="1723" cy="267"/>
          </a:xfrm>
        </p:grpSpPr>
        <p:graphicFrame>
          <p:nvGraphicFramePr>
            <p:cNvPr id="15374" name="Object 17"/>
            <p:cNvGraphicFramePr>
              <a:graphicFrameLocks noChangeAspect="1"/>
            </p:cNvGraphicFramePr>
            <p:nvPr/>
          </p:nvGraphicFramePr>
          <p:xfrm>
            <a:off x="3845" y="3381"/>
            <a:ext cx="148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7" imgW="1129665" imgH="203200" progId="Equation.3">
                    <p:embed/>
                  </p:oleObj>
                </mc:Choice>
                <mc:Fallback>
                  <p:oleObj name="" r:id="rId17" imgW="1129665" imgH="2032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845" y="3381"/>
                          <a:ext cx="1484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AutoShape 50"/>
            <p:cNvSpPr/>
            <p:nvPr/>
          </p:nvSpPr>
          <p:spPr>
            <a:xfrm>
              <a:off x="3606" y="3475"/>
              <a:ext cx="272" cy="137"/>
            </a:xfrm>
            <a:prstGeom prst="rightArrow">
              <a:avLst>
                <a:gd name="adj1" fmla="val 50000"/>
                <a:gd name="adj2" fmla="val 49625"/>
              </a:avLst>
            </a:prstGeom>
            <a:solidFill>
              <a:srgbClr val="CC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p>
              <a:pPr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373" name="Text Box 53"/>
          <p:cNvSpPr txBox="1"/>
          <p:nvPr/>
        </p:nvSpPr>
        <p:spPr>
          <a:xfrm>
            <a:off x="914400" y="990600"/>
            <a:ext cx="10001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已知</a:t>
            </a:r>
            <a:endParaRPr lang="zh-CN" altLang="en-US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4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1简谐运动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5_1简谐运动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lg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1简谐运动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_1简谐运动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_1简谐运动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Documents\新课件\14(已改）\14_1简谐运动.ppt</Template>
  <TotalTime>0</TotalTime>
  <Words>865</Words>
  <Application>WPS 演示</Application>
  <PresentationFormat>全屏显示(4:3)</PresentationFormat>
  <Paragraphs>101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75</vt:i4>
      </vt:variant>
      <vt:variant>
        <vt:lpstr>幻灯片标题</vt:lpstr>
      </vt:variant>
      <vt:variant>
        <vt:i4>12</vt:i4>
      </vt:variant>
    </vt:vector>
  </HeadingPairs>
  <TitlesOfParts>
    <vt:vector size="106" baseType="lpstr">
      <vt:lpstr>Arial</vt:lpstr>
      <vt:lpstr>宋体</vt:lpstr>
      <vt:lpstr>Wingdings</vt:lpstr>
      <vt:lpstr>Times New Roman</vt:lpstr>
      <vt:lpstr>Verdana</vt:lpstr>
      <vt:lpstr>楷体_GB2312</vt:lpstr>
      <vt:lpstr>新宋体</vt:lpstr>
      <vt:lpstr>Calibri</vt:lpstr>
      <vt:lpstr>楷体</vt:lpstr>
      <vt:lpstr>KSOF3FB35F8F</vt:lpstr>
      <vt:lpstr>FFont-Family</vt:lpstr>
      <vt:lpstr>微软雅黑</vt:lpstr>
      <vt:lpstr>Arial Unicode MS</vt:lpstr>
      <vt:lpstr>Wingdings</vt:lpstr>
      <vt:lpstr>楷体_GB2312</vt:lpstr>
      <vt:lpstr>方正楷体_GB2312</vt:lpstr>
      <vt:lpstr>KSOFD1D2A08D</vt:lpstr>
      <vt:lpstr>14_1简谐运动</vt:lpstr>
      <vt:lpstr>15_1简谐运动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Equation.DSMT4</vt:lpstr>
      <vt:lpstr>Equation.KSEE3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南京建筑工程学院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9-4简谐运动能量.ppt</dc:title>
  <dc:creator>江南大学物理基础部   朱云</dc:creator>
  <cp:lastModifiedBy>Administrator</cp:lastModifiedBy>
  <cp:revision>139</cp:revision>
  <dcterms:created xsi:type="dcterms:W3CDTF">2000-08-19T01:19:26Z</dcterms:created>
  <dcterms:modified xsi:type="dcterms:W3CDTF">2026-09-28T07:43:20Z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E8C72F638F514B0F861CFC182E7ACF26_12</vt:lpwstr>
  </property>
</Properties>
</file>