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99" r:id="rId4"/>
    <p:sldId id="304" r:id="rId5"/>
    <p:sldId id="303" r:id="rId6"/>
    <p:sldId id="305" r:id="rId7"/>
    <p:sldId id="311" r:id="rId8"/>
    <p:sldId id="313" r:id="rId9"/>
    <p:sldId id="312" r:id="rId10"/>
    <p:sldId id="302" r:id="rId11"/>
    <p:sldId id="307" r:id="rId12"/>
    <p:sldId id="316" r:id="rId13"/>
    <p:sldId id="317" r:id="rId14"/>
  </p:sldIdLst>
  <p:sldSz cx="9144000" cy="6858000" type="screen4x3"/>
  <p:notesSz cx="6858000" cy="9144000"/>
  <p:custShowLst>
    <p:custShow name="自定义放映 1" id="0">
      <p:sldLst/>
    </p:custShow>
  </p:custShow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CC0000"/>
    <a:srgbClr val="F8ECFE"/>
    <a:srgbClr val="FAF4FE"/>
    <a:srgbClr val="6699FF"/>
    <a:srgbClr val="FF66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35"/>
    <p:restoredTop sz="94660"/>
  </p:normalViewPr>
  <p:slideViewPr>
    <p:cSldViewPr showGuides="1">
      <p:cViewPr varScale="1">
        <p:scale>
          <a:sx n="158" d="100"/>
          <a:sy n="158" d="100"/>
        </p:scale>
        <p:origin x="1816" y="92"/>
      </p:cViewPr>
      <p:guideLst>
        <p:guide orient="horz" pos="2161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emf"/><Relationship Id="rId7" Type="http://schemas.openxmlformats.org/officeDocument/2006/relationships/image" Target="../media/image9.emf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.emf"/><Relationship Id="rId8" Type="http://schemas.openxmlformats.org/officeDocument/2006/relationships/image" Target="../media/image19.emf"/><Relationship Id="rId7" Type="http://schemas.openxmlformats.org/officeDocument/2006/relationships/image" Target="../media/image18.emf"/><Relationship Id="rId6" Type="http://schemas.openxmlformats.org/officeDocument/2006/relationships/image" Target="../media/image17.e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0" Type="http://schemas.openxmlformats.org/officeDocument/2006/relationships/image" Target="../media/image11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emf"/><Relationship Id="rId8" Type="http://schemas.openxmlformats.org/officeDocument/2006/relationships/image" Target="../media/image28.emf"/><Relationship Id="rId7" Type="http://schemas.openxmlformats.org/officeDocument/2006/relationships/image" Target="../media/image27.e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36.emf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emf"/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.emf"/><Relationship Id="rId8" Type="http://schemas.openxmlformats.org/officeDocument/2006/relationships/image" Target="../media/image48.emf"/><Relationship Id="rId7" Type="http://schemas.openxmlformats.org/officeDocument/2006/relationships/image" Target="../media/image47.emf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image" Target="../media/image57.emf"/><Relationship Id="rId7" Type="http://schemas.openxmlformats.org/officeDocument/2006/relationships/image" Target="../media/image56.emf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56"/>
          <p:cNvSpPr>
            <a:spLocks noChangeArrowheads="1"/>
          </p:cNvSpPr>
          <p:nvPr/>
        </p:nvSpPr>
        <p:spPr bwMode="auto">
          <a:xfrm>
            <a:off x="6370638" y="76200"/>
            <a:ext cx="26654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9-3  单摆和复摆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auto">
          <a:xfrm>
            <a:off x="3132138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30550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5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588125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27235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Rectangle 112"/>
          <p:cNvSpPr>
            <a:spLocks noChangeArrowheads="1"/>
          </p:cNvSpPr>
          <p:nvPr/>
        </p:nvSpPr>
        <p:spPr bwMode="auto">
          <a:xfrm>
            <a:off x="6588125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>
              <a:buNone/>
            </a:pPr>
            <a:fld id="{9A0DB2DC-4C9A-4742-B13C-FB6460FD3503}" type="slidenum">
              <a:rPr lang="zh-CN" altLang="en-US" sz="1800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429376" y="573087"/>
            <a:ext cx="2657474" cy="1589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2" descr="C:\Users\qdx\Desktop\Aticles\20141011\temp_01.gif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5"/>
          <p:cNvSpPr>
            <a:spLocks noChangeArrowheads="1"/>
          </p:cNvSpPr>
          <p:nvPr/>
        </p:nvSpPr>
        <p:spPr bwMode="auto">
          <a:xfrm>
            <a:off x="3132138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30550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5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588125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27235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5" name="Rectangle 24"/>
          <p:cNvSpPr>
            <a:spLocks noChangeArrowheads="1"/>
          </p:cNvSpPr>
          <p:nvPr/>
        </p:nvSpPr>
        <p:spPr bwMode="auto">
          <a:xfrm>
            <a:off x="6588125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>
              <a:buNone/>
            </a:pPr>
            <a:fld id="{9A0DB2DC-4C9A-4742-B13C-FB6460FD3503}" type="slidenum">
              <a:rPr lang="zh-CN" altLang="en-US" sz="1800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sp>
        <p:nvSpPr>
          <p:cNvPr id="2056" name="Rectangle 16"/>
          <p:cNvSpPr>
            <a:spLocks noChangeArrowheads="1"/>
          </p:cNvSpPr>
          <p:nvPr/>
        </p:nvSpPr>
        <p:spPr bwMode="auto">
          <a:xfrm>
            <a:off x="7031038" y="90488"/>
            <a:ext cx="1566863" cy="534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本章目录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000891" y="596900"/>
            <a:ext cx="1548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2" descr="C:\Users\qdx\Desktop\Aticles\20141011\temp_01.gif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9" Type="http://schemas.openxmlformats.org/officeDocument/2006/relationships/image" Target="../media/image11.wmf"/><Relationship Id="rId18" Type="http://schemas.openxmlformats.org/officeDocument/2006/relationships/oleObject" Target="../embeddings/oleObject9.bin"/><Relationship Id="rId17" Type="http://schemas.openxmlformats.org/officeDocument/2006/relationships/image" Target="../media/image10.emf"/><Relationship Id="rId16" Type="http://schemas.openxmlformats.org/officeDocument/2006/relationships/oleObject" Target="../embeddings/oleObject8.bin"/><Relationship Id="rId15" Type="http://schemas.openxmlformats.org/officeDocument/2006/relationships/image" Target="../media/image9.emf"/><Relationship Id="rId14" Type="http://schemas.openxmlformats.org/officeDocument/2006/relationships/oleObject" Target="../embeddings/oleObject7.bin"/><Relationship Id="rId13" Type="http://schemas.openxmlformats.org/officeDocument/2006/relationships/image" Target="../media/image8.emf"/><Relationship Id="rId12" Type="http://schemas.openxmlformats.org/officeDocument/2006/relationships/oleObject" Target="../embeddings/oleObject6.bin"/><Relationship Id="rId11" Type="http://schemas.openxmlformats.org/officeDocument/2006/relationships/image" Target="../media/image7.emf"/><Relationship Id="rId10" Type="http://schemas.openxmlformats.org/officeDocument/2006/relationships/oleObject" Target="../embeddings/oleObject5.bin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5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23" Type="http://schemas.openxmlformats.org/officeDocument/2006/relationships/vmlDrawing" Target="../drawings/vmlDrawing2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1.wmf"/><Relationship Id="rId20" Type="http://schemas.openxmlformats.org/officeDocument/2006/relationships/oleObject" Target="../embeddings/oleObject19.bin"/><Relationship Id="rId2" Type="http://schemas.openxmlformats.org/officeDocument/2006/relationships/image" Target="../media/image12.wmf"/><Relationship Id="rId19" Type="http://schemas.openxmlformats.org/officeDocument/2006/relationships/image" Target="../media/image20.emf"/><Relationship Id="rId18" Type="http://schemas.openxmlformats.org/officeDocument/2006/relationships/oleObject" Target="../embeddings/oleObject18.bin"/><Relationship Id="rId17" Type="http://schemas.openxmlformats.org/officeDocument/2006/relationships/image" Target="../media/image19.emf"/><Relationship Id="rId16" Type="http://schemas.openxmlformats.org/officeDocument/2006/relationships/oleObject" Target="../embeddings/oleObject17.bin"/><Relationship Id="rId15" Type="http://schemas.openxmlformats.org/officeDocument/2006/relationships/image" Target="../media/image18.emf"/><Relationship Id="rId14" Type="http://schemas.openxmlformats.org/officeDocument/2006/relationships/oleObject" Target="../embeddings/oleObject16.bin"/><Relationship Id="rId13" Type="http://schemas.openxmlformats.org/officeDocument/2006/relationships/image" Target="../media/image17.emf"/><Relationship Id="rId12" Type="http://schemas.openxmlformats.org/officeDocument/2006/relationships/oleObject" Target="../embeddings/oleObject15.bin"/><Relationship Id="rId11" Type="http://schemas.openxmlformats.org/officeDocument/2006/relationships/image" Target="../media/image6.png"/><Relationship Id="rId10" Type="http://schemas.openxmlformats.org/officeDocument/2006/relationships/image" Target="../media/image16.wmf"/><Relationship Id="rId1" Type="http://schemas.openxmlformats.org/officeDocument/2006/relationships/oleObject" Target="../embeddings/oleObject10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1.bin"/><Relationship Id="rId20" Type="http://schemas.openxmlformats.org/officeDocument/2006/relationships/vmlDrawing" Target="../drawings/vmlDrawing3.vml"/><Relationship Id="rId2" Type="http://schemas.openxmlformats.org/officeDocument/2006/relationships/image" Target="../media/image21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9.emf"/><Relationship Id="rId17" Type="http://schemas.openxmlformats.org/officeDocument/2006/relationships/oleObject" Target="../embeddings/oleObject28.bin"/><Relationship Id="rId16" Type="http://schemas.openxmlformats.org/officeDocument/2006/relationships/image" Target="../media/image28.e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27.e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0.wmf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6.emf"/><Relationship Id="rId13" Type="http://schemas.openxmlformats.org/officeDocument/2006/relationships/oleObject" Target="../embeddings/oleObject35.bin"/><Relationship Id="rId12" Type="http://schemas.openxmlformats.org/officeDocument/2006/relationships/image" Target="../media/image35.e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4.emf"/><Relationship Id="rId1" Type="http://schemas.openxmlformats.org/officeDocument/2006/relationships/oleObject" Target="../embeddings/oleObject29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0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8.e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7.e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36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44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2.emf"/><Relationship Id="rId3" Type="http://schemas.openxmlformats.org/officeDocument/2006/relationships/oleObject" Target="../embeddings/oleObject41.bin"/><Relationship Id="rId20" Type="http://schemas.openxmlformats.org/officeDocument/2006/relationships/vmlDrawing" Target="../drawings/vmlDrawing6.vml"/><Relationship Id="rId2" Type="http://schemas.openxmlformats.org/officeDocument/2006/relationships/image" Target="../media/image41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49.emf"/><Relationship Id="rId17" Type="http://schemas.openxmlformats.org/officeDocument/2006/relationships/oleObject" Target="../embeddings/oleObject48.bin"/><Relationship Id="rId16" Type="http://schemas.openxmlformats.org/officeDocument/2006/relationships/image" Target="../media/image48.emf"/><Relationship Id="rId15" Type="http://schemas.openxmlformats.org/officeDocument/2006/relationships/oleObject" Target="../embeddings/oleObject47.bin"/><Relationship Id="rId14" Type="http://schemas.openxmlformats.org/officeDocument/2006/relationships/image" Target="../media/image47.emf"/><Relationship Id="rId13" Type="http://schemas.openxmlformats.org/officeDocument/2006/relationships/oleObject" Target="../embeddings/oleObject46.bin"/><Relationship Id="rId12" Type="http://schemas.openxmlformats.org/officeDocument/2006/relationships/image" Target="../media/image46.e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45.emf"/><Relationship Id="rId1" Type="http://schemas.openxmlformats.org/officeDocument/2006/relationships/oleObject" Target="../embeddings/oleObject40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3.e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2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1.emf"/><Relationship Id="rId3" Type="http://schemas.openxmlformats.org/officeDocument/2006/relationships/oleObject" Target="../embeddings/oleObject50.bin"/><Relationship Id="rId20" Type="http://schemas.openxmlformats.org/officeDocument/2006/relationships/vmlDrawing" Target="../drawings/vmlDrawing7.vml"/><Relationship Id="rId2" Type="http://schemas.openxmlformats.org/officeDocument/2006/relationships/image" Target="../media/image50.emf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58.wmf"/><Relationship Id="rId17" Type="http://schemas.openxmlformats.org/officeDocument/2006/relationships/oleObject" Target="../embeddings/oleObject57.bin"/><Relationship Id="rId16" Type="http://schemas.openxmlformats.org/officeDocument/2006/relationships/image" Target="../media/image57.e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56.e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55.e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54.emf"/><Relationship Id="rId1" Type="http://schemas.openxmlformats.org/officeDocument/2006/relationships/oleObject" Target="../embeddings/oleObject4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59.w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4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63.wmf"/><Relationship Id="rId1" Type="http://schemas.openxmlformats.org/officeDocument/2006/relationships/oleObject" Target="../embeddings/oleObject5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68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5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0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69.wmf"/><Relationship Id="rId1" Type="http://schemas.openxmlformats.org/officeDocument/2006/relationships/oleObject" Target="../embeddings/oleObject64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hyperlink" Target="9-5%20&#31616;&#35856;&#25391;&#21160;&#30340;&#21512;&#25104;.ppt" TargetMode="External"/><Relationship Id="rId5" Type="http://schemas.openxmlformats.org/officeDocument/2006/relationships/hyperlink" Target="9-4%20&#31616;&#35856;&#25391;&#21160;&#33021;&#37327;.ppt" TargetMode="External"/><Relationship Id="rId4" Type="http://schemas.openxmlformats.org/officeDocument/2006/relationships/hyperlink" Target="9-3%20&#21333;&#25670;&#21644;&#22797;&#25670;.ppt" TargetMode="External"/><Relationship Id="rId3" Type="http://schemas.openxmlformats.org/officeDocument/2006/relationships/hyperlink" Target="9-2%20&#26059;&#36716;&#30690;&#37327;.ppt" TargetMode="External"/><Relationship Id="rId2" Type="http://schemas.openxmlformats.org/officeDocument/2006/relationships/hyperlink" Target="9-1%20&#31616;&#35856;&#25391;&#21160;%20&#25391;&#24133;%20&#21608;&#26399;&#21644;&#39057;&#29575;%20&#30456;&#20301;.ppt" TargetMode="External"/><Relationship Id="rId1" Type="http://schemas.openxmlformats.org/officeDocument/2006/relationships/hyperlink" Target="9-0%20&#25945;&#23398;&#22522;&#26412;&#35201;&#27714;.ppt" TargetMode="Externa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hyperlink" Target="9-8%20&#31616;&#36848;&#38750;&#32447;&#24615;&#31995;&#32479;.ppt" TargetMode="External"/><Relationship Id="rId2" Type="http://schemas.openxmlformats.org/officeDocument/2006/relationships/hyperlink" Target="9-6%20&#38459;&#23612;&#25391;&#21160;%20&#21463;&#36843;&#25391;&#21160;%20&#20849;&#25391;.ppt" TargetMode="External"/><Relationship Id="rId1" Type="http://schemas.openxmlformats.org/officeDocument/2006/relationships/hyperlink" Target="9-7%20&#30005;&#30913;&#25391;&#33633;.p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7097" name="Object 57"/>
          <p:cNvGraphicFramePr>
            <a:graphicFrameLocks noChangeAspect="1"/>
          </p:cNvGraphicFramePr>
          <p:nvPr/>
        </p:nvGraphicFramePr>
        <p:xfrm>
          <a:off x="1308100" y="2971800"/>
          <a:ext cx="36449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917700" imgH="241300" progId="Equation.3">
                  <p:embed/>
                </p:oleObj>
              </mc:Choice>
              <mc:Fallback>
                <p:oleObj name="" r:id="rId1" imgW="1917700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08100" y="2971800"/>
                        <a:ext cx="3644900" cy="50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117" name="Group 77"/>
          <p:cNvGrpSpPr/>
          <p:nvPr/>
        </p:nvGrpSpPr>
        <p:grpSpPr>
          <a:xfrm>
            <a:off x="1371600" y="2133600"/>
            <a:ext cx="2971800" cy="625475"/>
            <a:chOff x="1056" y="950"/>
            <a:chExt cx="1872" cy="394"/>
          </a:xfrm>
        </p:grpSpPr>
        <p:graphicFrame>
          <p:nvGraphicFramePr>
            <p:cNvPr id="3104" name="Object 60"/>
            <p:cNvGraphicFramePr>
              <a:graphicFrameLocks noChangeAspect="1"/>
            </p:cNvGraphicFramePr>
            <p:nvPr/>
          </p:nvGraphicFramePr>
          <p:xfrm>
            <a:off x="1056" y="998"/>
            <a:ext cx="1872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3" imgW="1434465" imgH="266700" progId="Equation.3">
                    <p:embed/>
                  </p:oleObj>
                </mc:Choice>
                <mc:Fallback>
                  <p:oleObj name="" r:id="rId3" imgW="1434465" imgH="2667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56" y="998"/>
                          <a:ext cx="1872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5" name="Text Box 61"/>
            <p:cNvSpPr txBox="1"/>
            <p:nvPr/>
          </p:nvSpPr>
          <p:spPr>
            <a:xfrm>
              <a:off x="1621" y="950"/>
              <a:ext cx="51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latin typeface="Times New Roman" panose="02020603050405020304" pitchFamily="18" charset="0"/>
                </a:rPr>
                <a:t>时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7103" name="Text Box 63"/>
          <p:cNvSpPr txBox="1"/>
          <p:nvPr/>
        </p:nvSpPr>
        <p:spPr>
          <a:xfrm>
            <a:off x="1295400" y="1524000"/>
            <a:ext cx="26320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</a:rPr>
              <a:t>动力学分析：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87119" name="Group 79"/>
          <p:cNvGrpSpPr/>
          <p:nvPr/>
        </p:nvGrpSpPr>
        <p:grpSpPr>
          <a:xfrm>
            <a:off x="990600" y="4572000"/>
            <a:ext cx="2863850" cy="1014413"/>
            <a:chOff x="624" y="2880"/>
            <a:chExt cx="1804" cy="639"/>
          </a:xfrm>
        </p:grpSpPr>
        <p:graphicFrame>
          <p:nvGraphicFramePr>
            <p:cNvPr id="3102" name="Object 64"/>
            <p:cNvGraphicFramePr>
              <a:graphicFrameLocks noChangeAspect="1"/>
            </p:cNvGraphicFramePr>
            <p:nvPr/>
          </p:nvGraphicFramePr>
          <p:xfrm>
            <a:off x="1200" y="2880"/>
            <a:ext cx="1228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5" imgW="927100" imgH="482600" progId="Equation.3">
                    <p:embed/>
                  </p:oleObj>
                </mc:Choice>
                <mc:Fallback>
                  <p:oleObj name="" r:id="rId5" imgW="927100" imgH="482600" progId="Equation.3">
                    <p:embed/>
                    <p:pic>
                      <p:nvPicPr>
                        <p:cNvPr id="0" name="图片 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00" y="2880"/>
                          <a:ext cx="1228" cy="6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3" name="AutoShape 66"/>
            <p:cNvSpPr/>
            <p:nvPr/>
          </p:nvSpPr>
          <p:spPr>
            <a:xfrm>
              <a:off x="624" y="3072"/>
              <a:ext cx="384" cy="288"/>
            </a:xfrm>
            <a:prstGeom prst="rightArrow">
              <a:avLst>
                <a:gd name="adj1" fmla="val 50000"/>
                <a:gd name="adj2" fmla="val 33327"/>
              </a:avLst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7115" name="Object 75"/>
          <p:cNvGraphicFramePr>
            <a:graphicFrameLocks noChangeAspect="1"/>
          </p:cNvGraphicFramePr>
          <p:nvPr/>
        </p:nvGraphicFramePr>
        <p:xfrm>
          <a:off x="1371600" y="3429000"/>
          <a:ext cx="25971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7" imgW="1218565" imgH="482600" progId="Equation.3">
                  <p:embed/>
                </p:oleObj>
              </mc:Choice>
              <mc:Fallback>
                <p:oleObj name="" r:id="rId7" imgW="1218565" imgH="482600" progId="Equation.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71600" y="3429000"/>
                        <a:ext cx="2597150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78"/>
          <p:cNvSpPr/>
          <p:nvPr/>
        </p:nvSpPr>
        <p:spPr>
          <a:xfrm>
            <a:off x="685800" y="914400"/>
            <a:ext cx="2743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solidFill>
                  <a:srgbClr val="CC0000"/>
                </a:solidFill>
                <a:latin typeface="Times New Roman" panose="02020603050405020304" pitchFamily="18" charset="0"/>
              </a:rPr>
              <a:t>    一  单摆</a:t>
            </a:r>
            <a:endParaRPr lang="zh-CN" altLang="en-US" sz="36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80" name="Rectangle 38"/>
          <p:cNvSpPr/>
          <p:nvPr/>
        </p:nvSpPr>
        <p:spPr>
          <a:xfrm>
            <a:off x="5724525" y="981075"/>
            <a:ext cx="2819400" cy="4419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1" name="Rectangle 3" descr="宽上对角线"/>
          <p:cNvSpPr/>
          <p:nvPr/>
        </p:nvSpPr>
        <p:spPr>
          <a:xfrm>
            <a:off x="6384925" y="1381125"/>
            <a:ext cx="1287463" cy="130175"/>
          </a:xfrm>
          <a:prstGeom prst="rect">
            <a:avLst/>
          </a:prstGeom>
          <a:blipFill rotWithShape="0">
            <a:blip r:embed="rId9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2" name="Line 4"/>
          <p:cNvSpPr/>
          <p:nvPr/>
        </p:nvSpPr>
        <p:spPr>
          <a:xfrm>
            <a:off x="6997700" y="1511300"/>
            <a:ext cx="0" cy="2209800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3083" name="Oval 5"/>
          <p:cNvSpPr/>
          <p:nvPr/>
        </p:nvSpPr>
        <p:spPr>
          <a:xfrm>
            <a:off x="6875463" y="3721100"/>
            <a:ext cx="246062" cy="260350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84" name="Object 9"/>
          <p:cNvGraphicFramePr>
            <a:graphicFrameLocks noChangeAspect="1"/>
          </p:cNvGraphicFramePr>
          <p:nvPr/>
        </p:nvGraphicFramePr>
        <p:xfrm>
          <a:off x="7548563" y="2160588"/>
          <a:ext cx="1889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0" imgW="78105" imgH="222250" progId="Equation.3">
                  <p:embed/>
                </p:oleObj>
              </mc:Choice>
              <mc:Fallback>
                <p:oleObj name="" r:id="rId10" imgW="78105" imgH="222250" progId="Equation.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48563" y="2160588"/>
                        <a:ext cx="188912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Line 7"/>
          <p:cNvSpPr/>
          <p:nvPr/>
        </p:nvSpPr>
        <p:spPr>
          <a:xfrm>
            <a:off x="7002463" y="1511300"/>
            <a:ext cx="919162" cy="2144713"/>
          </a:xfrm>
          <a:prstGeom prst="line">
            <a:avLst/>
          </a:prstGeom>
          <a:ln w="31750" cap="flat" cmpd="sng">
            <a:solidFill>
              <a:srgbClr val="3333FF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3086" name="Oval 37"/>
          <p:cNvSpPr/>
          <p:nvPr/>
        </p:nvSpPr>
        <p:spPr>
          <a:xfrm>
            <a:off x="7786688" y="3525838"/>
            <a:ext cx="244475" cy="2603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5C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2" name="Group 43"/>
          <p:cNvGrpSpPr/>
          <p:nvPr/>
        </p:nvGrpSpPr>
        <p:grpSpPr>
          <a:xfrm>
            <a:off x="7010400" y="2057400"/>
            <a:ext cx="228600" cy="381000"/>
            <a:chOff x="4461" y="1296"/>
            <a:chExt cx="232" cy="384"/>
          </a:xfrm>
        </p:grpSpPr>
        <p:sp>
          <p:nvSpPr>
            <p:cNvPr id="3100" name="Arc 8"/>
            <p:cNvSpPr/>
            <p:nvPr/>
          </p:nvSpPr>
          <p:spPr>
            <a:xfrm flipV="1">
              <a:off x="4461" y="1296"/>
              <a:ext cx="192" cy="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3101" name="Object 10"/>
            <p:cNvGraphicFramePr>
              <a:graphicFrameLocks noChangeAspect="1"/>
            </p:cNvGraphicFramePr>
            <p:nvPr/>
          </p:nvGraphicFramePr>
          <p:xfrm>
            <a:off x="4461" y="1364"/>
            <a:ext cx="23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2" imgW="150495" imgH="208915" progId="Equation.3">
                    <p:embed/>
                  </p:oleObj>
                </mc:Choice>
                <mc:Fallback>
                  <p:oleObj name="" r:id="rId12" imgW="150495" imgH="208915" progId="Equation.3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1" y="1364"/>
                          <a:ext cx="232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" name="Group 69"/>
          <p:cNvGrpSpPr/>
          <p:nvPr/>
        </p:nvGrpSpPr>
        <p:grpSpPr>
          <a:xfrm>
            <a:off x="7010400" y="2590800"/>
            <a:ext cx="1143000" cy="2722563"/>
            <a:chOff x="4512" y="1632"/>
            <a:chExt cx="720" cy="1715"/>
          </a:xfrm>
        </p:grpSpPr>
        <p:graphicFrame>
          <p:nvGraphicFramePr>
            <p:cNvPr id="3096" name="Object 11"/>
            <p:cNvGraphicFramePr>
              <a:graphicFrameLocks noChangeAspect="1"/>
            </p:cNvGraphicFramePr>
            <p:nvPr/>
          </p:nvGraphicFramePr>
          <p:xfrm>
            <a:off x="4512" y="1776"/>
            <a:ext cx="35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14" imgW="156845" imgH="196215" progId="Equation.3">
                    <p:embed/>
                  </p:oleObj>
                </mc:Choice>
                <mc:Fallback>
                  <p:oleObj name="" r:id="rId14" imgW="156845" imgH="196215" progId="Equation.3">
                    <p:embed/>
                    <p:pic>
                      <p:nvPicPr>
                        <p:cNvPr id="0" name="图片 3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12" y="1776"/>
                          <a:ext cx="356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7" name="Line 17"/>
            <p:cNvSpPr/>
            <p:nvPr/>
          </p:nvSpPr>
          <p:spPr>
            <a:xfrm>
              <a:off x="5079" y="2304"/>
              <a:ext cx="0" cy="672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098" name="Line 18"/>
            <p:cNvSpPr/>
            <p:nvPr/>
          </p:nvSpPr>
          <p:spPr>
            <a:xfrm flipH="1" flipV="1">
              <a:off x="4800" y="1632"/>
              <a:ext cx="279" cy="672"/>
            </a:xfrm>
            <a:prstGeom prst="line">
              <a:avLst/>
            </a:prstGeom>
            <a:ln w="38100" cap="flat" cmpd="sng">
              <a:solidFill>
                <a:srgbClr val="FF5050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3099" name="Object 32"/>
            <p:cNvGraphicFramePr>
              <a:graphicFrameLocks noChangeAspect="1"/>
            </p:cNvGraphicFramePr>
            <p:nvPr/>
          </p:nvGraphicFramePr>
          <p:xfrm>
            <a:off x="4939" y="2976"/>
            <a:ext cx="293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6" imgW="117475" imgH="163195" progId="Equation.3">
                    <p:embed/>
                  </p:oleObj>
                </mc:Choice>
                <mc:Fallback>
                  <p:oleObj name="" r:id="rId16" imgW="117475" imgH="163195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39" y="2976"/>
                          <a:ext cx="293" cy="3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89" name="Text Box 72"/>
          <p:cNvSpPr txBox="1"/>
          <p:nvPr/>
        </p:nvSpPr>
        <p:spPr>
          <a:xfrm>
            <a:off x="6826250" y="3900488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</a:rPr>
              <a:t>O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3090" name="Text Box 73"/>
          <p:cNvSpPr txBox="1"/>
          <p:nvPr/>
        </p:nvSpPr>
        <p:spPr>
          <a:xfrm>
            <a:off x="6553200" y="14620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3091" name="Text Box 74"/>
          <p:cNvSpPr txBox="1"/>
          <p:nvPr/>
        </p:nvSpPr>
        <p:spPr>
          <a:xfrm>
            <a:off x="7832725" y="3038475"/>
            <a:ext cx="4603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3" name="Object 76"/>
          <p:cNvGraphicFramePr>
            <a:graphicFrameLocks noChangeAspect="1"/>
          </p:cNvGraphicFramePr>
          <p:nvPr/>
        </p:nvGraphicFramePr>
        <p:xfrm>
          <a:off x="6248400" y="4672013"/>
          <a:ext cx="13620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8" imgW="609600" imgH="228600" progId="Equation.3">
                  <p:embed/>
                </p:oleObj>
              </mc:Choice>
              <mc:Fallback>
                <p:oleObj name="" r:id="rId18" imgW="609600" imgH="228600" progId="Equation.3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48400" y="4672013"/>
                        <a:ext cx="1362075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Group 88"/>
          <p:cNvGrpSpPr/>
          <p:nvPr/>
        </p:nvGrpSpPr>
        <p:grpSpPr>
          <a:xfrm>
            <a:off x="7537450" y="1125538"/>
            <a:ext cx="1055688" cy="1800225"/>
            <a:chOff x="4748" y="709"/>
            <a:chExt cx="665" cy="1134"/>
          </a:xfrm>
        </p:grpSpPr>
        <p:sp>
          <p:nvSpPr>
            <p:cNvPr id="3094" name="Text Box 50"/>
            <p:cNvSpPr txBox="1"/>
            <p:nvPr/>
          </p:nvSpPr>
          <p:spPr>
            <a:xfrm>
              <a:off x="4967" y="709"/>
              <a:ext cx="446" cy="11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dirty="0">
                  <a:latin typeface="Times New Roman" panose="02020603050405020304" pitchFamily="18" charset="0"/>
                </a:rPr>
                <a:t>转动正向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3095" name="Arc 87"/>
            <p:cNvSpPr/>
            <p:nvPr/>
          </p:nvSpPr>
          <p:spPr>
            <a:xfrm rot="2700000">
              <a:off x="4689" y="811"/>
              <a:ext cx="341" cy="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8292" h="21600" fill="none">
                  <a:moveTo>
                    <a:pt x="0" y="8"/>
                  </a:moveTo>
                  <a:cubicBezTo>
                    <a:pt x="199" y="2"/>
                    <a:pt x="399" y="0"/>
                    <a:pt x="600" y="0"/>
                  </a:cubicBezTo>
                  <a:cubicBezTo>
                    <a:pt x="7646" y="0"/>
                    <a:pt x="14249" y="3436"/>
                    <a:pt x="18291" y="9208"/>
                  </a:cubicBezTo>
                </a:path>
                <a:path w="18292" h="21600" stroke="0">
                  <a:moveTo>
                    <a:pt x="0" y="8"/>
                  </a:moveTo>
                  <a:cubicBezTo>
                    <a:pt x="199" y="2"/>
                    <a:pt x="399" y="0"/>
                    <a:pt x="600" y="0"/>
                  </a:cubicBezTo>
                  <a:cubicBezTo>
                    <a:pt x="7646" y="0"/>
                    <a:pt x="14249" y="3436"/>
                    <a:pt x="18291" y="9208"/>
                  </a:cubicBezTo>
                  <a:lnTo>
                    <a:pt x="600" y="21600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28575" cap="flat" cmpd="sng">
              <a:solidFill>
                <a:srgbClr val="CC0000">
                  <a:alpha val="100000"/>
                </a:srgbClr>
              </a:solidFill>
              <a:prstDash val="solid"/>
              <a:round/>
              <a:headEnd type="triangle" w="sm" len="lg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8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0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3299" name="Object 3"/>
          <p:cNvGraphicFramePr>
            <a:graphicFrameLocks noChangeAspect="1"/>
          </p:cNvGraphicFramePr>
          <p:nvPr/>
        </p:nvGraphicFramePr>
        <p:xfrm>
          <a:off x="1274763" y="4237038"/>
          <a:ext cx="33734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409065" imgH="254000" progId="Equation.3">
                  <p:embed/>
                </p:oleObj>
              </mc:Choice>
              <mc:Fallback>
                <p:oleObj name="" r:id="rId1" imgW="1409065" imgH="2540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4763" y="4237038"/>
                        <a:ext cx="3373437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1" name="Object 5"/>
          <p:cNvGraphicFramePr>
            <a:graphicFrameLocks noChangeAspect="1"/>
          </p:cNvGraphicFramePr>
          <p:nvPr/>
        </p:nvGraphicFramePr>
        <p:xfrm>
          <a:off x="1258888" y="1989138"/>
          <a:ext cx="17621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584200" imgH="469900" progId="Equation.3">
                  <p:embed/>
                </p:oleObj>
              </mc:Choice>
              <mc:Fallback>
                <p:oleObj name="" r:id="rId3" imgW="584200" imgH="469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8888" y="1989138"/>
                        <a:ext cx="1762125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2" name="Text Box 6"/>
          <p:cNvSpPr txBox="1"/>
          <p:nvPr/>
        </p:nvSpPr>
        <p:spPr>
          <a:xfrm>
            <a:off x="773113" y="2184400"/>
            <a:ext cx="86836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令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83303" name="Object 7"/>
          <p:cNvGraphicFramePr>
            <a:graphicFrameLocks noChangeAspect="1"/>
          </p:cNvGraphicFramePr>
          <p:nvPr/>
        </p:nvGraphicFramePr>
        <p:xfrm>
          <a:off x="1265238" y="4706938"/>
          <a:ext cx="1865312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5" imgW="876300" imgH="558800" progId="Equation.3">
                  <p:embed/>
                </p:oleObj>
              </mc:Choice>
              <mc:Fallback>
                <p:oleObj name="" r:id="rId5" imgW="876300" imgH="5588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5238" y="4706938"/>
                        <a:ext cx="1865312" cy="1223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4" name="Object 8"/>
          <p:cNvGraphicFramePr>
            <a:graphicFrameLocks noChangeAspect="1"/>
          </p:cNvGraphicFramePr>
          <p:nvPr/>
        </p:nvGraphicFramePr>
        <p:xfrm>
          <a:off x="1244600" y="3017838"/>
          <a:ext cx="22860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7" imgW="939165" imgH="482600" progId="Equation.3">
                  <p:embed/>
                </p:oleObj>
              </mc:Choice>
              <mc:Fallback>
                <p:oleObj name="" r:id="rId7" imgW="939165" imgH="4826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44600" y="3017838"/>
                        <a:ext cx="2286000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140"/>
          <p:cNvGraphicFramePr>
            <a:graphicFrameLocks noChangeAspect="1"/>
          </p:cNvGraphicFramePr>
          <p:nvPr/>
        </p:nvGraphicFramePr>
        <p:xfrm>
          <a:off x="1258888" y="936625"/>
          <a:ext cx="2005012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9" imgW="927100" imgH="482600" progId="Equation.3">
                  <p:embed/>
                </p:oleObj>
              </mc:Choice>
              <mc:Fallback>
                <p:oleObj name="" r:id="rId9" imgW="927100" imgH="4826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8888" y="936625"/>
                        <a:ext cx="2005012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4" name="Group 239"/>
          <p:cNvGrpSpPr/>
          <p:nvPr/>
        </p:nvGrpSpPr>
        <p:grpSpPr>
          <a:xfrm>
            <a:off x="5724525" y="981075"/>
            <a:ext cx="2868613" cy="4419600"/>
            <a:chOff x="3606" y="618"/>
            <a:chExt cx="1807" cy="2784"/>
          </a:xfrm>
        </p:grpSpPr>
        <p:sp>
          <p:nvSpPr>
            <p:cNvPr id="4105" name="Rectangle 216"/>
            <p:cNvSpPr/>
            <p:nvPr/>
          </p:nvSpPr>
          <p:spPr>
            <a:xfrm>
              <a:off x="3606" y="618"/>
              <a:ext cx="1776" cy="278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106" name="Rectangle 217" descr="宽上对角线"/>
            <p:cNvSpPr/>
            <p:nvPr/>
          </p:nvSpPr>
          <p:spPr>
            <a:xfrm>
              <a:off x="4022" y="870"/>
              <a:ext cx="811" cy="82"/>
            </a:xfrm>
            <a:prstGeom prst="rect">
              <a:avLst/>
            </a:prstGeom>
            <a:blipFill rotWithShape="0">
              <a:blip r:embed="rId11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107" name="Line 218"/>
            <p:cNvSpPr/>
            <p:nvPr/>
          </p:nvSpPr>
          <p:spPr>
            <a:xfrm>
              <a:off x="4408" y="952"/>
              <a:ext cx="0" cy="13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4108" name="Oval 219"/>
            <p:cNvSpPr/>
            <p:nvPr/>
          </p:nvSpPr>
          <p:spPr>
            <a:xfrm>
              <a:off x="4331" y="2344"/>
              <a:ext cx="155" cy="164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109" name="Object 220"/>
            <p:cNvGraphicFramePr>
              <a:graphicFrameLocks noChangeAspect="1"/>
            </p:cNvGraphicFramePr>
            <p:nvPr/>
          </p:nvGraphicFramePr>
          <p:xfrm>
            <a:off x="4755" y="1361"/>
            <a:ext cx="11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2" imgW="78105" imgH="222250" progId="Equation.3">
                    <p:embed/>
                  </p:oleObj>
                </mc:Choice>
                <mc:Fallback>
                  <p:oleObj name="" r:id="rId12" imgW="78105" imgH="22225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55" y="1361"/>
                          <a:ext cx="119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0" name="Arc 221"/>
            <p:cNvSpPr/>
            <p:nvPr/>
          </p:nvSpPr>
          <p:spPr>
            <a:xfrm rot="2359582" flipV="1">
              <a:off x="3823" y="1147"/>
              <a:ext cx="1437" cy="158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7" y="6"/>
                </a:cxn>
                <a:cxn ang="0">
                  <a:pos x="1" y="0"/>
                </a:cxn>
                <a:cxn ang="0">
                  <a:pos x="7" y="6"/>
                </a:cxn>
                <a:cxn ang="0">
                  <a:pos x="0" y="9"/>
                </a:cxn>
                <a:cxn ang="0">
                  <a:pos x="1" y="0"/>
                </a:cxn>
              </a:cxnLst>
              <a:pathLst>
                <a:path w="20617" h="21432" fill="none">
                  <a:moveTo>
                    <a:pt x="2687" y="-1"/>
                  </a:moveTo>
                  <a:cubicBezTo>
                    <a:pt x="11084" y="1052"/>
                    <a:pt x="18093" y="6912"/>
                    <a:pt x="20616" y="14990"/>
                  </a:cubicBezTo>
                </a:path>
                <a:path w="20617" h="21432" stroke="0">
                  <a:moveTo>
                    <a:pt x="2687" y="-1"/>
                  </a:moveTo>
                  <a:cubicBezTo>
                    <a:pt x="11084" y="1052"/>
                    <a:pt x="18093" y="6912"/>
                    <a:pt x="20616" y="14990"/>
                  </a:cubicBezTo>
                  <a:lnTo>
                    <a:pt x="0" y="21432"/>
                  </a:lnTo>
                  <a:lnTo>
                    <a:pt x="2687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3333FF">
                  <a:alpha val="100000"/>
                </a:srgbClr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11" name="Line 222"/>
            <p:cNvSpPr/>
            <p:nvPr/>
          </p:nvSpPr>
          <p:spPr>
            <a:xfrm>
              <a:off x="4411" y="952"/>
              <a:ext cx="579" cy="1351"/>
            </a:xfrm>
            <a:prstGeom prst="line">
              <a:avLst/>
            </a:prstGeom>
            <a:ln w="317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4112" name="Oval 223"/>
            <p:cNvSpPr/>
            <p:nvPr/>
          </p:nvSpPr>
          <p:spPr>
            <a:xfrm>
              <a:off x="4905" y="2221"/>
              <a:ext cx="154" cy="164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5C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113" name="Group 224"/>
            <p:cNvGrpSpPr/>
            <p:nvPr/>
          </p:nvGrpSpPr>
          <p:grpSpPr>
            <a:xfrm>
              <a:off x="4416" y="1296"/>
              <a:ext cx="144" cy="240"/>
              <a:chOff x="4461" y="1296"/>
              <a:chExt cx="232" cy="384"/>
            </a:xfrm>
          </p:grpSpPr>
          <p:sp>
            <p:nvSpPr>
              <p:cNvPr id="4126" name="Arc 225"/>
              <p:cNvSpPr/>
              <p:nvPr/>
            </p:nvSpPr>
            <p:spPr>
              <a:xfrm flipV="1">
                <a:off x="4461" y="1296"/>
                <a:ext cx="192" cy="4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 fill="none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4127" name="Object 226"/>
              <p:cNvGraphicFramePr>
                <a:graphicFrameLocks noChangeAspect="1"/>
              </p:cNvGraphicFramePr>
              <p:nvPr/>
            </p:nvGraphicFramePr>
            <p:xfrm>
              <a:off x="4461" y="1364"/>
              <a:ext cx="232" cy="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5" name="" r:id="rId14" imgW="150495" imgH="208915" progId="Equation.3">
                      <p:embed/>
                    </p:oleObj>
                  </mc:Choice>
                  <mc:Fallback>
                    <p:oleObj name="" r:id="rId14" imgW="150495" imgH="208915" progId="Equation.3">
                      <p:embed/>
                      <p:pic>
                        <p:nvPicPr>
                          <p:cNvPr id="0" name="图片 3104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0099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461" y="1364"/>
                            <a:ext cx="232" cy="3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14" name="Group 227"/>
            <p:cNvGrpSpPr/>
            <p:nvPr/>
          </p:nvGrpSpPr>
          <p:grpSpPr>
            <a:xfrm>
              <a:off x="4416" y="1632"/>
              <a:ext cx="720" cy="1715"/>
              <a:chOff x="4512" y="1632"/>
              <a:chExt cx="720" cy="1715"/>
            </a:xfrm>
          </p:grpSpPr>
          <p:graphicFrame>
            <p:nvGraphicFramePr>
              <p:cNvPr id="4122" name="Object 228"/>
              <p:cNvGraphicFramePr>
                <a:graphicFrameLocks noChangeAspect="1"/>
              </p:cNvGraphicFramePr>
              <p:nvPr/>
            </p:nvGraphicFramePr>
            <p:xfrm>
              <a:off x="4512" y="1776"/>
              <a:ext cx="356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6" name="" r:id="rId16" imgW="156845" imgH="196215" progId="Equation.3">
                      <p:embed/>
                    </p:oleObj>
                  </mc:Choice>
                  <mc:Fallback>
                    <p:oleObj name="" r:id="rId16" imgW="156845" imgH="196215" progId="Equation.3">
                      <p:embed/>
                      <p:pic>
                        <p:nvPicPr>
                          <p:cNvPr id="0" name="图片 3105"/>
                          <p:cNvPicPr/>
                          <p:nvPr/>
                        </p:nvPicPr>
                        <p:blipFill>
                          <a:blip r:embed="rId17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512" y="1776"/>
                            <a:ext cx="356" cy="4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23" name="Line 229"/>
              <p:cNvSpPr/>
              <p:nvPr/>
            </p:nvSpPr>
            <p:spPr>
              <a:xfrm>
                <a:off x="5079" y="2304"/>
                <a:ext cx="0" cy="672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124" name="Line 230"/>
              <p:cNvSpPr/>
              <p:nvPr/>
            </p:nvSpPr>
            <p:spPr>
              <a:xfrm flipH="1" flipV="1">
                <a:off x="4800" y="1632"/>
                <a:ext cx="279" cy="672"/>
              </a:xfrm>
              <a:prstGeom prst="line">
                <a:avLst/>
              </a:prstGeom>
              <a:ln w="38100" cap="flat" cmpd="sng">
                <a:solidFill>
                  <a:srgbClr val="FF5050"/>
                </a:solidFill>
                <a:prstDash val="solid"/>
                <a:headEnd type="none" w="med" len="med"/>
                <a:tailEnd type="triangle" w="sm" len="lg"/>
              </a:ln>
            </p:spPr>
          </p:sp>
          <p:graphicFrame>
            <p:nvGraphicFramePr>
              <p:cNvPr id="4125" name="Object 231"/>
              <p:cNvGraphicFramePr>
                <a:graphicFrameLocks noChangeAspect="1"/>
              </p:cNvGraphicFramePr>
              <p:nvPr/>
            </p:nvGraphicFramePr>
            <p:xfrm>
              <a:off x="4939" y="2976"/>
              <a:ext cx="293" cy="3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1" name="" r:id="rId18" imgW="117475" imgH="163195" progId="Equation.3">
                      <p:embed/>
                    </p:oleObj>
                  </mc:Choice>
                  <mc:Fallback>
                    <p:oleObj name="" r:id="rId18" imgW="117475" imgH="163195" progId="Equation.3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19">
                            <a:clrChange>
                              <a:clrFrom>
                                <a:srgbClr val="000000"/>
                              </a:clrFrom>
                              <a:clrTo>
                                <a:srgbClr val="CC00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939" y="2976"/>
                            <a:ext cx="293" cy="37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15" name="Text Box 232"/>
            <p:cNvSpPr txBox="1"/>
            <p:nvPr/>
          </p:nvSpPr>
          <p:spPr>
            <a:xfrm>
              <a:off x="4300" y="2457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  <a:endParaRPr lang="en-US" altLang="zh-CN" sz="28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16" name="Text Box 233"/>
            <p:cNvSpPr txBox="1"/>
            <p:nvPr/>
          </p:nvSpPr>
          <p:spPr>
            <a:xfrm>
              <a:off x="4128" y="921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A</a:t>
              </a:r>
              <a:endParaRPr lang="en-US" altLang="zh-CN" sz="28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117" name="Text Box 234"/>
            <p:cNvSpPr txBox="1"/>
            <p:nvPr/>
          </p:nvSpPr>
          <p:spPr>
            <a:xfrm>
              <a:off x="4934" y="1914"/>
              <a:ext cx="2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m</a:t>
              </a:r>
              <a:endParaRPr lang="en-US" altLang="zh-CN" sz="2800" i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118" name="Object 235"/>
            <p:cNvGraphicFramePr>
              <a:graphicFrameLocks noChangeAspect="1"/>
            </p:cNvGraphicFramePr>
            <p:nvPr/>
          </p:nvGraphicFramePr>
          <p:xfrm>
            <a:off x="3936" y="2943"/>
            <a:ext cx="858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20" imgW="609600" imgH="228600" progId="Equation.3">
                    <p:embed/>
                  </p:oleObj>
                </mc:Choice>
                <mc:Fallback>
                  <p:oleObj name="" r:id="rId20" imgW="609600" imgH="2286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936" y="2943"/>
                          <a:ext cx="858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19" name="Group 236"/>
            <p:cNvGrpSpPr/>
            <p:nvPr/>
          </p:nvGrpSpPr>
          <p:grpSpPr>
            <a:xfrm>
              <a:off x="4748" y="709"/>
              <a:ext cx="665" cy="1134"/>
              <a:chOff x="4748" y="709"/>
              <a:chExt cx="665" cy="1134"/>
            </a:xfrm>
          </p:grpSpPr>
          <p:sp>
            <p:nvSpPr>
              <p:cNvPr id="4120" name="Text Box 237"/>
              <p:cNvSpPr txBox="1"/>
              <p:nvPr/>
            </p:nvSpPr>
            <p:spPr>
              <a:xfrm>
                <a:off x="4967" y="709"/>
                <a:ext cx="446" cy="1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800" dirty="0">
                    <a:latin typeface="Times New Roman" panose="02020603050405020304" pitchFamily="18" charset="0"/>
                  </a:rPr>
                  <a:t>转动正向</a:t>
                </a:r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1" name="Arc 238"/>
              <p:cNvSpPr/>
              <p:nvPr/>
            </p:nvSpPr>
            <p:spPr>
              <a:xfrm rot="2700000">
                <a:off x="4689" y="811"/>
                <a:ext cx="341" cy="2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8292" h="21600" fill="none">
                    <a:moveTo>
                      <a:pt x="0" y="8"/>
                    </a:moveTo>
                    <a:cubicBezTo>
                      <a:pt x="199" y="2"/>
                      <a:pt x="399" y="0"/>
                      <a:pt x="600" y="0"/>
                    </a:cubicBezTo>
                    <a:cubicBezTo>
                      <a:pt x="7646" y="0"/>
                      <a:pt x="14249" y="3436"/>
                      <a:pt x="18291" y="9208"/>
                    </a:cubicBezTo>
                  </a:path>
                  <a:path w="18292" h="21600" stroke="0">
                    <a:moveTo>
                      <a:pt x="0" y="8"/>
                    </a:moveTo>
                    <a:cubicBezTo>
                      <a:pt x="199" y="2"/>
                      <a:pt x="399" y="0"/>
                      <a:pt x="600" y="0"/>
                    </a:cubicBezTo>
                    <a:cubicBezTo>
                      <a:pt x="7646" y="0"/>
                      <a:pt x="14249" y="3436"/>
                      <a:pt x="18291" y="9208"/>
                    </a:cubicBezTo>
                    <a:lnTo>
                      <a:pt x="600" y="21600"/>
                    </a:lnTo>
                    <a:lnTo>
                      <a:pt x="0" y="8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CC0000">
                    <a:alpha val="100000"/>
                  </a:srgbClr>
                </a:solidFill>
                <a:prstDash val="solid"/>
                <a:round/>
                <a:headEnd type="triangle" w="sm" len="lg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 Box 10"/>
          <p:cNvSpPr txBox="1"/>
          <p:nvPr/>
        </p:nvSpPr>
        <p:spPr>
          <a:xfrm>
            <a:off x="1063625" y="7620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rgbClr val="CC0000"/>
                </a:solidFill>
                <a:latin typeface="宋体" panose="02010600030101010101" pitchFamily="2" charset="-122"/>
              </a:rPr>
              <a:t>二  复摆</a:t>
            </a:r>
            <a:endParaRPr lang="zh-CN" altLang="en-US" sz="3600" dirty="0">
              <a:latin typeface="宋体" panose="02010600030101010101" pitchFamily="2" charset="-122"/>
            </a:endParaRPr>
          </a:p>
        </p:txBody>
      </p:sp>
      <p:graphicFrame>
        <p:nvGraphicFramePr>
          <p:cNvPr id="182289" name="Object 17"/>
          <p:cNvGraphicFramePr>
            <a:graphicFrameLocks noChangeAspect="1"/>
          </p:cNvGraphicFramePr>
          <p:nvPr/>
        </p:nvGraphicFramePr>
        <p:xfrm>
          <a:off x="1143000" y="3733800"/>
          <a:ext cx="29114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218565" imgH="482600" progId="Equation.3">
                  <p:embed/>
                </p:oleObj>
              </mc:Choice>
              <mc:Fallback>
                <p:oleObj name="" r:id="rId1" imgW="1218565" imgH="4826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3000" y="3733800"/>
                        <a:ext cx="2911475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2350" name="Group 78"/>
          <p:cNvGrpSpPr/>
          <p:nvPr/>
        </p:nvGrpSpPr>
        <p:grpSpPr>
          <a:xfrm>
            <a:off x="1143000" y="4789488"/>
            <a:ext cx="2286000" cy="1001712"/>
            <a:chOff x="432" y="2832"/>
            <a:chExt cx="1440" cy="631"/>
          </a:xfrm>
        </p:grpSpPr>
        <p:graphicFrame>
          <p:nvGraphicFramePr>
            <p:cNvPr id="5148" name="Object 20"/>
            <p:cNvGraphicFramePr>
              <a:graphicFrameLocks noChangeAspect="1"/>
            </p:cNvGraphicFramePr>
            <p:nvPr/>
          </p:nvGraphicFramePr>
          <p:xfrm>
            <a:off x="864" y="2832"/>
            <a:ext cx="1008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3" imgW="761365" imgH="469900" progId="Equation.3">
                    <p:embed/>
                  </p:oleObj>
                </mc:Choice>
                <mc:Fallback>
                  <p:oleObj name="" r:id="rId3" imgW="761365" imgH="4699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64" y="2832"/>
                          <a:ext cx="1008" cy="6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9" name="Text Box 21"/>
            <p:cNvSpPr txBox="1"/>
            <p:nvPr/>
          </p:nvSpPr>
          <p:spPr>
            <a:xfrm>
              <a:off x="432" y="2935"/>
              <a:ext cx="63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令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82295" name="Object 23"/>
          <p:cNvGraphicFramePr>
            <a:graphicFrameLocks noChangeAspect="1"/>
          </p:cNvGraphicFramePr>
          <p:nvPr/>
        </p:nvGraphicFramePr>
        <p:xfrm>
          <a:off x="3200400" y="838200"/>
          <a:ext cx="13065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5" imgW="622300" imgH="266700" progId="Equation.3">
                  <p:embed/>
                </p:oleObj>
              </mc:Choice>
              <mc:Fallback>
                <p:oleObj name="" r:id="rId5" imgW="622300" imgH="2667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0400" y="838200"/>
                        <a:ext cx="1306513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48" name="Object 76"/>
          <p:cNvGraphicFramePr>
            <a:graphicFrameLocks noChangeAspect="1"/>
          </p:cNvGraphicFramePr>
          <p:nvPr/>
        </p:nvGraphicFramePr>
        <p:xfrm>
          <a:off x="1187450" y="1484313"/>
          <a:ext cx="181768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7" imgW="660400" imgH="203200" progId="Equation.3">
                  <p:embed/>
                </p:oleObj>
              </mc:Choice>
              <mc:Fallback>
                <p:oleObj name="" r:id="rId7" imgW="660400" imgH="2032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450" y="1484313"/>
                        <a:ext cx="1817688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49" name="Object 77"/>
          <p:cNvGraphicFramePr>
            <a:graphicFrameLocks noChangeAspect="1"/>
          </p:cNvGraphicFramePr>
          <p:nvPr/>
        </p:nvGraphicFramePr>
        <p:xfrm>
          <a:off x="1143000" y="2133600"/>
          <a:ext cx="2617788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9" imgW="1206500" imgH="762000" progId="Equation.3">
                  <p:embed/>
                </p:oleObj>
              </mc:Choice>
              <mc:Fallback>
                <p:oleObj name="" r:id="rId9" imgW="1206500" imgH="7620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43000" y="2133600"/>
                        <a:ext cx="2617788" cy="165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351" name="Object 79"/>
          <p:cNvGraphicFramePr>
            <a:graphicFrameLocks noChangeAspect="1"/>
          </p:cNvGraphicFramePr>
          <p:nvPr/>
        </p:nvGraphicFramePr>
        <p:xfrm>
          <a:off x="3563938" y="5300663"/>
          <a:ext cx="20748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1" imgW="787400" imgH="419100" progId="Equation.3">
                  <p:embed/>
                </p:oleObj>
              </mc:Choice>
              <mc:Fallback>
                <p:oleObj name="" r:id="rId11" imgW="787400" imgH="4191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63938" y="5300663"/>
                        <a:ext cx="2074862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52" name="AutoShape 80"/>
          <p:cNvSpPr>
            <a:spLocks noChangeArrowheads="1"/>
          </p:cNvSpPr>
          <p:nvPr/>
        </p:nvSpPr>
        <p:spPr bwMode="auto">
          <a:xfrm>
            <a:off x="1295400" y="5791200"/>
            <a:ext cx="1828800" cy="381000"/>
          </a:xfrm>
          <a:prstGeom prst="rightArrow">
            <a:avLst>
              <a:gd name="adj1" fmla="val 50000"/>
              <a:gd name="adj2" fmla="val 120000"/>
            </a:avLst>
          </a:prstGeom>
          <a:gradFill rotWithShape="0">
            <a:gsLst>
              <a:gs pos="0">
                <a:schemeClr val="tx1"/>
              </a:gs>
              <a:gs pos="50000">
                <a:srgbClr val="CC0000"/>
              </a:gs>
              <a:gs pos="100000">
                <a:schemeClr val="tx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0" name="Rectangle 58"/>
          <p:cNvSpPr/>
          <p:nvPr/>
        </p:nvSpPr>
        <p:spPr>
          <a:xfrm>
            <a:off x="5513388" y="1066800"/>
            <a:ext cx="3189287" cy="426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1" name="Freeform 59"/>
          <p:cNvSpPr/>
          <p:nvPr/>
        </p:nvSpPr>
        <p:spPr>
          <a:xfrm rot="63105">
            <a:off x="5978525" y="1720850"/>
            <a:ext cx="2259013" cy="21955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948" h="1168">
                <a:moveTo>
                  <a:pt x="88" y="0"/>
                </a:moveTo>
                <a:cubicBezTo>
                  <a:pt x="117" y="3"/>
                  <a:pt x="148" y="0"/>
                  <a:pt x="176" y="8"/>
                </a:cubicBezTo>
                <a:cubicBezTo>
                  <a:pt x="194" y="13"/>
                  <a:pt x="206" y="34"/>
                  <a:pt x="224" y="40"/>
                </a:cubicBezTo>
                <a:cubicBezTo>
                  <a:pt x="272" y="56"/>
                  <a:pt x="306" y="97"/>
                  <a:pt x="352" y="112"/>
                </a:cubicBezTo>
                <a:cubicBezTo>
                  <a:pt x="370" y="139"/>
                  <a:pt x="416" y="184"/>
                  <a:pt x="416" y="184"/>
                </a:cubicBezTo>
                <a:cubicBezTo>
                  <a:pt x="448" y="265"/>
                  <a:pt x="495" y="359"/>
                  <a:pt x="568" y="408"/>
                </a:cubicBezTo>
                <a:cubicBezTo>
                  <a:pt x="573" y="416"/>
                  <a:pt x="576" y="426"/>
                  <a:pt x="584" y="432"/>
                </a:cubicBezTo>
                <a:cubicBezTo>
                  <a:pt x="591" y="437"/>
                  <a:pt x="602" y="434"/>
                  <a:pt x="608" y="440"/>
                </a:cubicBezTo>
                <a:cubicBezTo>
                  <a:pt x="616" y="448"/>
                  <a:pt x="615" y="464"/>
                  <a:pt x="624" y="472"/>
                </a:cubicBezTo>
                <a:cubicBezTo>
                  <a:pt x="643" y="489"/>
                  <a:pt x="670" y="494"/>
                  <a:pt x="688" y="512"/>
                </a:cubicBezTo>
                <a:cubicBezTo>
                  <a:pt x="703" y="527"/>
                  <a:pt x="712" y="547"/>
                  <a:pt x="728" y="560"/>
                </a:cubicBezTo>
                <a:cubicBezTo>
                  <a:pt x="735" y="565"/>
                  <a:pt x="744" y="565"/>
                  <a:pt x="752" y="568"/>
                </a:cubicBezTo>
                <a:cubicBezTo>
                  <a:pt x="786" y="583"/>
                  <a:pt x="785" y="585"/>
                  <a:pt x="816" y="608"/>
                </a:cubicBezTo>
                <a:cubicBezTo>
                  <a:pt x="821" y="619"/>
                  <a:pt x="824" y="632"/>
                  <a:pt x="832" y="640"/>
                </a:cubicBezTo>
                <a:cubicBezTo>
                  <a:pt x="838" y="646"/>
                  <a:pt x="850" y="642"/>
                  <a:pt x="856" y="648"/>
                </a:cubicBezTo>
                <a:lnTo>
                  <a:pt x="888" y="696"/>
                </a:lnTo>
                <a:cubicBezTo>
                  <a:pt x="888" y="696"/>
                  <a:pt x="888" y="696"/>
                  <a:pt x="888" y="696"/>
                </a:cubicBezTo>
                <a:cubicBezTo>
                  <a:pt x="902" y="739"/>
                  <a:pt x="914" y="782"/>
                  <a:pt x="928" y="824"/>
                </a:cubicBezTo>
                <a:cubicBezTo>
                  <a:pt x="936" y="925"/>
                  <a:pt x="948" y="1026"/>
                  <a:pt x="928" y="1128"/>
                </a:cubicBezTo>
                <a:cubicBezTo>
                  <a:pt x="926" y="1139"/>
                  <a:pt x="906" y="1132"/>
                  <a:pt x="896" y="1136"/>
                </a:cubicBezTo>
                <a:cubicBezTo>
                  <a:pt x="873" y="1145"/>
                  <a:pt x="860" y="1155"/>
                  <a:pt x="840" y="1168"/>
                </a:cubicBezTo>
                <a:cubicBezTo>
                  <a:pt x="765" y="1161"/>
                  <a:pt x="667" y="1157"/>
                  <a:pt x="600" y="1120"/>
                </a:cubicBezTo>
                <a:cubicBezTo>
                  <a:pt x="580" y="1109"/>
                  <a:pt x="561" y="1095"/>
                  <a:pt x="544" y="1080"/>
                </a:cubicBezTo>
                <a:cubicBezTo>
                  <a:pt x="527" y="1065"/>
                  <a:pt x="496" y="1032"/>
                  <a:pt x="496" y="1032"/>
                </a:cubicBezTo>
                <a:cubicBezTo>
                  <a:pt x="485" y="999"/>
                  <a:pt x="482" y="979"/>
                  <a:pt x="448" y="968"/>
                </a:cubicBezTo>
                <a:cubicBezTo>
                  <a:pt x="440" y="930"/>
                  <a:pt x="435" y="895"/>
                  <a:pt x="408" y="864"/>
                </a:cubicBezTo>
                <a:cubicBezTo>
                  <a:pt x="382" y="834"/>
                  <a:pt x="358" y="823"/>
                  <a:pt x="336" y="784"/>
                </a:cubicBezTo>
                <a:cubicBezTo>
                  <a:pt x="284" y="693"/>
                  <a:pt x="236" y="596"/>
                  <a:pt x="160" y="520"/>
                </a:cubicBezTo>
                <a:cubicBezTo>
                  <a:pt x="139" y="456"/>
                  <a:pt x="171" y="531"/>
                  <a:pt x="128" y="488"/>
                </a:cubicBezTo>
                <a:cubicBezTo>
                  <a:pt x="114" y="474"/>
                  <a:pt x="96" y="440"/>
                  <a:pt x="96" y="440"/>
                </a:cubicBezTo>
                <a:cubicBezTo>
                  <a:pt x="87" y="405"/>
                  <a:pt x="70" y="378"/>
                  <a:pt x="56" y="344"/>
                </a:cubicBezTo>
                <a:cubicBezTo>
                  <a:pt x="45" y="230"/>
                  <a:pt x="0" y="88"/>
                  <a:pt x="88" y="0"/>
                </a:cubicBezTo>
                <a:close/>
              </a:path>
            </a:pathLst>
          </a:custGeom>
          <a:gradFill rotWithShape="0">
            <a:gsLst>
              <a:gs pos="0">
                <a:srgbClr val="CCECFF">
                  <a:alpha val="100000"/>
                </a:srgbClr>
              </a:gs>
              <a:gs pos="100000">
                <a:schemeClr val="bg1">
                  <a:alpha val="100000"/>
                </a:schemeClr>
              </a:gs>
            </a:gsLst>
            <a:path path="rect">
              <a:fillToRect l="100000" t="100000"/>
            </a:path>
            <a:tileRect/>
          </a:gradFill>
          <a:ln w="28575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32" name="Line 60"/>
          <p:cNvSpPr/>
          <p:nvPr/>
        </p:nvSpPr>
        <p:spPr>
          <a:xfrm>
            <a:off x="6565900" y="2232025"/>
            <a:ext cx="0" cy="2255838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5133" name="Text Box 61"/>
          <p:cNvSpPr txBox="1"/>
          <p:nvPr/>
        </p:nvSpPr>
        <p:spPr>
          <a:xfrm>
            <a:off x="7070725" y="2879725"/>
            <a:ext cx="3984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*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4" name="Group 62"/>
          <p:cNvGrpSpPr/>
          <p:nvPr/>
        </p:nvGrpSpPr>
        <p:grpSpPr>
          <a:xfrm>
            <a:off x="6567488" y="2208213"/>
            <a:ext cx="725487" cy="854075"/>
            <a:chOff x="4033" y="1344"/>
            <a:chExt cx="524" cy="672"/>
          </a:xfrm>
        </p:grpSpPr>
        <p:sp>
          <p:nvSpPr>
            <p:cNvPr id="5144" name="Line 63"/>
            <p:cNvSpPr/>
            <p:nvPr/>
          </p:nvSpPr>
          <p:spPr>
            <a:xfrm>
              <a:off x="4033" y="1344"/>
              <a:ext cx="480" cy="67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5145" name="Object 64"/>
            <p:cNvGraphicFramePr>
              <a:graphicFrameLocks noChangeAspect="1"/>
            </p:cNvGraphicFramePr>
            <p:nvPr/>
          </p:nvGraphicFramePr>
          <p:xfrm>
            <a:off x="4073" y="1700"/>
            <a:ext cx="19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3" imgW="150495" imgH="208915" progId="Equation.3">
                    <p:embed/>
                  </p:oleObj>
                </mc:Choice>
                <mc:Fallback>
                  <p:oleObj name="" r:id="rId13" imgW="150495" imgH="208915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73" y="1700"/>
                          <a:ext cx="197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6" name="Object 65"/>
            <p:cNvGraphicFramePr>
              <a:graphicFrameLocks noChangeAspect="1"/>
            </p:cNvGraphicFramePr>
            <p:nvPr/>
          </p:nvGraphicFramePr>
          <p:xfrm>
            <a:off x="4409" y="1536"/>
            <a:ext cx="14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5" imgW="78105" imgH="222250" progId="Equation.3">
                    <p:embed/>
                  </p:oleObj>
                </mc:Choice>
                <mc:Fallback>
                  <p:oleObj name="" r:id="rId15" imgW="78105" imgH="22225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09" y="1536"/>
                          <a:ext cx="148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7" name="Arc 66"/>
            <p:cNvSpPr/>
            <p:nvPr/>
          </p:nvSpPr>
          <p:spPr>
            <a:xfrm flipV="1">
              <a:off x="4038" y="1584"/>
              <a:ext cx="180" cy="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6966" h="21600" fill="none">
                  <a:moveTo>
                    <a:pt x="0" y="677"/>
                  </a:moveTo>
                  <a:cubicBezTo>
                    <a:pt x="1753" y="227"/>
                    <a:pt x="3556" y="0"/>
                    <a:pt x="5366" y="0"/>
                  </a:cubicBezTo>
                  <a:cubicBezTo>
                    <a:pt x="17295" y="0"/>
                    <a:pt x="26966" y="9670"/>
                    <a:pt x="26966" y="21600"/>
                  </a:cubicBezTo>
                </a:path>
                <a:path w="26966" h="21600" stroke="0">
                  <a:moveTo>
                    <a:pt x="0" y="677"/>
                  </a:moveTo>
                  <a:cubicBezTo>
                    <a:pt x="1753" y="227"/>
                    <a:pt x="3556" y="0"/>
                    <a:pt x="5366" y="0"/>
                  </a:cubicBezTo>
                  <a:cubicBezTo>
                    <a:pt x="17295" y="0"/>
                    <a:pt x="26966" y="9670"/>
                    <a:pt x="26966" y="21600"/>
                  </a:cubicBezTo>
                  <a:lnTo>
                    <a:pt x="5366" y="21600"/>
                  </a:lnTo>
                  <a:lnTo>
                    <a:pt x="0" y="677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9" name="Group 67"/>
          <p:cNvGrpSpPr/>
          <p:nvPr/>
        </p:nvGrpSpPr>
        <p:grpSpPr>
          <a:xfrm>
            <a:off x="7164388" y="3062288"/>
            <a:ext cx="454025" cy="1438275"/>
            <a:chOff x="4464" y="2016"/>
            <a:chExt cx="328" cy="1132"/>
          </a:xfrm>
        </p:grpSpPr>
        <p:sp>
          <p:nvSpPr>
            <p:cNvPr id="5142" name="Line 68"/>
            <p:cNvSpPr/>
            <p:nvPr/>
          </p:nvSpPr>
          <p:spPr>
            <a:xfrm>
              <a:off x="4513" y="2016"/>
              <a:ext cx="0" cy="816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5143" name="Object 69"/>
            <p:cNvGraphicFramePr>
              <a:graphicFrameLocks noChangeAspect="1"/>
            </p:cNvGraphicFramePr>
            <p:nvPr/>
          </p:nvGraphicFramePr>
          <p:xfrm>
            <a:off x="4464" y="2736"/>
            <a:ext cx="328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7" imgW="117475" imgH="163195" progId="Equation.3">
                    <p:embed/>
                  </p:oleObj>
                </mc:Choice>
                <mc:Fallback>
                  <p:oleObj name="" r:id="rId17" imgW="117475" imgH="163195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4" y="2736"/>
                          <a:ext cx="328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6" name="Text Box 70"/>
          <p:cNvSpPr txBox="1"/>
          <p:nvPr/>
        </p:nvSpPr>
        <p:spPr>
          <a:xfrm>
            <a:off x="5741988" y="4662488"/>
            <a:ext cx="25638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点为质心）</a:t>
            </a:r>
            <a:endParaRPr lang="zh-CN" altLang="en-US" sz="2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137" name="Rectangle 74"/>
          <p:cNvSpPr/>
          <p:nvPr/>
        </p:nvSpPr>
        <p:spPr>
          <a:xfrm>
            <a:off x="7239000" y="29098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zh-CN" altLang="en-US" sz="28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38" name="Rectangle 75"/>
          <p:cNvSpPr/>
          <p:nvPr/>
        </p:nvSpPr>
        <p:spPr>
          <a:xfrm>
            <a:off x="6172200" y="1843088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endParaRPr lang="zh-CN" altLang="en-US" sz="28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5" name="Group 85"/>
          <p:cNvGrpSpPr/>
          <p:nvPr/>
        </p:nvGrpSpPr>
        <p:grpSpPr>
          <a:xfrm>
            <a:off x="5940425" y="1268413"/>
            <a:ext cx="2363788" cy="720725"/>
            <a:chOff x="3742" y="799"/>
            <a:chExt cx="1489" cy="454"/>
          </a:xfrm>
        </p:grpSpPr>
        <p:sp>
          <p:nvSpPr>
            <p:cNvPr id="5140" name="Rectangle 73"/>
            <p:cNvSpPr/>
            <p:nvPr/>
          </p:nvSpPr>
          <p:spPr>
            <a:xfrm>
              <a:off x="4059" y="799"/>
              <a:ext cx="11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转动正向</a:t>
              </a:r>
              <a:endPara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1" name="Arc 84"/>
            <p:cNvSpPr/>
            <p:nvPr/>
          </p:nvSpPr>
          <p:spPr>
            <a:xfrm flipH="1">
              <a:off x="3742" y="981"/>
              <a:ext cx="181" cy="2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CC0000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8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1079500" y="806450"/>
          <a:ext cx="18669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939165" imgH="482600" progId="Equation.3">
                  <p:embed/>
                </p:oleObj>
              </mc:Choice>
              <mc:Fallback>
                <p:oleObj name="" r:id="rId1" imgW="939165" imgH="4826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9500" y="806450"/>
                        <a:ext cx="1866900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3" name="Object 3"/>
          <p:cNvGraphicFramePr>
            <a:graphicFrameLocks noChangeAspect="1"/>
          </p:cNvGraphicFramePr>
          <p:nvPr/>
        </p:nvGraphicFramePr>
        <p:xfrm>
          <a:off x="1079500" y="5454650"/>
          <a:ext cx="31242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1409065" imgH="254000" progId="Equation.3">
                  <p:embed/>
                </p:oleObj>
              </mc:Choice>
              <mc:Fallback>
                <p:oleObj name="" r:id="rId3" imgW="1409065" imgH="2540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9500" y="5454650"/>
                        <a:ext cx="31242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4" name="Object 4"/>
          <p:cNvGraphicFramePr>
            <a:graphicFrameLocks noChangeAspect="1"/>
          </p:cNvGraphicFramePr>
          <p:nvPr/>
        </p:nvGraphicFramePr>
        <p:xfrm>
          <a:off x="1066800" y="4248150"/>
          <a:ext cx="233045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1054100" imgH="558800" progId="Equation.3">
                  <p:embed/>
                </p:oleObj>
              </mc:Choice>
              <mc:Fallback>
                <p:oleObj name="" r:id="rId5" imgW="1054100" imgH="5588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6800" y="4248150"/>
                        <a:ext cx="2330450" cy="1231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48" name="Rectangle 28"/>
          <p:cNvSpPr/>
          <p:nvPr/>
        </p:nvSpPr>
        <p:spPr>
          <a:xfrm>
            <a:off x="4279900" y="5378450"/>
            <a:ext cx="18161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角谐振动</a:t>
            </a:r>
            <a:endParaRPr lang="zh-CN" altLang="en-US" sz="32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84373" name="Object 53"/>
          <p:cNvGraphicFramePr>
            <a:graphicFrameLocks noChangeAspect="1"/>
          </p:cNvGraphicFramePr>
          <p:nvPr/>
        </p:nvGraphicFramePr>
        <p:xfrm>
          <a:off x="958850" y="1797050"/>
          <a:ext cx="3503613" cy="23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7" imgW="1663700" imgH="1117600" progId="Equation.3">
                  <p:embed/>
                </p:oleObj>
              </mc:Choice>
              <mc:Fallback>
                <p:oleObj name="" r:id="rId7" imgW="1663700" imgH="11176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8850" y="1797050"/>
                        <a:ext cx="3503613" cy="235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Rectangle 58"/>
          <p:cNvSpPr/>
          <p:nvPr/>
        </p:nvSpPr>
        <p:spPr>
          <a:xfrm>
            <a:off x="5513388" y="1066800"/>
            <a:ext cx="3189287" cy="426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2" name="Freeform 59"/>
          <p:cNvSpPr/>
          <p:nvPr/>
        </p:nvSpPr>
        <p:spPr>
          <a:xfrm rot="63105">
            <a:off x="5978525" y="1720850"/>
            <a:ext cx="2259013" cy="21955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948" h="1168">
                <a:moveTo>
                  <a:pt x="88" y="0"/>
                </a:moveTo>
                <a:cubicBezTo>
                  <a:pt x="117" y="3"/>
                  <a:pt x="148" y="0"/>
                  <a:pt x="176" y="8"/>
                </a:cubicBezTo>
                <a:cubicBezTo>
                  <a:pt x="194" y="13"/>
                  <a:pt x="206" y="34"/>
                  <a:pt x="224" y="40"/>
                </a:cubicBezTo>
                <a:cubicBezTo>
                  <a:pt x="272" y="56"/>
                  <a:pt x="306" y="97"/>
                  <a:pt x="352" y="112"/>
                </a:cubicBezTo>
                <a:cubicBezTo>
                  <a:pt x="370" y="139"/>
                  <a:pt x="416" y="184"/>
                  <a:pt x="416" y="184"/>
                </a:cubicBezTo>
                <a:cubicBezTo>
                  <a:pt x="448" y="265"/>
                  <a:pt x="495" y="359"/>
                  <a:pt x="568" y="408"/>
                </a:cubicBezTo>
                <a:cubicBezTo>
                  <a:pt x="573" y="416"/>
                  <a:pt x="576" y="426"/>
                  <a:pt x="584" y="432"/>
                </a:cubicBezTo>
                <a:cubicBezTo>
                  <a:pt x="591" y="437"/>
                  <a:pt x="602" y="434"/>
                  <a:pt x="608" y="440"/>
                </a:cubicBezTo>
                <a:cubicBezTo>
                  <a:pt x="616" y="448"/>
                  <a:pt x="615" y="464"/>
                  <a:pt x="624" y="472"/>
                </a:cubicBezTo>
                <a:cubicBezTo>
                  <a:pt x="643" y="489"/>
                  <a:pt x="670" y="494"/>
                  <a:pt x="688" y="512"/>
                </a:cubicBezTo>
                <a:cubicBezTo>
                  <a:pt x="703" y="527"/>
                  <a:pt x="712" y="547"/>
                  <a:pt x="728" y="560"/>
                </a:cubicBezTo>
                <a:cubicBezTo>
                  <a:pt x="735" y="565"/>
                  <a:pt x="744" y="565"/>
                  <a:pt x="752" y="568"/>
                </a:cubicBezTo>
                <a:cubicBezTo>
                  <a:pt x="786" y="583"/>
                  <a:pt x="785" y="585"/>
                  <a:pt x="816" y="608"/>
                </a:cubicBezTo>
                <a:cubicBezTo>
                  <a:pt x="821" y="619"/>
                  <a:pt x="824" y="632"/>
                  <a:pt x="832" y="640"/>
                </a:cubicBezTo>
                <a:cubicBezTo>
                  <a:pt x="838" y="646"/>
                  <a:pt x="850" y="642"/>
                  <a:pt x="856" y="648"/>
                </a:cubicBezTo>
                <a:lnTo>
                  <a:pt x="888" y="696"/>
                </a:lnTo>
                <a:cubicBezTo>
                  <a:pt x="888" y="696"/>
                  <a:pt x="888" y="696"/>
                  <a:pt x="888" y="696"/>
                </a:cubicBezTo>
                <a:cubicBezTo>
                  <a:pt x="902" y="739"/>
                  <a:pt x="914" y="782"/>
                  <a:pt x="928" y="824"/>
                </a:cubicBezTo>
                <a:cubicBezTo>
                  <a:pt x="936" y="925"/>
                  <a:pt x="948" y="1026"/>
                  <a:pt x="928" y="1128"/>
                </a:cubicBezTo>
                <a:cubicBezTo>
                  <a:pt x="926" y="1139"/>
                  <a:pt x="906" y="1132"/>
                  <a:pt x="896" y="1136"/>
                </a:cubicBezTo>
                <a:cubicBezTo>
                  <a:pt x="873" y="1145"/>
                  <a:pt x="860" y="1155"/>
                  <a:pt x="840" y="1168"/>
                </a:cubicBezTo>
                <a:cubicBezTo>
                  <a:pt x="765" y="1161"/>
                  <a:pt x="667" y="1157"/>
                  <a:pt x="600" y="1120"/>
                </a:cubicBezTo>
                <a:cubicBezTo>
                  <a:pt x="580" y="1109"/>
                  <a:pt x="561" y="1095"/>
                  <a:pt x="544" y="1080"/>
                </a:cubicBezTo>
                <a:cubicBezTo>
                  <a:pt x="527" y="1065"/>
                  <a:pt x="496" y="1032"/>
                  <a:pt x="496" y="1032"/>
                </a:cubicBezTo>
                <a:cubicBezTo>
                  <a:pt x="485" y="999"/>
                  <a:pt x="482" y="979"/>
                  <a:pt x="448" y="968"/>
                </a:cubicBezTo>
                <a:cubicBezTo>
                  <a:pt x="440" y="930"/>
                  <a:pt x="435" y="895"/>
                  <a:pt x="408" y="864"/>
                </a:cubicBezTo>
                <a:cubicBezTo>
                  <a:pt x="382" y="834"/>
                  <a:pt x="358" y="823"/>
                  <a:pt x="336" y="784"/>
                </a:cubicBezTo>
                <a:cubicBezTo>
                  <a:pt x="284" y="693"/>
                  <a:pt x="236" y="596"/>
                  <a:pt x="160" y="520"/>
                </a:cubicBezTo>
                <a:cubicBezTo>
                  <a:pt x="139" y="456"/>
                  <a:pt x="171" y="531"/>
                  <a:pt x="128" y="488"/>
                </a:cubicBezTo>
                <a:cubicBezTo>
                  <a:pt x="114" y="474"/>
                  <a:pt x="96" y="440"/>
                  <a:pt x="96" y="440"/>
                </a:cubicBezTo>
                <a:cubicBezTo>
                  <a:pt x="87" y="405"/>
                  <a:pt x="70" y="378"/>
                  <a:pt x="56" y="344"/>
                </a:cubicBezTo>
                <a:cubicBezTo>
                  <a:pt x="45" y="230"/>
                  <a:pt x="0" y="88"/>
                  <a:pt x="88" y="0"/>
                </a:cubicBezTo>
                <a:close/>
              </a:path>
            </a:pathLst>
          </a:custGeom>
          <a:gradFill rotWithShape="0">
            <a:gsLst>
              <a:gs pos="0">
                <a:srgbClr val="CCECFF">
                  <a:alpha val="100000"/>
                </a:srgbClr>
              </a:gs>
              <a:gs pos="100000">
                <a:schemeClr val="bg1">
                  <a:alpha val="100000"/>
                </a:schemeClr>
              </a:gs>
            </a:gsLst>
            <a:path path="rect">
              <a:fillToRect l="100000" t="100000"/>
            </a:path>
            <a:tileRect/>
          </a:gradFill>
          <a:ln w="28575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153" name="Line 60"/>
          <p:cNvSpPr/>
          <p:nvPr/>
        </p:nvSpPr>
        <p:spPr>
          <a:xfrm>
            <a:off x="6565900" y="2232025"/>
            <a:ext cx="0" cy="2255838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6154" name="Text Box 61"/>
          <p:cNvSpPr txBox="1"/>
          <p:nvPr/>
        </p:nvSpPr>
        <p:spPr>
          <a:xfrm>
            <a:off x="7070725" y="2879725"/>
            <a:ext cx="3984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*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0" name="Group 62"/>
          <p:cNvGrpSpPr/>
          <p:nvPr/>
        </p:nvGrpSpPr>
        <p:grpSpPr>
          <a:xfrm>
            <a:off x="6567488" y="2208213"/>
            <a:ext cx="725487" cy="854075"/>
            <a:chOff x="4033" y="1344"/>
            <a:chExt cx="524" cy="672"/>
          </a:xfrm>
        </p:grpSpPr>
        <p:sp>
          <p:nvSpPr>
            <p:cNvPr id="6165" name="Line 63"/>
            <p:cNvSpPr/>
            <p:nvPr/>
          </p:nvSpPr>
          <p:spPr>
            <a:xfrm>
              <a:off x="4033" y="1344"/>
              <a:ext cx="480" cy="67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6166" name="Object 64"/>
            <p:cNvGraphicFramePr>
              <a:graphicFrameLocks noChangeAspect="1"/>
            </p:cNvGraphicFramePr>
            <p:nvPr/>
          </p:nvGraphicFramePr>
          <p:xfrm>
            <a:off x="4073" y="1700"/>
            <a:ext cx="19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9" imgW="150495" imgH="208915" progId="Equation.3">
                    <p:embed/>
                  </p:oleObj>
                </mc:Choice>
                <mc:Fallback>
                  <p:oleObj name="" r:id="rId9" imgW="150495" imgH="208915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73" y="1700"/>
                          <a:ext cx="197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7" name="Object 65"/>
            <p:cNvGraphicFramePr>
              <a:graphicFrameLocks noChangeAspect="1"/>
            </p:cNvGraphicFramePr>
            <p:nvPr/>
          </p:nvGraphicFramePr>
          <p:xfrm>
            <a:off x="4409" y="1536"/>
            <a:ext cx="14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1" imgW="78105" imgH="222250" progId="Equation.3">
                    <p:embed/>
                  </p:oleObj>
                </mc:Choice>
                <mc:Fallback>
                  <p:oleObj name="" r:id="rId11" imgW="78105" imgH="22225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09" y="1536"/>
                          <a:ext cx="148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8" name="Arc 66"/>
            <p:cNvSpPr/>
            <p:nvPr/>
          </p:nvSpPr>
          <p:spPr>
            <a:xfrm flipV="1">
              <a:off x="4038" y="1584"/>
              <a:ext cx="180" cy="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6966" h="21600" fill="none">
                  <a:moveTo>
                    <a:pt x="0" y="677"/>
                  </a:moveTo>
                  <a:cubicBezTo>
                    <a:pt x="1753" y="227"/>
                    <a:pt x="3556" y="0"/>
                    <a:pt x="5366" y="0"/>
                  </a:cubicBezTo>
                  <a:cubicBezTo>
                    <a:pt x="17295" y="0"/>
                    <a:pt x="26966" y="9670"/>
                    <a:pt x="26966" y="21600"/>
                  </a:cubicBezTo>
                </a:path>
                <a:path w="26966" h="21600" stroke="0">
                  <a:moveTo>
                    <a:pt x="0" y="677"/>
                  </a:moveTo>
                  <a:cubicBezTo>
                    <a:pt x="1753" y="227"/>
                    <a:pt x="3556" y="0"/>
                    <a:pt x="5366" y="0"/>
                  </a:cubicBezTo>
                  <a:cubicBezTo>
                    <a:pt x="17295" y="0"/>
                    <a:pt x="26966" y="9670"/>
                    <a:pt x="26966" y="21600"/>
                  </a:cubicBezTo>
                  <a:lnTo>
                    <a:pt x="5366" y="21600"/>
                  </a:lnTo>
                  <a:lnTo>
                    <a:pt x="0" y="677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5" name="Group 67"/>
          <p:cNvGrpSpPr/>
          <p:nvPr/>
        </p:nvGrpSpPr>
        <p:grpSpPr>
          <a:xfrm>
            <a:off x="7164388" y="3062288"/>
            <a:ext cx="454025" cy="1438275"/>
            <a:chOff x="4464" y="2016"/>
            <a:chExt cx="328" cy="1132"/>
          </a:xfrm>
        </p:grpSpPr>
        <p:sp>
          <p:nvSpPr>
            <p:cNvPr id="6163" name="Line 68"/>
            <p:cNvSpPr/>
            <p:nvPr/>
          </p:nvSpPr>
          <p:spPr>
            <a:xfrm>
              <a:off x="4513" y="2016"/>
              <a:ext cx="0" cy="816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6164" name="Object 69"/>
            <p:cNvGraphicFramePr>
              <a:graphicFrameLocks noChangeAspect="1"/>
            </p:cNvGraphicFramePr>
            <p:nvPr/>
          </p:nvGraphicFramePr>
          <p:xfrm>
            <a:off x="4464" y="2736"/>
            <a:ext cx="328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13" imgW="117475" imgH="163195" progId="Equation.3">
                    <p:embed/>
                  </p:oleObj>
                </mc:Choice>
                <mc:Fallback>
                  <p:oleObj name="" r:id="rId13" imgW="117475" imgH="163195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4" y="2736"/>
                          <a:ext cx="328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7" name="Text Box 70"/>
          <p:cNvSpPr txBox="1"/>
          <p:nvPr/>
        </p:nvSpPr>
        <p:spPr>
          <a:xfrm>
            <a:off x="5741988" y="4662488"/>
            <a:ext cx="25638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点为质心）</a:t>
            </a:r>
            <a:endParaRPr lang="zh-CN" altLang="en-US" sz="2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158" name="Rectangle 74"/>
          <p:cNvSpPr/>
          <p:nvPr/>
        </p:nvSpPr>
        <p:spPr>
          <a:xfrm>
            <a:off x="7239000" y="29098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zh-CN" altLang="en-US" sz="28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9" name="Rectangle 75"/>
          <p:cNvSpPr/>
          <p:nvPr/>
        </p:nvSpPr>
        <p:spPr>
          <a:xfrm>
            <a:off x="6172200" y="1843088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endParaRPr lang="zh-CN" altLang="en-US" sz="28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" name="Group 85"/>
          <p:cNvGrpSpPr/>
          <p:nvPr/>
        </p:nvGrpSpPr>
        <p:grpSpPr>
          <a:xfrm>
            <a:off x="5940425" y="1268413"/>
            <a:ext cx="2363788" cy="720725"/>
            <a:chOff x="3742" y="799"/>
            <a:chExt cx="1489" cy="454"/>
          </a:xfrm>
        </p:grpSpPr>
        <p:sp>
          <p:nvSpPr>
            <p:cNvPr id="6161" name="Rectangle 73"/>
            <p:cNvSpPr/>
            <p:nvPr/>
          </p:nvSpPr>
          <p:spPr>
            <a:xfrm>
              <a:off x="4059" y="799"/>
              <a:ext cx="11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转动正向</a:t>
              </a:r>
              <a:endPara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2" name="Arc 84"/>
            <p:cNvSpPr/>
            <p:nvPr/>
          </p:nvSpPr>
          <p:spPr>
            <a:xfrm flipH="1">
              <a:off x="3742" y="981"/>
              <a:ext cx="181" cy="2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CC0000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4"/>
          <p:cNvSpPr/>
          <p:nvPr/>
        </p:nvSpPr>
        <p:spPr>
          <a:xfrm>
            <a:off x="755650" y="903288"/>
            <a:ext cx="4608513" cy="358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         例  </a:t>
            </a:r>
            <a:r>
              <a:rPr lang="zh-CN" altLang="en-US" sz="3200" dirty="0">
                <a:latin typeface="Times New Roman" panose="02020603050405020304" pitchFamily="18" charset="0"/>
              </a:rPr>
              <a:t>一半径为 </a:t>
            </a:r>
            <a:r>
              <a:rPr lang="en-US" altLang="zh-CN" sz="3200" i="1" dirty="0">
                <a:latin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</a:rPr>
              <a:t>的匀质球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zh-CN" altLang="en-US" sz="3200" dirty="0">
                <a:latin typeface="Times New Roman" panose="02020603050405020304" pitchFamily="18" charset="0"/>
              </a:rPr>
              <a:t>可沿半径为 </a:t>
            </a:r>
            <a:r>
              <a:rPr lang="en-US" altLang="zh-CN" sz="3200" i="1" dirty="0">
                <a:latin typeface="Times New Roman" panose="02020603050405020304" pitchFamily="18" charset="0"/>
              </a:rPr>
              <a:t>R </a:t>
            </a:r>
            <a:r>
              <a:rPr lang="zh-CN" altLang="en-US" sz="3200" dirty="0">
                <a:latin typeface="Times New Roman" panose="02020603050405020304" pitchFamily="18" charset="0"/>
              </a:rPr>
              <a:t>的固定大球壳的内表面作纯滚动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zh-CN" altLang="en-US" sz="3200" dirty="0">
                <a:latin typeface="Times New Roman" panose="02020603050405020304" pitchFamily="18" charset="0"/>
              </a:rPr>
              <a:t>如图所示</a:t>
            </a:r>
            <a:r>
              <a:rPr lang="en-US" altLang="zh-CN" sz="3200" dirty="0">
                <a:latin typeface="Times New Roman" panose="02020603050405020304" pitchFamily="18" charset="0"/>
              </a:rPr>
              <a:t>).</a:t>
            </a:r>
            <a:r>
              <a:rPr lang="zh-CN" altLang="en-US" sz="3200" dirty="0">
                <a:latin typeface="Times New Roman" panose="02020603050405020304" pitchFamily="18" charset="0"/>
              </a:rPr>
              <a:t>试求圆球绕平衡位置作微小振动的运动方程及其周期</a:t>
            </a:r>
            <a:r>
              <a:rPr lang="en-US" altLang="zh-CN" sz="3200" dirty="0">
                <a:latin typeface="Times New Roman" panose="02020603050405020304" pitchFamily="18" charset="0"/>
              </a:rPr>
              <a:t>.</a:t>
            </a:r>
            <a:endParaRPr lang="en-US" altLang="zh-CN" sz="32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Rectangle 29"/>
          <p:cNvSpPr/>
          <p:nvPr/>
        </p:nvSpPr>
        <p:spPr>
          <a:xfrm>
            <a:off x="5364163" y="981075"/>
            <a:ext cx="3600450" cy="3600450"/>
          </a:xfrm>
          <a:prstGeom prst="rect">
            <a:avLst/>
          </a:prstGeom>
          <a:solidFill>
            <a:srgbClr val="FAF4F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2" name="Line 6"/>
          <p:cNvSpPr/>
          <p:nvPr/>
        </p:nvSpPr>
        <p:spPr>
          <a:xfrm flipH="1">
            <a:off x="7070725" y="1254125"/>
            <a:ext cx="0" cy="2386013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7173" name="Arc 7"/>
          <p:cNvSpPr/>
          <p:nvPr/>
        </p:nvSpPr>
        <p:spPr>
          <a:xfrm rot="2359582" flipV="1">
            <a:off x="5959475" y="1527175"/>
            <a:ext cx="2628900" cy="2535238"/>
          </a:xfrm>
          <a:custGeom>
            <a:avLst/>
            <a:gdLst/>
            <a:ahLst/>
            <a:cxnLst>
              <a:cxn ang="0">
                <a:pos x="-1478557" y="88925468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-1478557" y="88925468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-1478557" y="88925468"/>
              </a:cxn>
            </a:cxnLst>
            <a:pathLst>
              <a:path w="23084" h="21600" fill="none">
                <a:moveTo>
                  <a:pt x="-1" y="55"/>
                </a:moveTo>
                <a:cubicBezTo>
                  <a:pt x="516" y="18"/>
                  <a:pt x="1034" y="0"/>
                  <a:pt x="1553" y="0"/>
                </a:cubicBezTo>
                <a:cubicBezTo>
                  <a:pt x="12813" y="0"/>
                  <a:pt x="22184" y="8649"/>
                  <a:pt x="23083" y="19874"/>
                </a:cubicBezTo>
              </a:path>
              <a:path w="23084" h="21600" stroke="0">
                <a:moveTo>
                  <a:pt x="-1" y="55"/>
                </a:moveTo>
                <a:cubicBezTo>
                  <a:pt x="516" y="18"/>
                  <a:pt x="1034" y="0"/>
                  <a:pt x="1553" y="0"/>
                </a:cubicBezTo>
                <a:cubicBezTo>
                  <a:pt x="12813" y="0"/>
                  <a:pt x="22184" y="8649"/>
                  <a:pt x="23083" y="19874"/>
                </a:cubicBezTo>
                <a:lnTo>
                  <a:pt x="1553" y="21600"/>
                </a:lnTo>
                <a:lnTo>
                  <a:pt x="-1" y="55"/>
                </a:lnTo>
                <a:close/>
              </a:path>
            </a:pathLst>
          </a:custGeom>
          <a:noFill/>
          <a:ln w="28575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sm" len="lg"/>
          </a:ln>
        </p:spPr>
        <p:txBody>
          <a:bodyPr/>
          <a:p>
            <a:endParaRPr lang="zh-CN" altLang="en-US"/>
          </a:p>
        </p:txBody>
      </p:sp>
      <p:sp>
        <p:nvSpPr>
          <p:cNvPr id="7174" name="Oval 8"/>
          <p:cNvSpPr/>
          <p:nvPr/>
        </p:nvSpPr>
        <p:spPr>
          <a:xfrm>
            <a:off x="7524750" y="2709863"/>
            <a:ext cx="719138" cy="7366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7175" name="Group 9"/>
          <p:cNvGrpSpPr/>
          <p:nvPr/>
        </p:nvGrpSpPr>
        <p:grpSpPr>
          <a:xfrm>
            <a:off x="7083425" y="1800225"/>
            <a:ext cx="228600" cy="381000"/>
            <a:chOff x="4461" y="1296"/>
            <a:chExt cx="232" cy="384"/>
          </a:xfrm>
        </p:grpSpPr>
        <p:sp>
          <p:nvSpPr>
            <p:cNvPr id="7193" name="Arc 10"/>
            <p:cNvSpPr/>
            <p:nvPr/>
          </p:nvSpPr>
          <p:spPr>
            <a:xfrm flipV="1">
              <a:off x="4461" y="1296"/>
              <a:ext cx="192" cy="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7194" name="Object 11"/>
            <p:cNvGraphicFramePr>
              <a:graphicFrameLocks noChangeAspect="1"/>
            </p:cNvGraphicFramePr>
            <p:nvPr/>
          </p:nvGraphicFramePr>
          <p:xfrm>
            <a:off x="4461" y="1364"/>
            <a:ext cx="23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1" imgW="150495" imgH="208915" progId="Equation.3">
                    <p:embed/>
                  </p:oleObj>
                </mc:Choice>
                <mc:Fallback>
                  <p:oleObj name="" r:id="rId1" imgW="150495" imgH="208915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1" y="1364"/>
                          <a:ext cx="232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Group 12"/>
          <p:cNvGrpSpPr/>
          <p:nvPr/>
        </p:nvGrpSpPr>
        <p:grpSpPr>
          <a:xfrm>
            <a:off x="7643813" y="3065463"/>
            <a:ext cx="736600" cy="1516062"/>
            <a:chOff x="5002" y="2314"/>
            <a:chExt cx="464" cy="955"/>
          </a:xfrm>
        </p:grpSpPr>
        <p:sp>
          <p:nvSpPr>
            <p:cNvPr id="7191" name="Line 13"/>
            <p:cNvSpPr/>
            <p:nvPr/>
          </p:nvSpPr>
          <p:spPr>
            <a:xfrm>
              <a:off x="5138" y="2314"/>
              <a:ext cx="0" cy="672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7192" name="Object 14"/>
            <p:cNvGraphicFramePr>
              <a:graphicFrameLocks noChangeAspect="1"/>
            </p:cNvGraphicFramePr>
            <p:nvPr/>
          </p:nvGraphicFramePr>
          <p:xfrm>
            <a:off x="5002" y="2898"/>
            <a:ext cx="464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3" imgW="202565" imgH="163195" progId="Equation.3">
                    <p:embed/>
                  </p:oleObj>
                </mc:Choice>
                <mc:Fallback>
                  <p:oleObj name="" r:id="rId3" imgW="202565" imgH="163195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02" y="2898"/>
                          <a:ext cx="464" cy="3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7" name="Text Box 15"/>
          <p:cNvSpPr txBox="1"/>
          <p:nvPr/>
        </p:nvSpPr>
        <p:spPr>
          <a:xfrm>
            <a:off x="6238875" y="19065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7178" name="Line 16"/>
          <p:cNvSpPr/>
          <p:nvPr/>
        </p:nvSpPr>
        <p:spPr>
          <a:xfrm flipH="1">
            <a:off x="6124575" y="1254125"/>
            <a:ext cx="936625" cy="21447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grpSp>
        <p:nvGrpSpPr>
          <p:cNvPr id="39" name="Group 17"/>
          <p:cNvGrpSpPr/>
          <p:nvPr/>
        </p:nvGrpSpPr>
        <p:grpSpPr>
          <a:xfrm>
            <a:off x="6804025" y="3430588"/>
            <a:ext cx="1203325" cy="727075"/>
            <a:chOff x="4457" y="2536"/>
            <a:chExt cx="758" cy="458"/>
          </a:xfrm>
        </p:grpSpPr>
        <p:graphicFrame>
          <p:nvGraphicFramePr>
            <p:cNvPr id="7189" name="Object 18"/>
            <p:cNvGraphicFramePr>
              <a:graphicFrameLocks noChangeAspect="1"/>
            </p:cNvGraphicFramePr>
            <p:nvPr/>
          </p:nvGraphicFramePr>
          <p:xfrm>
            <a:off x="4457" y="2625"/>
            <a:ext cx="32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5" imgW="130810" imgH="163195" progId="Equation.3">
                    <p:embed/>
                  </p:oleObj>
                </mc:Choice>
                <mc:Fallback>
                  <p:oleObj name="" r:id="rId5" imgW="130810" imgH="163195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CC99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57" y="2625"/>
                          <a:ext cx="321" cy="3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0" name="Line 19"/>
            <p:cNvSpPr/>
            <p:nvPr/>
          </p:nvSpPr>
          <p:spPr>
            <a:xfrm flipH="1">
              <a:off x="4739" y="2536"/>
              <a:ext cx="476" cy="207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7180" name="Line 20"/>
          <p:cNvSpPr/>
          <p:nvPr/>
        </p:nvSpPr>
        <p:spPr>
          <a:xfrm flipV="1">
            <a:off x="7858125" y="2955925"/>
            <a:ext cx="334963" cy="1095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7181" name="Text Box 21"/>
          <p:cNvSpPr txBox="1"/>
          <p:nvPr/>
        </p:nvSpPr>
        <p:spPr>
          <a:xfrm>
            <a:off x="7812088" y="2565400"/>
            <a:ext cx="420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7182" name="Oval 22"/>
          <p:cNvSpPr/>
          <p:nvPr/>
        </p:nvSpPr>
        <p:spPr>
          <a:xfrm>
            <a:off x="7015163" y="1219200"/>
            <a:ext cx="95250" cy="88900"/>
          </a:xfrm>
          <a:prstGeom prst="ellipse">
            <a:avLst/>
          </a:prstGeom>
          <a:solidFill>
            <a:schemeClr val="tx2"/>
          </a:solidFill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83" name="Line 23"/>
          <p:cNvSpPr/>
          <p:nvPr/>
        </p:nvSpPr>
        <p:spPr>
          <a:xfrm>
            <a:off x="7075488" y="1254125"/>
            <a:ext cx="779462" cy="1828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grpSp>
        <p:nvGrpSpPr>
          <p:cNvPr id="46" name="Group 24"/>
          <p:cNvGrpSpPr/>
          <p:nvPr/>
        </p:nvGrpSpPr>
        <p:grpSpPr>
          <a:xfrm>
            <a:off x="7126288" y="2276475"/>
            <a:ext cx="722312" cy="768350"/>
            <a:chOff x="4683" y="1830"/>
            <a:chExt cx="455" cy="484"/>
          </a:xfrm>
        </p:grpSpPr>
        <p:graphicFrame>
          <p:nvGraphicFramePr>
            <p:cNvPr id="7187" name="Object 25"/>
            <p:cNvGraphicFramePr>
              <a:graphicFrameLocks noChangeAspect="1"/>
            </p:cNvGraphicFramePr>
            <p:nvPr/>
          </p:nvGraphicFramePr>
          <p:xfrm>
            <a:off x="4683" y="1853"/>
            <a:ext cx="29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7" imgW="156845" imgH="196215" progId="Equation.3">
                    <p:embed/>
                  </p:oleObj>
                </mc:Choice>
                <mc:Fallback>
                  <p:oleObj name="" r:id="rId7" imgW="156845" imgH="196215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83" y="1853"/>
                          <a:ext cx="290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8" name="Line 26"/>
            <p:cNvSpPr/>
            <p:nvPr/>
          </p:nvSpPr>
          <p:spPr>
            <a:xfrm flipH="1" flipV="1">
              <a:off x="4915" y="1830"/>
              <a:ext cx="223" cy="484"/>
            </a:xfrm>
            <a:prstGeom prst="line">
              <a:avLst/>
            </a:prstGeom>
            <a:ln w="38100" cap="flat" cmpd="sng">
              <a:solidFill>
                <a:srgbClr val="FF505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7185" name="Text Box 27"/>
          <p:cNvSpPr txBox="1"/>
          <p:nvPr/>
        </p:nvSpPr>
        <p:spPr>
          <a:xfrm>
            <a:off x="7494588" y="2754313"/>
            <a:ext cx="500062" cy="70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4000" b="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lang="en-US" altLang="zh-CN" sz="4000" b="0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86" name="Text Box 31"/>
          <p:cNvSpPr txBox="1"/>
          <p:nvPr/>
        </p:nvSpPr>
        <p:spPr>
          <a:xfrm>
            <a:off x="7092950" y="644525"/>
            <a:ext cx="1150938" cy="922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5400" b="0" i="1" dirty="0">
                <a:latin typeface="Times New Roman" panose="02020603050405020304" pitchFamily="18" charset="0"/>
              </a:rPr>
              <a:t>o</a:t>
            </a:r>
            <a:endParaRPr lang="en-US" altLang="zh-CN" sz="5400" b="0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" name="Object 27"/>
          <p:cNvGraphicFramePr>
            <a:graphicFrameLocks noChangeAspect="1"/>
          </p:cNvGraphicFramePr>
          <p:nvPr/>
        </p:nvGraphicFramePr>
        <p:xfrm>
          <a:off x="520700" y="1328738"/>
          <a:ext cx="40322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1306195" imgH="196215" progId="Equation.3">
                  <p:embed/>
                </p:oleObj>
              </mc:Choice>
              <mc:Fallback>
                <p:oleObj name="" r:id="rId1" imgW="1306195" imgH="19621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700" y="1328738"/>
                        <a:ext cx="4032250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9"/>
          <p:cNvGraphicFramePr>
            <a:graphicFrameLocks noChangeAspect="1"/>
          </p:cNvGraphicFramePr>
          <p:nvPr/>
        </p:nvGraphicFramePr>
        <p:xfrm>
          <a:off x="520700" y="1989138"/>
          <a:ext cx="24479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" imgW="777240" imgH="352425" progId="Equation.3">
                  <p:embed/>
                </p:oleObj>
              </mc:Choice>
              <mc:Fallback>
                <p:oleObj name="" r:id="rId3" imgW="777240" imgH="35242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700" y="1989138"/>
                        <a:ext cx="2447925" cy="1060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30"/>
          <p:cNvGraphicFramePr>
            <a:graphicFrameLocks noChangeAspect="1"/>
          </p:cNvGraphicFramePr>
          <p:nvPr/>
        </p:nvGraphicFramePr>
        <p:xfrm>
          <a:off x="520700" y="2871788"/>
          <a:ext cx="313690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1002665" imgH="419100" progId="Equation.3">
                  <p:embed/>
                </p:oleObj>
              </mc:Choice>
              <mc:Fallback>
                <p:oleObj name="" r:id="rId5" imgW="1002665" imgH="4191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0700" y="2871788"/>
                        <a:ext cx="3136900" cy="1187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31"/>
          <p:cNvGraphicFramePr>
            <a:graphicFrameLocks noChangeAspect="1"/>
          </p:cNvGraphicFramePr>
          <p:nvPr/>
        </p:nvGraphicFramePr>
        <p:xfrm>
          <a:off x="520700" y="3992563"/>
          <a:ext cx="1560513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7" imgW="495300" imgH="228600" progId="Equation.3">
                  <p:embed/>
                </p:oleObj>
              </mc:Choice>
              <mc:Fallback>
                <p:oleObj name="" r:id="rId7" imgW="495300" imgH="2286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0700" y="3992563"/>
                        <a:ext cx="1560513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65"/>
          <p:cNvSpPr txBox="1"/>
          <p:nvPr/>
        </p:nvSpPr>
        <p:spPr>
          <a:xfrm>
            <a:off x="1042988" y="620713"/>
            <a:ext cx="1150937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解：</a:t>
            </a:r>
            <a:endParaRPr lang="zh-CN" altLang="en-US" sz="32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Rectangle 67"/>
          <p:cNvSpPr/>
          <p:nvPr/>
        </p:nvSpPr>
        <p:spPr>
          <a:xfrm>
            <a:off x="4265613" y="2205038"/>
            <a:ext cx="12033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（2）</a:t>
            </a:r>
            <a:endParaRPr lang="zh-CN" altLang="en-US" sz="32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" name="Rectangle 68"/>
          <p:cNvSpPr/>
          <p:nvPr/>
        </p:nvSpPr>
        <p:spPr>
          <a:xfrm>
            <a:off x="4265613" y="1400175"/>
            <a:ext cx="12033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32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Rectangle 69"/>
          <p:cNvSpPr/>
          <p:nvPr/>
        </p:nvSpPr>
        <p:spPr>
          <a:xfrm>
            <a:off x="4283075" y="3213100"/>
            <a:ext cx="12033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32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Rectangle 70"/>
          <p:cNvSpPr/>
          <p:nvPr/>
        </p:nvSpPr>
        <p:spPr>
          <a:xfrm>
            <a:off x="4303713" y="4005263"/>
            <a:ext cx="12033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32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Text Box 96"/>
          <p:cNvSpPr txBox="1"/>
          <p:nvPr/>
        </p:nvSpPr>
        <p:spPr>
          <a:xfrm>
            <a:off x="395288" y="4575175"/>
            <a:ext cx="85693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联立</a:t>
            </a:r>
            <a:r>
              <a:rPr kumimoji="0" lang="zh-CN" altLang="en-US" sz="3200" kern="1200" cap="none" spc="-2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3200" kern="1200" cap="none" spc="-2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3200" kern="1200" cap="none" spc="-2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3200" kern="1200" cap="none" spc="-10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zh-CN" altLang="en-US" sz="3200" kern="1200" cap="none" spc="-2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3200" kern="1200" cap="none" spc="-2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3200" kern="1200" cap="none" spc="-2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3200" kern="1200" cap="none" spc="-10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zh-CN" altLang="en-US" sz="3200" kern="1200" cap="none" spc="-1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3200" kern="1200" cap="none" spc="-1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3200" kern="1200" cap="none" spc="-1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3200" kern="1200" cap="none" spc="-10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zh-CN" altLang="en-US" sz="3200" kern="1200" cap="none" spc="-1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3200" kern="1200" cap="none" spc="-1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3200" kern="1200" cap="none" spc="-10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32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式，得运动方程</a:t>
            </a:r>
            <a:endParaRPr kumimoji="0" lang="zh-CN" altLang="en-US" sz="3200" kern="1200" cap="none" spc="0" normalizeH="0" baseline="0" noProof="1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4" name="Rectangle 99"/>
          <p:cNvSpPr/>
          <p:nvPr/>
        </p:nvSpPr>
        <p:spPr>
          <a:xfrm>
            <a:off x="5364163" y="981075"/>
            <a:ext cx="3600450" cy="3600450"/>
          </a:xfrm>
          <a:prstGeom prst="rect">
            <a:avLst/>
          </a:prstGeom>
          <a:solidFill>
            <a:srgbClr val="FAF4F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5" name="Line 100"/>
          <p:cNvSpPr/>
          <p:nvPr/>
        </p:nvSpPr>
        <p:spPr>
          <a:xfrm flipH="1">
            <a:off x="7070725" y="1254125"/>
            <a:ext cx="0" cy="2386013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8206" name="Arc 101"/>
          <p:cNvSpPr/>
          <p:nvPr/>
        </p:nvSpPr>
        <p:spPr>
          <a:xfrm rot="2359582" flipV="1">
            <a:off x="5959475" y="1527175"/>
            <a:ext cx="2628900" cy="2535238"/>
          </a:xfrm>
          <a:custGeom>
            <a:avLst/>
            <a:gdLst/>
            <a:ahLst/>
            <a:cxnLst>
              <a:cxn ang="0">
                <a:pos x="-1478557" y="88925468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-1478557" y="88925468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-1478557" y="88925468"/>
              </a:cxn>
            </a:cxnLst>
            <a:pathLst>
              <a:path w="23084" h="21600" fill="none">
                <a:moveTo>
                  <a:pt x="-1" y="55"/>
                </a:moveTo>
                <a:cubicBezTo>
                  <a:pt x="516" y="18"/>
                  <a:pt x="1034" y="0"/>
                  <a:pt x="1553" y="0"/>
                </a:cubicBezTo>
                <a:cubicBezTo>
                  <a:pt x="12813" y="0"/>
                  <a:pt x="22184" y="8649"/>
                  <a:pt x="23083" y="19874"/>
                </a:cubicBezTo>
              </a:path>
              <a:path w="23084" h="21600" stroke="0">
                <a:moveTo>
                  <a:pt x="-1" y="55"/>
                </a:moveTo>
                <a:cubicBezTo>
                  <a:pt x="516" y="18"/>
                  <a:pt x="1034" y="0"/>
                  <a:pt x="1553" y="0"/>
                </a:cubicBezTo>
                <a:cubicBezTo>
                  <a:pt x="12813" y="0"/>
                  <a:pt x="22184" y="8649"/>
                  <a:pt x="23083" y="19874"/>
                </a:cubicBezTo>
                <a:lnTo>
                  <a:pt x="1553" y="21600"/>
                </a:lnTo>
                <a:lnTo>
                  <a:pt x="-1" y="55"/>
                </a:lnTo>
                <a:close/>
              </a:path>
            </a:pathLst>
          </a:custGeom>
          <a:noFill/>
          <a:ln w="28575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sm" len="lg"/>
          </a:ln>
        </p:spPr>
        <p:txBody>
          <a:bodyPr/>
          <a:p>
            <a:endParaRPr lang="zh-CN" altLang="en-US"/>
          </a:p>
        </p:txBody>
      </p:sp>
      <p:sp>
        <p:nvSpPr>
          <p:cNvPr id="8207" name="Oval 102"/>
          <p:cNvSpPr/>
          <p:nvPr/>
        </p:nvSpPr>
        <p:spPr>
          <a:xfrm>
            <a:off x="7524750" y="2709863"/>
            <a:ext cx="719138" cy="7366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8208" name="Group 103"/>
          <p:cNvGrpSpPr/>
          <p:nvPr/>
        </p:nvGrpSpPr>
        <p:grpSpPr>
          <a:xfrm>
            <a:off x="7083425" y="1800225"/>
            <a:ext cx="228600" cy="381000"/>
            <a:chOff x="4461" y="1296"/>
            <a:chExt cx="232" cy="384"/>
          </a:xfrm>
        </p:grpSpPr>
        <p:sp>
          <p:nvSpPr>
            <p:cNvPr id="8227" name="Arc 104"/>
            <p:cNvSpPr/>
            <p:nvPr/>
          </p:nvSpPr>
          <p:spPr>
            <a:xfrm flipV="1">
              <a:off x="4461" y="1296"/>
              <a:ext cx="192" cy="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8228" name="Object 105"/>
            <p:cNvGraphicFramePr>
              <a:graphicFrameLocks noChangeAspect="1"/>
            </p:cNvGraphicFramePr>
            <p:nvPr/>
          </p:nvGraphicFramePr>
          <p:xfrm>
            <a:off x="4461" y="1364"/>
            <a:ext cx="23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9" imgW="150495" imgH="208915" progId="Equation.3">
                    <p:embed/>
                  </p:oleObj>
                </mc:Choice>
                <mc:Fallback>
                  <p:oleObj name="" r:id="rId9" imgW="150495" imgH="208915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1" y="1364"/>
                          <a:ext cx="232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09" name="Group 106"/>
          <p:cNvGrpSpPr/>
          <p:nvPr/>
        </p:nvGrpSpPr>
        <p:grpSpPr>
          <a:xfrm>
            <a:off x="7643813" y="3065463"/>
            <a:ext cx="736600" cy="1516062"/>
            <a:chOff x="5002" y="2314"/>
            <a:chExt cx="464" cy="955"/>
          </a:xfrm>
        </p:grpSpPr>
        <p:sp>
          <p:nvSpPr>
            <p:cNvPr id="8225" name="Line 107"/>
            <p:cNvSpPr/>
            <p:nvPr/>
          </p:nvSpPr>
          <p:spPr>
            <a:xfrm>
              <a:off x="5138" y="2314"/>
              <a:ext cx="0" cy="672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8226" name="Object 108"/>
            <p:cNvGraphicFramePr>
              <a:graphicFrameLocks noChangeAspect="1"/>
            </p:cNvGraphicFramePr>
            <p:nvPr/>
          </p:nvGraphicFramePr>
          <p:xfrm>
            <a:off x="5002" y="2898"/>
            <a:ext cx="464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11" imgW="202565" imgH="163195" progId="Equation.3">
                    <p:embed/>
                  </p:oleObj>
                </mc:Choice>
                <mc:Fallback>
                  <p:oleObj name="" r:id="rId11" imgW="202565" imgH="163195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02" y="2898"/>
                          <a:ext cx="464" cy="3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10" name="Text Box 109"/>
          <p:cNvSpPr txBox="1"/>
          <p:nvPr/>
        </p:nvSpPr>
        <p:spPr>
          <a:xfrm>
            <a:off x="6238875" y="19065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8211" name="Line 110"/>
          <p:cNvSpPr/>
          <p:nvPr/>
        </p:nvSpPr>
        <p:spPr>
          <a:xfrm flipH="1">
            <a:off x="6124575" y="1254125"/>
            <a:ext cx="936625" cy="21447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grpSp>
        <p:nvGrpSpPr>
          <p:cNvPr id="8212" name="Group 111"/>
          <p:cNvGrpSpPr/>
          <p:nvPr/>
        </p:nvGrpSpPr>
        <p:grpSpPr>
          <a:xfrm>
            <a:off x="6804025" y="3430588"/>
            <a:ext cx="1203325" cy="727075"/>
            <a:chOff x="4457" y="2536"/>
            <a:chExt cx="758" cy="458"/>
          </a:xfrm>
        </p:grpSpPr>
        <p:graphicFrame>
          <p:nvGraphicFramePr>
            <p:cNvPr id="8223" name="Object 112"/>
            <p:cNvGraphicFramePr>
              <a:graphicFrameLocks noChangeAspect="1"/>
            </p:cNvGraphicFramePr>
            <p:nvPr/>
          </p:nvGraphicFramePr>
          <p:xfrm>
            <a:off x="4457" y="2625"/>
            <a:ext cx="32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3" imgW="130810" imgH="163195" progId="Equation.3">
                    <p:embed/>
                  </p:oleObj>
                </mc:Choice>
                <mc:Fallback>
                  <p:oleObj name="" r:id="rId13" imgW="130810" imgH="163195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CC99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57" y="2625"/>
                          <a:ext cx="321" cy="3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4" name="Line 113"/>
            <p:cNvSpPr/>
            <p:nvPr/>
          </p:nvSpPr>
          <p:spPr>
            <a:xfrm flipH="1">
              <a:off x="4739" y="2536"/>
              <a:ext cx="476" cy="207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8213" name="Line 114"/>
          <p:cNvSpPr/>
          <p:nvPr/>
        </p:nvSpPr>
        <p:spPr>
          <a:xfrm flipV="1">
            <a:off x="7858125" y="2955925"/>
            <a:ext cx="334963" cy="1095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8214" name="Text Box 115"/>
          <p:cNvSpPr txBox="1"/>
          <p:nvPr/>
        </p:nvSpPr>
        <p:spPr>
          <a:xfrm>
            <a:off x="7812088" y="2565400"/>
            <a:ext cx="420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8215" name="Oval 116"/>
          <p:cNvSpPr/>
          <p:nvPr/>
        </p:nvSpPr>
        <p:spPr>
          <a:xfrm>
            <a:off x="7015163" y="1219200"/>
            <a:ext cx="95250" cy="88900"/>
          </a:xfrm>
          <a:prstGeom prst="ellipse">
            <a:avLst/>
          </a:prstGeom>
          <a:solidFill>
            <a:schemeClr val="tx2"/>
          </a:solidFill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16" name="Line 117"/>
          <p:cNvSpPr/>
          <p:nvPr/>
        </p:nvSpPr>
        <p:spPr>
          <a:xfrm>
            <a:off x="7075488" y="1254125"/>
            <a:ext cx="779462" cy="1828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grpSp>
        <p:nvGrpSpPr>
          <p:cNvPr id="8217" name="Group 118"/>
          <p:cNvGrpSpPr/>
          <p:nvPr/>
        </p:nvGrpSpPr>
        <p:grpSpPr>
          <a:xfrm>
            <a:off x="7126288" y="2276475"/>
            <a:ext cx="722312" cy="768350"/>
            <a:chOff x="4683" y="1830"/>
            <a:chExt cx="455" cy="484"/>
          </a:xfrm>
        </p:grpSpPr>
        <p:graphicFrame>
          <p:nvGraphicFramePr>
            <p:cNvPr id="8221" name="Object 119"/>
            <p:cNvGraphicFramePr>
              <a:graphicFrameLocks noChangeAspect="1"/>
            </p:cNvGraphicFramePr>
            <p:nvPr/>
          </p:nvGraphicFramePr>
          <p:xfrm>
            <a:off x="4683" y="1853"/>
            <a:ext cx="29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5" imgW="156845" imgH="196215" progId="Equation.3">
                    <p:embed/>
                  </p:oleObj>
                </mc:Choice>
                <mc:Fallback>
                  <p:oleObj name="" r:id="rId15" imgW="156845" imgH="196215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83" y="1853"/>
                          <a:ext cx="290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2" name="Line 120"/>
            <p:cNvSpPr/>
            <p:nvPr/>
          </p:nvSpPr>
          <p:spPr>
            <a:xfrm flipH="1" flipV="1">
              <a:off x="4915" y="1830"/>
              <a:ext cx="223" cy="484"/>
            </a:xfrm>
            <a:prstGeom prst="line">
              <a:avLst/>
            </a:prstGeom>
            <a:ln w="38100" cap="flat" cmpd="sng">
              <a:solidFill>
                <a:srgbClr val="FF505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8218" name="Text Box 121"/>
          <p:cNvSpPr txBox="1"/>
          <p:nvPr/>
        </p:nvSpPr>
        <p:spPr>
          <a:xfrm>
            <a:off x="7494588" y="2784475"/>
            <a:ext cx="439737" cy="70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4000" b="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lang="en-US" altLang="zh-CN" sz="4000" b="0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19" name="Text Box 122"/>
          <p:cNvSpPr txBox="1"/>
          <p:nvPr/>
        </p:nvSpPr>
        <p:spPr>
          <a:xfrm>
            <a:off x="7092950" y="981075"/>
            <a:ext cx="552450" cy="70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4000" b="0" i="1" dirty="0">
                <a:latin typeface="Times New Roman" panose="02020603050405020304" pitchFamily="18" charset="0"/>
              </a:rPr>
              <a:t>o</a:t>
            </a:r>
            <a:endParaRPr lang="en-US" altLang="zh-CN" sz="4000" b="0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95" name="Object 123"/>
          <p:cNvGraphicFramePr>
            <a:graphicFrameLocks noChangeAspect="1"/>
          </p:cNvGraphicFramePr>
          <p:nvPr/>
        </p:nvGraphicFramePr>
        <p:xfrm>
          <a:off x="2689225" y="5229225"/>
          <a:ext cx="43576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7" imgW="1377950" imgH="379095" progId="Equation.3">
                  <p:embed/>
                </p:oleObj>
              </mc:Choice>
              <mc:Fallback>
                <p:oleObj name="" r:id="rId17" imgW="1377950" imgH="379095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89225" y="5229225"/>
                        <a:ext cx="4357688" cy="1136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  <p:bldP spid="69" grpId="0"/>
      <p:bldP spid="7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8" name="Object 5"/>
          <p:cNvGraphicFramePr>
            <a:graphicFrameLocks noChangeAspect="1"/>
          </p:cNvGraphicFramePr>
          <p:nvPr/>
        </p:nvGraphicFramePr>
        <p:xfrm>
          <a:off x="900113" y="4797425"/>
          <a:ext cx="22320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737870" imgH="379095" progId="Equation.3">
                  <p:embed/>
                </p:oleObj>
              </mc:Choice>
              <mc:Fallback>
                <p:oleObj name="" r:id="rId1" imgW="737870" imgH="379095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4797425"/>
                        <a:ext cx="2232025" cy="1108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6"/>
          <p:cNvGraphicFramePr>
            <a:graphicFrameLocks noChangeAspect="1"/>
          </p:cNvGraphicFramePr>
          <p:nvPr/>
        </p:nvGraphicFramePr>
        <p:xfrm>
          <a:off x="900113" y="3933825"/>
          <a:ext cx="15843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3" imgW="522605" imgH="150495" progId="Equation.3">
                  <p:embed/>
                </p:oleObj>
              </mc:Choice>
              <mc:Fallback>
                <p:oleObj name="" r:id="rId3" imgW="522605" imgH="150495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933825"/>
                        <a:ext cx="1584325" cy="484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8"/>
          <p:cNvGraphicFramePr>
            <a:graphicFrameLocks noChangeAspect="1"/>
          </p:cNvGraphicFramePr>
          <p:nvPr/>
        </p:nvGraphicFramePr>
        <p:xfrm>
          <a:off x="4140200" y="4797425"/>
          <a:ext cx="2820988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5" imgW="1051560" imgH="424815" progId="Equation.3">
                  <p:embed/>
                </p:oleObj>
              </mc:Choice>
              <mc:Fallback>
                <p:oleObj name="" r:id="rId5" imgW="1051560" imgH="424815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4797425"/>
                        <a:ext cx="2820988" cy="1250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9"/>
          <p:cNvSpPr/>
          <p:nvPr/>
        </p:nvSpPr>
        <p:spPr>
          <a:xfrm>
            <a:off x="5364163" y="981075"/>
            <a:ext cx="3600450" cy="3600450"/>
          </a:xfrm>
          <a:prstGeom prst="rect">
            <a:avLst/>
          </a:prstGeom>
          <a:solidFill>
            <a:srgbClr val="FAF4F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2" name="Line 10"/>
          <p:cNvSpPr/>
          <p:nvPr/>
        </p:nvSpPr>
        <p:spPr>
          <a:xfrm flipH="1">
            <a:off x="7070725" y="1254125"/>
            <a:ext cx="0" cy="2386013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223" name="Arc 11"/>
          <p:cNvSpPr/>
          <p:nvPr/>
        </p:nvSpPr>
        <p:spPr>
          <a:xfrm rot="2359582" flipV="1">
            <a:off x="5959475" y="1527175"/>
            <a:ext cx="2628900" cy="2535238"/>
          </a:xfrm>
          <a:custGeom>
            <a:avLst/>
            <a:gdLst/>
            <a:ahLst/>
            <a:cxnLst>
              <a:cxn ang="0">
                <a:pos x="-1478557" y="88925468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-1478557" y="88925468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-1478557" y="88925468"/>
              </a:cxn>
            </a:cxnLst>
            <a:pathLst>
              <a:path w="23084" h="21600" fill="none">
                <a:moveTo>
                  <a:pt x="-1" y="55"/>
                </a:moveTo>
                <a:cubicBezTo>
                  <a:pt x="516" y="18"/>
                  <a:pt x="1034" y="0"/>
                  <a:pt x="1553" y="0"/>
                </a:cubicBezTo>
                <a:cubicBezTo>
                  <a:pt x="12813" y="0"/>
                  <a:pt x="22184" y="8649"/>
                  <a:pt x="23083" y="19874"/>
                </a:cubicBezTo>
              </a:path>
              <a:path w="23084" h="21600" stroke="0">
                <a:moveTo>
                  <a:pt x="-1" y="55"/>
                </a:moveTo>
                <a:cubicBezTo>
                  <a:pt x="516" y="18"/>
                  <a:pt x="1034" y="0"/>
                  <a:pt x="1553" y="0"/>
                </a:cubicBezTo>
                <a:cubicBezTo>
                  <a:pt x="12813" y="0"/>
                  <a:pt x="22184" y="8649"/>
                  <a:pt x="23083" y="19874"/>
                </a:cubicBezTo>
                <a:lnTo>
                  <a:pt x="1553" y="21600"/>
                </a:lnTo>
                <a:lnTo>
                  <a:pt x="-1" y="55"/>
                </a:lnTo>
                <a:close/>
              </a:path>
            </a:pathLst>
          </a:custGeom>
          <a:noFill/>
          <a:ln w="28575" cap="flat" cmpd="sng">
            <a:solidFill>
              <a:srgbClr val="3333FF">
                <a:alpha val="100000"/>
              </a:srgbClr>
            </a:solidFill>
            <a:prstDash val="solid"/>
            <a:round/>
            <a:headEnd type="none" w="med" len="med"/>
            <a:tailEnd type="none" w="sm" len="lg"/>
          </a:ln>
        </p:spPr>
        <p:txBody>
          <a:bodyPr/>
          <a:p>
            <a:endParaRPr lang="zh-CN" altLang="en-US"/>
          </a:p>
        </p:txBody>
      </p:sp>
      <p:sp>
        <p:nvSpPr>
          <p:cNvPr id="9224" name="Oval 12"/>
          <p:cNvSpPr/>
          <p:nvPr/>
        </p:nvSpPr>
        <p:spPr>
          <a:xfrm>
            <a:off x="7524750" y="2709863"/>
            <a:ext cx="719138" cy="7366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225" name="Group 13"/>
          <p:cNvGrpSpPr/>
          <p:nvPr/>
        </p:nvGrpSpPr>
        <p:grpSpPr>
          <a:xfrm>
            <a:off x="7083425" y="1800225"/>
            <a:ext cx="228600" cy="381000"/>
            <a:chOff x="4461" y="1296"/>
            <a:chExt cx="232" cy="384"/>
          </a:xfrm>
        </p:grpSpPr>
        <p:sp>
          <p:nvSpPr>
            <p:cNvPr id="9246" name="Arc 14"/>
            <p:cNvSpPr/>
            <p:nvPr/>
          </p:nvSpPr>
          <p:spPr>
            <a:xfrm flipV="1">
              <a:off x="4461" y="1296"/>
              <a:ext cx="192" cy="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9247" name="Object 15"/>
            <p:cNvGraphicFramePr>
              <a:graphicFrameLocks noChangeAspect="1"/>
            </p:cNvGraphicFramePr>
            <p:nvPr/>
          </p:nvGraphicFramePr>
          <p:xfrm>
            <a:off x="4461" y="1364"/>
            <a:ext cx="23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7" imgW="150495" imgH="208915" progId="Equation.3">
                    <p:embed/>
                  </p:oleObj>
                </mc:Choice>
                <mc:Fallback>
                  <p:oleObj name="" r:id="rId7" imgW="150495" imgH="208915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1" y="1364"/>
                          <a:ext cx="232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26" name="Group 16"/>
          <p:cNvGrpSpPr/>
          <p:nvPr/>
        </p:nvGrpSpPr>
        <p:grpSpPr>
          <a:xfrm>
            <a:off x="7643813" y="3065463"/>
            <a:ext cx="736600" cy="1516062"/>
            <a:chOff x="5002" y="2314"/>
            <a:chExt cx="464" cy="955"/>
          </a:xfrm>
        </p:grpSpPr>
        <p:sp>
          <p:nvSpPr>
            <p:cNvPr id="9244" name="Line 17"/>
            <p:cNvSpPr/>
            <p:nvPr/>
          </p:nvSpPr>
          <p:spPr>
            <a:xfrm>
              <a:off x="5138" y="2314"/>
              <a:ext cx="0" cy="672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9245" name="Object 18"/>
            <p:cNvGraphicFramePr>
              <a:graphicFrameLocks noChangeAspect="1"/>
            </p:cNvGraphicFramePr>
            <p:nvPr/>
          </p:nvGraphicFramePr>
          <p:xfrm>
            <a:off x="5002" y="2898"/>
            <a:ext cx="464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9" imgW="202565" imgH="163195" progId="Equation.3">
                    <p:embed/>
                  </p:oleObj>
                </mc:Choice>
                <mc:Fallback>
                  <p:oleObj name="" r:id="rId9" imgW="202565" imgH="163195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02" y="2898"/>
                          <a:ext cx="464" cy="3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7" name="Text Box 19"/>
          <p:cNvSpPr txBox="1"/>
          <p:nvPr/>
        </p:nvSpPr>
        <p:spPr>
          <a:xfrm>
            <a:off x="6238875" y="19065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9228" name="Line 20"/>
          <p:cNvSpPr/>
          <p:nvPr/>
        </p:nvSpPr>
        <p:spPr>
          <a:xfrm flipH="1">
            <a:off x="6124575" y="1254125"/>
            <a:ext cx="936625" cy="21447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grpSp>
        <p:nvGrpSpPr>
          <p:cNvPr id="9229" name="Group 21"/>
          <p:cNvGrpSpPr/>
          <p:nvPr/>
        </p:nvGrpSpPr>
        <p:grpSpPr>
          <a:xfrm>
            <a:off x="6804025" y="3430588"/>
            <a:ext cx="1203325" cy="727075"/>
            <a:chOff x="4457" y="2536"/>
            <a:chExt cx="758" cy="458"/>
          </a:xfrm>
        </p:grpSpPr>
        <p:graphicFrame>
          <p:nvGraphicFramePr>
            <p:cNvPr id="9242" name="Object 22"/>
            <p:cNvGraphicFramePr>
              <a:graphicFrameLocks noChangeAspect="1"/>
            </p:cNvGraphicFramePr>
            <p:nvPr/>
          </p:nvGraphicFramePr>
          <p:xfrm>
            <a:off x="4457" y="2625"/>
            <a:ext cx="321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11" imgW="130810" imgH="163195" progId="Equation.3">
                    <p:embed/>
                  </p:oleObj>
                </mc:Choice>
                <mc:Fallback>
                  <p:oleObj name="" r:id="rId11" imgW="130810" imgH="163195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CC99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57" y="2625"/>
                          <a:ext cx="321" cy="3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3" name="Line 23"/>
            <p:cNvSpPr/>
            <p:nvPr/>
          </p:nvSpPr>
          <p:spPr>
            <a:xfrm flipH="1">
              <a:off x="4739" y="2536"/>
              <a:ext cx="476" cy="207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9230" name="Line 24"/>
          <p:cNvSpPr/>
          <p:nvPr/>
        </p:nvSpPr>
        <p:spPr>
          <a:xfrm flipV="1">
            <a:off x="7858125" y="2955925"/>
            <a:ext cx="334963" cy="1095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9231" name="Text Box 25"/>
          <p:cNvSpPr txBox="1"/>
          <p:nvPr/>
        </p:nvSpPr>
        <p:spPr>
          <a:xfrm>
            <a:off x="7812088" y="2565400"/>
            <a:ext cx="420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9232" name="Oval 26"/>
          <p:cNvSpPr/>
          <p:nvPr/>
        </p:nvSpPr>
        <p:spPr>
          <a:xfrm>
            <a:off x="7015163" y="1219200"/>
            <a:ext cx="95250" cy="88900"/>
          </a:xfrm>
          <a:prstGeom prst="ellipse">
            <a:avLst/>
          </a:prstGeom>
          <a:solidFill>
            <a:schemeClr val="tx2"/>
          </a:solidFill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33" name="Line 27"/>
          <p:cNvSpPr/>
          <p:nvPr/>
        </p:nvSpPr>
        <p:spPr>
          <a:xfrm>
            <a:off x="7075488" y="1254125"/>
            <a:ext cx="779462" cy="1828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grpSp>
        <p:nvGrpSpPr>
          <p:cNvPr id="9234" name="Group 28"/>
          <p:cNvGrpSpPr/>
          <p:nvPr/>
        </p:nvGrpSpPr>
        <p:grpSpPr>
          <a:xfrm>
            <a:off x="7126288" y="2276475"/>
            <a:ext cx="722312" cy="768350"/>
            <a:chOff x="4683" y="1830"/>
            <a:chExt cx="455" cy="484"/>
          </a:xfrm>
        </p:grpSpPr>
        <p:graphicFrame>
          <p:nvGraphicFramePr>
            <p:cNvPr id="9240" name="Object 29"/>
            <p:cNvGraphicFramePr>
              <a:graphicFrameLocks noChangeAspect="1"/>
            </p:cNvGraphicFramePr>
            <p:nvPr/>
          </p:nvGraphicFramePr>
          <p:xfrm>
            <a:off x="4683" y="1853"/>
            <a:ext cx="29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13" imgW="156845" imgH="196215" progId="Equation.3">
                    <p:embed/>
                  </p:oleObj>
                </mc:Choice>
                <mc:Fallback>
                  <p:oleObj name="" r:id="rId13" imgW="156845" imgH="196215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83" y="1853"/>
                          <a:ext cx="290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1" name="Line 30"/>
            <p:cNvSpPr/>
            <p:nvPr/>
          </p:nvSpPr>
          <p:spPr>
            <a:xfrm flipH="1" flipV="1">
              <a:off x="4915" y="1830"/>
              <a:ext cx="223" cy="484"/>
            </a:xfrm>
            <a:prstGeom prst="line">
              <a:avLst/>
            </a:prstGeom>
            <a:ln w="38100" cap="flat" cmpd="sng">
              <a:solidFill>
                <a:srgbClr val="FF505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9235" name="Text Box 31"/>
          <p:cNvSpPr txBox="1"/>
          <p:nvPr/>
        </p:nvSpPr>
        <p:spPr>
          <a:xfrm>
            <a:off x="7494588" y="2740025"/>
            <a:ext cx="439737" cy="70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4000" b="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lang="en-US" altLang="zh-CN" sz="4000" b="0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36" name="Text Box 32"/>
          <p:cNvSpPr txBox="1"/>
          <p:nvPr/>
        </p:nvSpPr>
        <p:spPr>
          <a:xfrm>
            <a:off x="7092950" y="981075"/>
            <a:ext cx="441325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4000" b="0" i="1" dirty="0">
                <a:latin typeface="Times New Roman" panose="02020603050405020304" pitchFamily="18" charset="0"/>
              </a:rPr>
              <a:t>o</a:t>
            </a:r>
            <a:endParaRPr lang="en-US" altLang="zh-CN" sz="4000" b="0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37" name="Object 33"/>
          <p:cNvGraphicFramePr>
            <a:graphicFrameLocks noChangeAspect="1"/>
          </p:cNvGraphicFramePr>
          <p:nvPr/>
        </p:nvGraphicFramePr>
        <p:xfrm>
          <a:off x="468313" y="1125538"/>
          <a:ext cx="3887787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5" imgW="1377950" imgH="379095" progId="Equation.3">
                  <p:embed/>
                </p:oleObj>
              </mc:Choice>
              <mc:Fallback>
                <p:oleObj name="" r:id="rId15" imgW="1377950" imgH="379095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1125538"/>
                        <a:ext cx="3887787" cy="1116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35"/>
          <p:cNvGraphicFramePr>
            <a:graphicFrameLocks noChangeAspect="1"/>
          </p:cNvGraphicFramePr>
          <p:nvPr/>
        </p:nvGraphicFramePr>
        <p:xfrm>
          <a:off x="1187450" y="2492375"/>
          <a:ext cx="3313113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7" imgW="876300" imgH="419100" progId="Equation.3">
                  <p:embed/>
                </p:oleObj>
              </mc:Choice>
              <mc:Fallback>
                <p:oleObj name="" r:id="rId17" imgW="876300" imgH="4191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87450" y="2492375"/>
                        <a:ext cx="3313113" cy="1106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Text Box 36"/>
          <p:cNvSpPr txBox="1"/>
          <p:nvPr/>
        </p:nvSpPr>
        <p:spPr>
          <a:xfrm>
            <a:off x="468313" y="2708275"/>
            <a:ext cx="86836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令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793750" y="685800"/>
            <a:ext cx="7693025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600" dirty="0">
                <a:solidFill>
                  <a:srgbClr val="CC0000"/>
                </a:solidFill>
                <a:latin typeface="宋体" panose="02010600030101010101" pitchFamily="2" charset="-122"/>
              </a:rPr>
              <a:t>   </a:t>
            </a:r>
            <a:r>
              <a:rPr lang="zh-CN" altLang="zh-CN" sz="3600" dirty="0">
                <a:solidFill>
                  <a:srgbClr val="CC0000"/>
                </a:solidFill>
                <a:latin typeface="宋体" panose="02010600030101010101" pitchFamily="2" charset="-122"/>
              </a:rPr>
              <a:t>三</a:t>
            </a:r>
            <a:r>
              <a:rPr lang="zh-CN" altLang="en-US" sz="3600" dirty="0">
                <a:solidFill>
                  <a:srgbClr val="CC0000"/>
                </a:solidFill>
                <a:latin typeface="宋体" panose="02010600030101010101" pitchFamily="2" charset="-122"/>
              </a:rPr>
              <a:t> </a:t>
            </a:r>
            <a:r>
              <a:rPr lang="zh-CN" altLang="zh-CN" sz="3600" dirty="0">
                <a:solidFill>
                  <a:srgbClr val="CC0000"/>
                </a:solidFill>
                <a:latin typeface="宋体" panose="02010600030101010101" pitchFamily="2" charset="-122"/>
              </a:rPr>
              <a:t>  简谐振动的方程和特征</a:t>
            </a:r>
            <a:r>
              <a:rPr lang="zh-CN" altLang="en-US" sz="3600" dirty="0">
                <a:solidFill>
                  <a:srgbClr val="CC0000"/>
                </a:solidFill>
                <a:latin typeface="宋体" panose="02010600030101010101" pitchFamily="2" charset="-122"/>
              </a:rPr>
              <a:t>   </a:t>
            </a:r>
            <a:endParaRPr lang="zh-CN" altLang="en-US" sz="3600" dirty="0">
              <a:latin typeface="宋体" panose="02010600030101010101" pitchFamily="2" charset="-122"/>
            </a:endParaRPr>
          </a:p>
        </p:txBody>
      </p:sp>
      <p:graphicFrame>
        <p:nvGraphicFramePr>
          <p:cNvPr id="179208" name="Object 8"/>
          <p:cNvGraphicFramePr>
            <a:graphicFrameLocks noChangeAspect="1"/>
          </p:cNvGraphicFramePr>
          <p:nvPr/>
        </p:nvGraphicFramePr>
        <p:xfrm>
          <a:off x="6505575" y="2438400"/>
          <a:ext cx="225742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927100" imgH="482600" progId="Equation.3">
                  <p:embed/>
                </p:oleObj>
              </mc:Choice>
              <mc:Fallback>
                <p:oleObj name="" r:id="rId1" imgW="927100" imgH="4826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05575" y="2438400"/>
                        <a:ext cx="2257425" cy="10398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folHlink"/>
                          </a:gs>
                          <a:gs pos="50000">
                            <a:srgbClr val="FFFFFF"/>
                          </a:gs>
                          <a:gs pos="100000">
                            <a:schemeClr val="folHlink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9" name="Text Box 9"/>
          <p:cNvSpPr txBox="1"/>
          <p:nvPr/>
        </p:nvSpPr>
        <p:spPr>
          <a:xfrm>
            <a:off x="638175" y="2667000"/>
            <a:ext cx="7378700" cy="682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   （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3200" dirty="0">
                <a:latin typeface="宋体" panose="02010600030101010101" pitchFamily="2" charset="-122"/>
              </a:rPr>
              <a:t>简谐振动的动力学方程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grpSp>
        <p:nvGrpSpPr>
          <p:cNvPr id="179253" name="Group 53"/>
          <p:cNvGrpSpPr/>
          <p:nvPr/>
        </p:nvGrpSpPr>
        <p:grpSpPr>
          <a:xfrm>
            <a:off x="638175" y="1371600"/>
            <a:ext cx="7346950" cy="1260475"/>
            <a:chOff x="528" y="864"/>
            <a:chExt cx="4628" cy="794"/>
          </a:xfrm>
        </p:grpSpPr>
        <p:graphicFrame>
          <p:nvGraphicFramePr>
            <p:cNvPr id="10251" name="Object 27"/>
            <p:cNvGraphicFramePr>
              <a:graphicFrameLocks noChangeAspect="1"/>
            </p:cNvGraphicFramePr>
            <p:nvPr/>
          </p:nvGraphicFramePr>
          <p:xfrm>
            <a:off x="4249" y="939"/>
            <a:ext cx="839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3" imgW="660400" imgH="203200" progId="Equation.3">
                    <p:embed/>
                  </p:oleObj>
                </mc:Choice>
                <mc:Fallback>
                  <p:oleObj name="" r:id="rId3" imgW="660400" imgH="2032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49" y="939"/>
                          <a:ext cx="839" cy="269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fol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folHlink"/>
                            </a:gs>
                          </a:gsLst>
                          <a:lin ang="5400000" scaled="1"/>
                          <a:tileRect/>
                        </a:gradFill>
                        <a:ln w="12700" cap="flat" cmpd="sng">
                          <a:solidFill>
                            <a:srgbClr val="CC00CC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2" name="Text Box 28"/>
            <p:cNvSpPr txBox="1"/>
            <p:nvPr/>
          </p:nvSpPr>
          <p:spPr>
            <a:xfrm>
              <a:off x="528" y="864"/>
              <a:ext cx="4628" cy="7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宋体" panose="02010600030101010101" pitchFamily="2" charset="-122"/>
                </a:rPr>
                <a:t>   （</a:t>
              </a: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3200" dirty="0">
                  <a:solidFill>
                    <a:srgbClr val="CC0000"/>
                  </a:solidFill>
                  <a:latin typeface="宋体" panose="02010600030101010101" pitchFamily="2" charset="-122"/>
                </a:rPr>
                <a:t>）</a:t>
              </a:r>
              <a:r>
                <a:rPr lang="zh-CN" altLang="en-US" sz="3200" dirty="0">
                  <a:latin typeface="宋体" panose="02010600030101010101" pitchFamily="2" charset="-122"/>
                </a:rPr>
                <a:t>物体受线性回复力作用                           平衡位置</a:t>
              </a:r>
              <a:endParaRPr lang="zh-CN" altLang="en-US" sz="32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10253" name="Object 29"/>
            <p:cNvGraphicFramePr>
              <a:graphicFrameLocks noChangeAspect="1"/>
            </p:cNvGraphicFramePr>
            <p:nvPr/>
          </p:nvGraphicFramePr>
          <p:xfrm>
            <a:off x="1776" y="1344"/>
            <a:ext cx="576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5" imgW="419100" imgH="203200" progId="Equation.3">
                    <p:embed/>
                  </p:oleObj>
                </mc:Choice>
                <mc:Fallback>
                  <p:oleObj name="" r:id="rId5" imgW="419100" imgH="2032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76" y="1344"/>
                          <a:ext cx="576" cy="269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folHlink"/>
                            </a:gs>
                            <a:gs pos="50000">
                              <a:srgbClr val="FFFFFF"/>
                            </a:gs>
                            <a:gs pos="100000">
                              <a:schemeClr val="folHlink"/>
                            </a:gs>
                          </a:gsLst>
                          <a:lin ang="5400000" scaled="1"/>
                          <a:tileRect/>
                        </a:gradFill>
                        <a:ln w="12700" cap="flat" cmpd="sng">
                          <a:solidFill>
                            <a:srgbClr val="CC00CC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9254" name="Object 54"/>
          <p:cNvGraphicFramePr>
            <a:graphicFrameLocks noChangeAspect="1"/>
          </p:cNvGraphicFramePr>
          <p:nvPr/>
        </p:nvGraphicFramePr>
        <p:xfrm>
          <a:off x="4748213" y="4273550"/>
          <a:ext cx="36337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7" imgW="1574800" imgH="241300" progId="Equation.3">
                  <p:embed/>
                </p:oleObj>
              </mc:Choice>
              <mc:Fallback>
                <p:oleObj name="" r:id="rId7" imgW="1574800" imgH="2413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48213" y="4273550"/>
                        <a:ext cx="3633787" cy="5143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folHlink"/>
                          </a:gs>
                          <a:gs pos="50000">
                            <a:srgbClr val="FFFFFF"/>
                          </a:gs>
                          <a:gs pos="100000">
                            <a:schemeClr val="folHlink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5" name="Object 55"/>
          <p:cNvGraphicFramePr>
            <a:graphicFrameLocks noChangeAspect="1"/>
          </p:cNvGraphicFramePr>
          <p:nvPr/>
        </p:nvGraphicFramePr>
        <p:xfrm>
          <a:off x="914400" y="4291013"/>
          <a:ext cx="32845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9" imgW="1333500" imgH="241300" progId="Equation.3">
                  <p:embed/>
                </p:oleObj>
              </mc:Choice>
              <mc:Fallback>
                <p:oleObj name="" r:id="rId9" imgW="1333500" imgH="2413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4400" y="4291013"/>
                        <a:ext cx="3284538" cy="5080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folHlink"/>
                          </a:gs>
                          <a:gs pos="50000">
                            <a:srgbClr val="FFFFFF"/>
                          </a:gs>
                          <a:gs pos="100000">
                            <a:schemeClr val="folHlink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56" name="Rectangle 56"/>
          <p:cNvSpPr/>
          <p:nvPr/>
        </p:nvSpPr>
        <p:spPr>
          <a:xfrm>
            <a:off x="1066800" y="3505200"/>
            <a:ext cx="7543800" cy="682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 （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3200" dirty="0">
                <a:latin typeface="宋体" panose="02010600030101010101" pitchFamily="2" charset="-122"/>
              </a:rPr>
              <a:t>简谐振动的运动学方程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graphicFrame>
        <p:nvGraphicFramePr>
          <p:cNvPr id="179257" name="Object 57"/>
          <p:cNvGraphicFramePr>
            <a:graphicFrameLocks noChangeAspect="1"/>
          </p:cNvGraphicFramePr>
          <p:nvPr/>
        </p:nvGraphicFramePr>
        <p:xfrm>
          <a:off x="1828800" y="5595938"/>
          <a:ext cx="1600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1" imgW="736600" imgH="228600" progId="Equation.3">
                  <p:embed/>
                </p:oleObj>
              </mc:Choice>
              <mc:Fallback>
                <p:oleObj name="" r:id="rId11" imgW="736600" imgH="2286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28800" y="5595938"/>
                        <a:ext cx="1600200" cy="5000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folHlink"/>
                          </a:gs>
                          <a:gs pos="50000">
                            <a:srgbClr val="FFFFFF"/>
                          </a:gs>
                          <a:gs pos="100000">
                            <a:schemeClr val="folHlink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58" name="Text Box 58"/>
          <p:cNvSpPr txBox="1"/>
          <p:nvPr/>
        </p:nvSpPr>
        <p:spPr>
          <a:xfrm>
            <a:off x="1066800" y="4767263"/>
            <a:ext cx="73914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 （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3200" dirty="0">
                <a:latin typeface="宋体" panose="02010600030101010101" pitchFamily="2" charset="-122"/>
              </a:rPr>
              <a:t>加速度与位移成正比而方向相反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7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7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9" grpId="0"/>
      <p:bldP spid="179256" grpId="0"/>
      <p:bldP spid="1792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6394" name="Group 26"/>
          <p:cNvGrpSpPr/>
          <p:nvPr/>
        </p:nvGrpSpPr>
        <p:grpSpPr>
          <a:xfrm>
            <a:off x="3429000" y="3721100"/>
            <a:ext cx="1971675" cy="615950"/>
            <a:chOff x="2160" y="2459"/>
            <a:chExt cx="1242" cy="388"/>
          </a:xfrm>
        </p:grpSpPr>
        <p:graphicFrame>
          <p:nvGraphicFramePr>
            <p:cNvPr id="11276" name="Object 4"/>
            <p:cNvGraphicFramePr>
              <a:graphicFrameLocks noChangeAspect="1"/>
            </p:cNvGraphicFramePr>
            <p:nvPr/>
          </p:nvGraphicFramePr>
          <p:xfrm>
            <a:off x="2543" y="2459"/>
            <a:ext cx="859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1" imgW="571500" imgH="254000" progId="Equation.3">
                    <p:embed/>
                  </p:oleObj>
                </mc:Choice>
                <mc:Fallback>
                  <p:oleObj name="" r:id="rId1" imgW="571500" imgH="2540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43" y="2459"/>
                          <a:ext cx="859" cy="3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7" name="Object 5"/>
            <p:cNvGraphicFramePr>
              <a:graphicFrameLocks noChangeAspect="1"/>
            </p:cNvGraphicFramePr>
            <p:nvPr/>
          </p:nvGraphicFramePr>
          <p:xfrm>
            <a:off x="2160" y="2511"/>
            <a:ext cx="486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3" imgW="330200" imgH="152400" progId="Equation.3">
                    <p:embed/>
                  </p:oleObj>
                </mc:Choice>
                <mc:Fallback>
                  <p:oleObj name="" r:id="rId3" imgW="330200" imgH="1524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60" y="2511"/>
                          <a:ext cx="486" cy="2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7" name="Text Box 6"/>
          <p:cNvSpPr txBox="1"/>
          <p:nvPr/>
        </p:nvSpPr>
        <p:spPr>
          <a:xfrm>
            <a:off x="1535113" y="3598863"/>
            <a:ext cx="19050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000066"/>
                </a:solidFill>
                <a:latin typeface="宋体" panose="02010600030101010101" pitchFamily="2" charset="-122"/>
              </a:rPr>
              <a:t>复摆</a:t>
            </a:r>
            <a:endParaRPr lang="zh-CN" altLang="en-US" sz="3200" dirty="0">
              <a:solidFill>
                <a:srgbClr val="000066"/>
              </a:solidFill>
              <a:latin typeface="宋体" panose="02010600030101010101" pitchFamily="2" charset="-122"/>
            </a:endParaRPr>
          </a:p>
        </p:txBody>
      </p:sp>
      <p:grpSp>
        <p:nvGrpSpPr>
          <p:cNvPr id="186392" name="Group 24"/>
          <p:cNvGrpSpPr/>
          <p:nvPr/>
        </p:nvGrpSpPr>
        <p:grpSpPr>
          <a:xfrm>
            <a:off x="3425825" y="1166813"/>
            <a:ext cx="1698625" cy="674687"/>
            <a:chOff x="2158" y="735"/>
            <a:chExt cx="1070" cy="425"/>
          </a:xfrm>
        </p:grpSpPr>
        <p:graphicFrame>
          <p:nvGraphicFramePr>
            <p:cNvPr id="11274" name="Object 9"/>
            <p:cNvGraphicFramePr>
              <a:graphicFrameLocks noChangeAspect="1"/>
            </p:cNvGraphicFramePr>
            <p:nvPr/>
          </p:nvGraphicFramePr>
          <p:xfrm>
            <a:off x="2158" y="797"/>
            <a:ext cx="48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5" imgW="330200" imgH="152400" progId="Equation.3">
                    <p:embed/>
                  </p:oleObj>
                </mc:Choice>
                <mc:Fallback>
                  <p:oleObj name="" r:id="rId5" imgW="330200" imgH="1524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58" y="797"/>
                          <a:ext cx="48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5" name="Object 10"/>
            <p:cNvGraphicFramePr>
              <a:graphicFrameLocks noChangeAspect="1"/>
            </p:cNvGraphicFramePr>
            <p:nvPr/>
          </p:nvGraphicFramePr>
          <p:xfrm>
            <a:off x="2503" y="735"/>
            <a:ext cx="725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7" imgW="495300" imgH="292100" progId="Equation.3">
                    <p:embed/>
                  </p:oleObj>
                </mc:Choice>
                <mc:Fallback>
                  <p:oleObj name="" r:id="rId7" imgW="495300" imgH="2921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03" y="735"/>
                          <a:ext cx="725" cy="4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9" name="Text Box 11"/>
          <p:cNvSpPr txBox="1"/>
          <p:nvPr/>
        </p:nvSpPr>
        <p:spPr>
          <a:xfrm>
            <a:off x="1535113" y="1066800"/>
            <a:ext cx="3421062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000066"/>
                </a:solidFill>
                <a:latin typeface="宋体" panose="02010600030101010101" pitchFamily="2" charset="-122"/>
              </a:rPr>
              <a:t>弹簧振子</a:t>
            </a:r>
            <a:endParaRPr lang="zh-CN" altLang="en-US" sz="3200" dirty="0">
              <a:solidFill>
                <a:srgbClr val="000066"/>
              </a:solidFill>
              <a:latin typeface="宋体" panose="02010600030101010101" pitchFamily="2" charset="-122"/>
            </a:endParaRPr>
          </a:p>
        </p:txBody>
      </p:sp>
      <p:grpSp>
        <p:nvGrpSpPr>
          <p:cNvPr id="186393" name="Group 25"/>
          <p:cNvGrpSpPr/>
          <p:nvPr/>
        </p:nvGrpSpPr>
        <p:grpSpPr>
          <a:xfrm>
            <a:off x="3421063" y="2309813"/>
            <a:ext cx="1782762" cy="704850"/>
            <a:chOff x="2155" y="1455"/>
            <a:chExt cx="1123" cy="444"/>
          </a:xfrm>
        </p:grpSpPr>
        <p:graphicFrame>
          <p:nvGraphicFramePr>
            <p:cNvPr id="11272" name="Object 14"/>
            <p:cNvGraphicFramePr>
              <a:graphicFrameLocks noChangeAspect="1"/>
            </p:cNvGraphicFramePr>
            <p:nvPr/>
          </p:nvGraphicFramePr>
          <p:xfrm>
            <a:off x="2599" y="1455"/>
            <a:ext cx="679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9" imgW="444500" imgH="292100" progId="Equation.3">
                    <p:embed/>
                  </p:oleObj>
                </mc:Choice>
                <mc:Fallback>
                  <p:oleObj name="" r:id="rId9" imgW="444500" imgH="2921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99" y="1455"/>
                          <a:ext cx="679" cy="4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3" name="Object 15"/>
            <p:cNvGraphicFramePr>
              <a:graphicFrameLocks noChangeAspect="1"/>
            </p:cNvGraphicFramePr>
            <p:nvPr/>
          </p:nvGraphicFramePr>
          <p:xfrm>
            <a:off x="2155" y="1551"/>
            <a:ext cx="485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11" imgW="330200" imgH="152400" progId="Equation.3">
                    <p:embed/>
                  </p:oleObj>
                </mc:Choice>
                <mc:Fallback>
                  <p:oleObj name="" r:id="rId11" imgW="330200" imgH="1524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55" y="1551"/>
                          <a:ext cx="485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1" name="Text Box 16"/>
          <p:cNvSpPr txBox="1"/>
          <p:nvPr/>
        </p:nvSpPr>
        <p:spPr>
          <a:xfrm>
            <a:off x="1535113" y="2309813"/>
            <a:ext cx="19050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000066"/>
                </a:solidFill>
                <a:latin typeface="宋体" panose="02010600030101010101" pitchFamily="2" charset="-122"/>
              </a:rPr>
              <a:t>单摆</a:t>
            </a:r>
            <a:endParaRPr lang="zh-CN" altLang="en-US" sz="3200" dirty="0">
              <a:solidFill>
                <a:srgbClr val="000066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8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11"/>
          <p:cNvSpPr txBox="1"/>
          <p:nvPr/>
        </p:nvSpPr>
        <p:spPr>
          <a:xfrm>
            <a:off x="971550" y="750888"/>
            <a:ext cx="410368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选择进入下一节：</a:t>
            </a:r>
            <a:endParaRPr lang="zh-CN" altLang="en-US" sz="36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291" name="Rectangle 2">
            <a:hlinkClick r:id="rId1" action="ppaction://hlinkpres?slideindex=1&amp;slidetitle="/>
          </p:cNvPr>
          <p:cNvSpPr/>
          <p:nvPr/>
        </p:nvSpPr>
        <p:spPr>
          <a:xfrm>
            <a:off x="1941513" y="1412875"/>
            <a:ext cx="7162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9-0 教学基本要求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2" name="Rectangle 3">
            <a:hlinkClick r:id="rId2" action="ppaction://hlinkpres?slideindex=1&amp;slidetitle="/>
          </p:cNvPr>
          <p:cNvSpPr/>
          <p:nvPr/>
        </p:nvSpPr>
        <p:spPr>
          <a:xfrm>
            <a:off x="1949450" y="2124075"/>
            <a:ext cx="72310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9-1 简谐振动 振幅 周期和频率 相位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3" name="Rectangle 4">
            <a:hlinkClick r:id="rId3" action="ppaction://hlinkpres?slideindex=1&amp;slidetitle="/>
          </p:cNvPr>
          <p:cNvSpPr/>
          <p:nvPr/>
        </p:nvSpPr>
        <p:spPr>
          <a:xfrm>
            <a:off x="1949450" y="2905125"/>
            <a:ext cx="72310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9-2 旋转矢量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4" name="Rectangle 5">
            <a:hlinkClick r:id="rId4" action="ppaction://hlinkpres?slideindex=1&amp;slidetitle="/>
          </p:cNvPr>
          <p:cNvSpPr/>
          <p:nvPr/>
        </p:nvSpPr>
        <p:spPr>
          <a:xfrm>
            <a:off x="1941513" y="3667125"/>
            <a:ext cx="7239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9-3 单摆和复摆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5" name="Rectangle 6">
            <a:hlinkClick r:id="rId5" action="ppaction://hlinkpres?slideindex=1&amp;slidetitle="/>
          </p:cNvPr>
          <p:cNvSpPr/>
          <p:nvPr/>
        </p:nvSpPr>
        <p:spPr>
          <a:xfrm>
            <a:off x="1941513" y="4437063"/>
            <a:ext cx="713263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9-4 简谐振动的能量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6" name="Rectangle 2">
            <a:hlinkClick r:id="rId6" action="ppaction://hlinkpres?slideindex=1&amp;slidetitle="/>
          </p:cNvPr>
          <p:cNvSpPr/>
          <p:nvPr/>
        </p:nvSpPr>
        <p:spPr>
          <a:xfrm>
            <a:off x="1954213" y="5226050"/>
            <a:ext cx="7010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9-5 简谐振动的合成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9"/>
          <p:cNvSpPr txBox="1"/>
          <p:nvPr/>
        </p:nvSpPr>
        <p:spPr>
          <a:xfrm>
            <a:off x="971550" y="750888"/>
            <a:ext cx="410368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选择进入下一节：</a:t>
            </a:r>
            <a:endParaRPr lang="zh-CN" altLang="en-US" sz="36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315" name="Rectangle 4">
            <a:hlinkClick r:id="rId1" action="ppaction://hlinkpres?slideindex=1&amp;slidetitle="/>
          </p:cNvPr>
          <p:cNvSpPr/>
          <p:nvPr/>
        </p:nvSpPr>
        <p:spPr>
          <a:xfrm>
            <a:off x="1447800" y="2489200"/>
            <a:ext cx="7162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9-7 电磁振荡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16" name="Rectangle 5">
            <a:hlinkClick r:id="rId2" action="ppaction://hlinkpres?slideindex=1&amp;slidetitle="/>
          </p:cNvPr>
          <p:cNvSpPr/>
          <p:nvPr/>
        </p:nvSpPr>
        <p:spPr>
          <a:xfrm>
            <a:off x="1447800" y="1706563"/>
            <a:ext cx="7162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9-6 阻尼振动 受迫振动 共振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17" name="Rectangle 5">
            <a:hlinkClick r:id="rId3" action="ppaction://hlinkpres?slideindex=1&amp;slidetitle="/>
          </p:cNvPr>
          <p:cNvSpPr/>
          <p:nvPr/>
        </p:nvSpPr>
        <p:spPr>
          <a:xfrm>
            <a:off x="1441450" y="3209925"/>
            <a:ext cx="7162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</a:t>
            </a:r>
            <a:r>
              <a:rPr lang="en-US" altLang="zh-CN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简述非线性系统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18" name="Text Box 20"/>
          <p:cNvSpPr txBox="1"/>
          <p:nvPr/>
        </p:nvSpPr>
        <p:spPr>
          <a:xfrm>
            <a:off x="1258888" y="3213100"/>
            <a:ext cx="3381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19" name="Text Box 20"/>
          <p:cNvSpPr txBox="1"/>
          <p:nvPr/>
        </p:nvSpPr>
        <p:spPr>
          <a:xfrm>
            <a:off x="1258888" y="1700213"/>
            <a:ext cx="3381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4_1简谐运动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4_1简谐运动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4_1简谐运动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1简谐运动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1简谐运动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1简谐运动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5_1简谐运动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5_1简谐运动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1简谐运动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1简谐运动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Documents\新课件\14(已改）\14_1简谐运动.ppt</Template>
  <TotalTime>0</TotalTime>
  <Words>442</Words>
  <Application>WPS 演示</Application>
  <PresentationFormat>全屏显示(4:3)</PresentationFormat>
  <Paragraphs>132</Paragraphs>
  <Slides>11</Slides>
  <Notes>0</Notes>
  <HiddenSlides>0</HiddenSlides>
  <MMClips>0</MMClips>
  <ScaleCrop>false</ScaleCrop>
  <HeadingPairs>
    <vt:vector size="10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69</vt:i4>
      </vt:variant>
      <vt:variant>
        <vt:lpstr>幻灯片标题</vt:lpstr>
      </vt:variant>
      <vt:variant>
        <vt:i4>11</vt:i4>
      </vt:variant>
      <vt:variant>
        <vt:lpstr>自定义放映</vt:lpstr>
      </vt:variant>
      <vt:variant>
        <vt:i4>1</vt:i4>
      </vt:variant>
    </vt:vector>
  </HeadingPairs>
  <TitlesOfParts>
    <vt:vector size="96" baseType="lpstr">
      <vt:lpstr>Arial</vt:lpstr>
      <vt:lpstr>宋体</vt:lpstr>
      <vt:lpstr>Wingdings</vt:lpstr>
      <vt:lpstr>Times New Roman</vt:lpstr>
      <vt:lpstr>Verdana</vt:lpstr>
      <vt:lpstr>等线</vt:lpstr>
      <vt:lpstr>楷体_GB2312</vt:lpstr>
      <vt:lpstr>新宋体</vt:lpstr>
      <vt:lpstr>Calibri</vt:lpstr>
      <vt:lpstr>楷体</vt:lpstr>
      <vt:lpstr>KSOF3FB35F8F</vt:lpstr>
      <vt:lpstr>FFont-Family</vt:lpstr>
      <vt:lpstr>微软雅黑</vt:lpstr>
      <vt:lpstr>14_1简谐运动</vt:lpstr>
      <vt:lpstr>15_1简谐运动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Company>南京建筑工程学院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9-3单摆和复摆.ppt</dc:title>
  <dc:creator>江南大学物理基础部    朱云</dc:creator>
  <cp:lastModifiedBy>Administrator</cp:lastModifiedBy>
  <cp:revision>140</cp:revision>
  <dcterms:created xsi:type="dcterms:W3CDTF">2000-08-14T12:58:35Z</dcterms:created>
  <dcterms:modified xsi:type="dcterms:W3CDTF">2026-09-27T13:21:24Z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60CD50517D2448F5A946D37EFDF30A57_13</vt:lpwstr>
  </property>
</Properties>
</file>