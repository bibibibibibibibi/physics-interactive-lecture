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4" r:id="rId3"/>
  </p:sldMasterIdLst>
  <p:notesMasterIdLst>
    <p:notesMasterId r:id="rId29"/>
  </p:notesMasterIdLst>
  <p:handoutMasterIdLst>
    <p:handoutMasterId r:id="rId30"/>
  </p:handoutMasterIdLst>
  <p:sldIdLst>
    <p:sldId id="385" r:id="rId4"/>
    <p:sldId id="386" r:id="rId5"/>
    <p:sldId id="387" r:id="rId6"/>
    <p:sldId id="389" r:id="rId7"/>
    <p:sldId id="390" r:id="rId8"/>
    <p:sldId id="391" r:id="rId9"/>
    <p:sldId id="393" r:id="rId10"/>
    <p:sldId id="394" r:id="rId11"/>
    <p:sldId id="395" r:id="rId12"/>
    <p:sldId id="396" r:id="rId13"/>
    <p:sldId id="397" r:id="rId14"/>
    <p:sldId id="399" r:id="rId15"/>
    <p:sldId id="400" r:id="rId16"/>
    <p:sldId id="401" r:id="rId17"/>
    <p:sldId id="402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6600"/>
    <a:srgbClr val="FFCCFF"/>
    <a:srgbClr val="FFCCCC"/>
    <a:srgbClr val="FF99FF"/>
    <a:srgbClr val="CC66FF"/>
    <a:srgbClr val="FFFF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4" autoAdjust="0"/>
    <p:restoredTop sz="94660" autoAdjust="0"/>
  </p:normalViewPr>
  <p:slideViewPr>
    <p:cSldViewPr showGuides="1">
      <p:cViewPr varScale="1">
        <p:scale>
          <a:sx n="110" d="100"/>
          <a:sy n="110" d="100"/>
        </p:scale>
        <p:origin x="16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174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emf"/><Relationship Id="rId8" Type="http://schemas.openxmlformats.org/officeDocument/2006/relationships/image" Target="../media/image12.emf"/><Relationship Id="rId7" Type="http://schemas.openxmlformats.org/officeDocument/2006/relationships/image" Target="../media/image11.emf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Relationship Id="rId3" Type="http://schemas.openxmlformats.org/officeDocument/2006/relationships/image" Target="../media/image7.emf"/><Relationship Id="rId21" Type="http://schemas.openxmlformats.org/officeDocument/2006/relationships/image" Target="../media/image25.emf"/><Relationship Id="rId20" Type="http://schemas.openxmlformats.org/officeDocument/2006/relationships/image" Target="../media/image24.emf"/><Relationship Id="rId2" Type="http://schemas.openxmlformats.org/officeDocument/2006/relationships/image" Target="../media/image6.emf"/><Relationship Id="rId19" Type="http://schemas.openxmlformats.org/officeDocument/2006/relationships/image" Target="../media/image23.emf"/><Relationship Id="rId18" Type="http://schemas.openxmlformats.org/officeDocument/2006/relationships/image" Target="../media/image22.emf"/><Relationship Id="rId17" Type="http://schemas.openxmlformats.org/officeDocument/2006/relationships/image" Target="../media/image21.emf"/><Relationship Id="rId16" Type="http://schemas.openxmlformats.org/officeDocument/2006/relationships/image" Target="../media/image20.emf"/><Relationship Id="rId15" Type="http://schemas.openxmlformats.org/officeDocument/2006/relationships/image" Target="../media/image19.emf"/><Relationship Id="rId14" Type="http://schemas.openxmlformats.org/officeDocument/2006/relationships/image" Target="../media/image18.emf"/><Relationship Id="rId13" Type="http://schemas.openxmlformats.org/officeDocument/2006/relationships/image" Target="../media/image17.emf"/><Relationship Id="rId12" Type="http://schemas.openxmlformats.org/officeDocument/2006/relationships/image" Target="../media/image16.emf"/><Relationship Id="rId11" Type="http://schemas.openxmlformats.org/officeDocument/2006/relationships/image" Target="../media/image15.emf"/><Relationship Id="rId10" Type="http://schemas.openxmlformats.org/officeDocument/2006/relationships/image" Target="../media/image14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7" Type="http://schemas.openxmlformats.org/officeDocument/2006/relationships/image" Target="../media/image33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emf"/><Relationship Id="rId8" Type="http://schemas.openxmlformats.org/officeDocument/2006/relationships/image" Target="../media/image42.emf"/><Relationship Id="rId7" Type="http://schemas.openxmlformats.org/officeDocument/2006/relationships/image" Target="../media/image41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2" Type="http://schemas.openxmlformats.org/officeDocument/2006/relationships/image" Target="../media/image46.emf"/><Relationship Id="rId11" Type="http://schemas.openxmlformats.org/officeDocument/2006/relationships/image" Target="../media/image45.emf"/><Relationship Id="rId10" Type="http://schemas.openxmlformats.org/officeDocument/2006/relationships/image" Target="../media/image44.emf"/><Relationship Id="rId1" Type="http://schemas.openxmlformats.org/officeDocument/2006/relationships/image" Target="../media/image3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emf"/><Relationship Id="rId4" Type="http://schemas.openxmlformats.org/officeDocument/2006/relationships/image" Target="../media/image76.emf"/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F66DB79-F4A9-47D0-BAFD-8BCA66C98A5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yt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2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 rot="8100000">
            <a:off x="6785634" y="-783162"/>
            <a:ext cx="4716161" cy="733019"/>
            <a:chOff x="5366952" y="823932"/>
            <a:chExt cx="4716161" cy="73301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8" name="延迟 6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延迟 8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 rot="8100000">
            <a:off x="-431777" y="7209591"/>
            <a:ext cx="4716161" cy="733019"/>
            <a:chOff x="5366952" y="823932"/>
            <a:chExt cx="4716161" cy="73301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2" name="延迟 10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延迟 12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8100000">
            <a:off x="5424299" y="7138152"/>
            <a:ext cx="4716161" cy="733019"/>
            <a:chOff x="5366952" y="823932"/>
            <a:chExt cx="4716161" cy="733019"/>
          </a:xfrm>
          <a:solidFill>
            <a:schemeClr val="accent4">
              <a:lumMod val="75000"/>
            </a:schemeClr>
          </a:solidFill>
        </p:grpSpPr>
        <p:sp>
          <p:nvSpPr>
            <p:cNvPr id="16" name="延迟 14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延迟 16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8100000">
            <a:off x="-2278962" y="7065525"/>
            <a:ext cx="4716161" cy="733019"/>
            <a:chOff x="5366952" y="823932"/>
            <a:chExt cx="4716161" cy="733019"/>
          </a:xfrm>
          <a:solidFill>
            <a:schemeClr val="accent6">
              <a:lumMod val="75000"/>
            </a:schemeClr>
          </a:solidFill>
        </p:grpSpPr>
        <p:sp>
          <p:nvSpPr>
            <p:cNvPr id="20" name="延迟 18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延迟 20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 rot="8100000">
            <a:off x="889442" y="-782600"/>
            <a:ext cx="4716160" cy="733020"/>
            <a:chOff x="5366953" y="823932"/>
            <a:chExt cx="4716160" cy="733020"/>
          </a:xfrm>
          <a:solidFill>
            <a:schemeClr val="bg2">
              <a:lumMod val="25000"/>
            </a:schemeClr>
          </a:solidFill>
        </p:grpSpPr>
        <p:sp>
          <p:nvSpPr>
            <p:cNvPr id="24" name="延迟 22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6096000" y="827904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6" name="延迟 24"/>
            <p:cNvSpPr/>
            <p:nvPr/>
          </p:nvSpPr>
          <p:spPr>
            <a:xfrm flipH="1">
              <a:off x="5366953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 rot="8100000">
            <a:off x="-1127088" y="-783707"/>
            <a:ext cx="4716161" cy="733019"/>
            <a:chOff x="5366952" y="823932"/>
            <a:chExt cx="4716161" cy="733019"/>
          </a:xfrm>
          <a:solidFill>
            <a:schemeClr val="accent5">
              <a:lumMod val="75000"/>
            </a:schemeClr>
          </a:solidFill>
        </p:grpSpPr>
        <p:sp>
          <p:nvSpPr>
            <p:cNvPr id="28" name="延迟 26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延迟 28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1" name="Text Box 15"/>
          <p:cNvSpPr txBox="1">
            <a:spLocks noChangeArrowheads="1"/>
          </p:cNvSpPr>
          <p:nvPr userDrawn="1"/>
        </p:nvSpPr>
        <p:spPr bwMode="auto">
          <a:xfrm>
            <a:off x="-36513" y="114300"/>
            <a:ext cx="900113" cy="60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ea typeface="楷体_GB2312" pitchFamily="49" charset="-122"/>
              </a:rPr>
              <a:t>物理学</a:t>
            </a:r>
            <a:endParaRPr lang="zh-CN" altLang="en-US" sz="1600" b="1" dirty="0">
              <a:solidFill>
                <a:schemeClr val="bg1"/>
              </a:solidFill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1200" b="1" dirty="0">
                <a:solidFill>
                  <a:schemeClr val="bg1"/>
                </a:solidFill>
                <a:ea typeface="楷体_GB2312" pitchFamily="49" charset="-122"/>
              </a:rPr>
              <a:t>第七版</a:t>
            </a:r>
            <a:endParaRPr lang="zh-CN" altLang="en-US" sz="1200" b="1" dirty="0">
              <a:solidFill>
                <a:schemeClr val="bg1"/>
              </a:solidFill>
              <a:ea typeface="楷体_GB2312" pitchFamily="49" charset="-122"/>
            </a:endParaRPr>
          </a:p>
        </p:txBody>
      </p:sp>
    </p:spTree>
    <p:custDataLst>
      <p:tags r:id="rId1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 rot="8100000">
            <a:off x="-3309597" y="7064811"/>
            <a:ext cx="4716161" cy="733019"/>
            <a:chOff x="5366952" y="823932"/>
            <a:chExt cx="4716161" cy="733019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2" name="延迟 10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14" name="延迟 12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8100000">
            <a:off x="7584569" y="-710448"/>
            <a:ext cx="4716161" cy="733019"/>
            <a:chOff x="5366952" y="823932"/>
            <a:chExt cx="4716161" cy="733019"/>
          </a:xfrm>
          <a:solidFill>
            <a:schemeClr val="accent4">
              <a:lumMod val="75000"/>
            </a:schemeClr>
          </a:solidFill>
        </p:grpSpPr>
        <p:sp>
          <p:nvSpPr>
            <p:cNvPr id="16" name="延迟 14"/>
            <p:cNvSpPr/>
            <p:nvPr/>
          </p:nvSpPr>
          <p:spPr>
            <a:xfrm>
              <a:off x="9354065" y="827903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96000" y="827903"/>
              <a:ext cx="3258065" cy="729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  <p:sp>
          <p:nvSpPr>
            <p:cNvPr id="18" name="延迟 16"/>
            <p:cNvSpPr/>
            <p:nvPr/>
          </p:nvSpPr>
          <p:spPr>
            <a:xfrm flipH="1">
              <a:off x="5366952" y="823932"/>
              <a:ext cx="729048" cy="729048"/>
            </a:xfrm>
            <a:prstGeom prst="flowChartDelay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16.xml"/><Relationship Id="rId23" Type="http://schemas.openxmlformats.org/officeDocument/2006/relationships/image" Target="../media/image4.png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8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5" Type="http://schemas.openxmlformats.org/officeDocument/2006/relationships/vmlDrawing" Target="../drawings/vmlDrawing2.vml"/><Relationship Id="rId44" Type="http://schemas.openxmlformats.org/officeDocument/2006/relationships/slideLayout" Target="../slideLayouts/slideLayout7.xml"/><Relationship Id="rId43" Type="http://schemas.openxmlformats.org/officeDocument/2006/relationships/image" Target="../media/image26.png"/><Relationship Id="rId42" Type="http://schemas.openxmlformats.org/officeDocument/2006/relationships/image" Target="../media/image25.emf"/><Relationship Id="rId41" Type="http://schemas.openxmlformats.org/officeDocument/2006/relationships/oleObject" Target="../embeddings/oleObject23.bin"/><Relationship Id="rId40" Type="http://schemas.openxmlformats.org/officeDocument/2006/relationships/image" Target="../media/image24.emf"/><Relationship Id="rId4" Type="http://schemas.openxmlformats.org/officeDocument/2006/relationships/image" Target="../media/image6.emf"/><Relationship Id="rId39" Type="http://schemas.openxmlformats.org/officeDocument/2006/relationships/oleObject" Target="../embeddings/oleObject22.bin"/><Relationship Id="rId38" Type="http://schemas.openxmlformats.org/officeDocument/2006/relationships/image" Target="../media/image23.emf"/><Relationship Id="rId37" Type="http://schemas.openxmlformats.org/officeDocument/2006/relationships/oleObject" Target="../embeddings/oleObject21.bin"/><Relationship Id="rId36" Type="http://schemas.openxmlformats.org/officeDocument/2006/relationships/image" Target="../media/image22.emf"/><Relationship Id="rId35" Type="http://schemas.openxmlformats.org/officeDocument/2006/relationships/oleObject" Target="../embeddings/oleObject20.bin"/><Relationship Id="rId34" Type="http://schemas.openxmlformats.org/officeDocument/2006/relationships/image" Target="../media/image21.emf"/><Relationship Id="rId33" Type="http://schemas.openxmlformats.org/officeDocument/2006/relationships/oleObject" Target="../embeddings/oleObject19.bin"/><Relationship Id="rId32" Type="http://schemas.openxmlformats.org/officeDocument/2006/relationships/image" Target="../media/image20.emf"/><Relationship Id="rId31" Type="http://schemas.openxmlformats.org/officeDocument/2006/relationships/oleObject" Target="../embeddings/oleObject18.bin"/><Relationship Id="rId30" Type="http://schemas.openxmlformats.org/officeDocument/2006/relationships/image" Target="../media/image19.emf"/><Relationship Id="rId3" Type="http://schemas.openxmlformats.org/officeDocument/2006/relationships/oleObject" Target="../embeddings/oleObject4.bin"/><Relationship Id="rId29" Type="http://schemas.openxmlformats.org/officeDocument/2006/relationships/oleObject" Target="../embeddings/oleObject17.bin"/><Relationship Id="rId28" Type="http://schemas.openxmlformats.org/officeDocument/2006/relationships/image" Target="../media/image18.emf"/><Relationship Id="rId27" Type="http://schemas.openxmlformats.org/officeDocument/2006/relationships/oleObject" Target="../embeddings/oleObject16.bin"/><Relationship Id="rId26" Type="http://schemas.openxmlformats.org/officeDocument/2006/relationships/image" Target="../media/image17.emf"/><Relationship Id="rId25" Type="http://schemas.openxmlformats.org/officeDocument/2006/relationships/oleObject" Target="../embeddings/oleObject15.bin"/><Relationship Id="rId24" Type="http://schemas.openxmlformats.org/officeDocument/2006/relationships/image" Target="../media/image16.emf"/><Relationship Id="rId23" Type="http://schemas.openxmlformats.org/officeDocument/2006/relationships/oleObject" Target="../embeddings/oleObject14.bin"/><Relationship Id="rId22" Type="http://schemas.openxmlformats.org/officeDocument/2006/relationships/image" Target="../media/image15.emf"/><Relationship Id="rId21" Type="http://schemas.openxmlformats.org/officeDocument/2006/relationships/oleObject" Target="../embeddings/oleObject13.bin"/><Relationship Id="rId20" Type="http://schemas.openxmlformats.org/officeDocument/2006/relationships/image" Target="../media/image14.emf"/><Relationship Id="rId2" Type="http://schemas.openxmlformats.org/officeDocument/2006/relationships/image" Target="../media/image5.e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3.e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2.e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1.e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10.e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9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7.e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4.e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33.e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32.e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8.e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6.emf"/><Relationship Id="rId3" Type="http://schemas.openxmlformats.org/officeDocument/2006/relationships/oleObject" Target="../embeddings/oleObject33.bin"/><Relationship Id="rId26" Type="http://schemas.openxmlformats.org/officeDocument/2006/relationships/vmlDrawing" Target="../drawings/vmlDrawing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46.emf"/><Relationship Id="rId23" Type="http://schemas.openxmlformats.org/officeDocument/2006/relationships/oleObject" Target="../embeddings/oleObject43.bin"/><Relationship Id="rId22" Type="http://schemas.openxmlformats.org/officeDocument/2006/relationships/image" Target="../media/image45.emf"/><Relationship Id="rId21" Type="http://schemas.openxmlformats.org/officeDocument/2006/relationships/oleObject" Target="../embeddings/oleObject42.bin"/><Relationship Id="rId20" Type="http://schemas.openxmlformats.org/officeDocument/2006/relationships/image" Target="../media/image44.emf"/><Relationship Id="rId2" Type="http://schemas.openxmlformats.org/officeDocument/2006/relationships/image" Target="../media/image35.e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43.e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42.e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41.emf"/><Relationship Id="rId13" Type="http://schemas.openxmlformats.org/officeDocument/2006/relationships/oleObject" Target="../embeddings/oleObject38.bin"/><Relationship Id="rId12" Type="http://schemas.openxmlformats.org/officeDocument/2006/relationships/image" Target="../media/image40.e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9.emf"/><Relationship Id="rId1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emf"/><Relationship Id="rId1" Type="http://schemas.openxmlformats.org/officeDocument/2006/relationships/oleObject" Target="../embeddings/oleObject4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emf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image" Target="../media/image48.png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30.xml"/><Relationship Id="rId24" Type="http://schemas.openxmlformats.org/officeDocument/2006/relationships/image" Target="../media/image4.png"/><Relationship Id="rId23" Type="http://schemas.openxmlformats.org/officeDocument/2006/relationships/tags" Target="../tags/tag129.xml"/><Relationship Id="rId22" Type="http://schemas.openxmlformats.org/officeDocument/2006/relationships/tags" Target="../tags/tag128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18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image" Target="../media/image57.emf"/><Relationship Id="rId16" Type="http://schemas.openxmlformats.org/officeDocument/2006/relationships/image" Target="../media/image56.emf"/><Relationship Id="rId15" Type="http://schemas.openxmlformats.org/officeDocument/2006/relationships/image" Target="../media/image55.emf"/><Relationship Id="rId14" Type="http://schemas.openxmlformats.org/officeDocument/2006/relationships/image" Target="../media/image54.emf"/><Relationship Id="rId13" Type="http://schemas.openxmlformats.org/officeDocument/2006/relationships/image" Target="../media/image53.emf"/><Relationship Id="rId12" Type="http://schemas.openxmlformats.org/officeDocument/2006/relationships/image" Target="../media/image52.emf"/><Relationship Id="rId11" Type="http://schemas.openxmlformats.org/officeDocument/2006/relationships/image" Target="../media/image51.emf"/><Relationship Id="rId10" Type="http://schemas.openxmlformats.org/officeDocument/2006/relationships/image" Target="../media/image50.emf"/><Relationship Id="rId1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9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8.emf"/><Relationship Id="rId1" Type="http://schemas.openxmlformats.org/officeDocument/2006/relationships/oleObject" Target="../embeddings/oleObject4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64.e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62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61.emf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5.emf"/><Relationship Id="rId1" Type="http://schemas.openxmlformats.org/officeDocument/2006/relationships/oleObject" Target="../embeddings/oleObject4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7.e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66.emf"/><Relationship Id="rId1" Type="http://schemas.openxmlformats.org/officeDocument/2006/relationships/oleObject" Target="../embeddings/oleObject5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151.xml"/><Relationship Id="rId25" Type="http://schemas.openxmlformats.org/officeDocument/2006/relationships/image" Target="../media/image4.png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32.xml"/><Relationship Id="rId19" Type="http://schemas.openxmlformats.org/officeDocument/2006/relationships/tags" Target="../tags/tag145.xml"/><Relationship Id="rId18" Type="http://schemas.openxmlformats.org/officeDocument/2006/relationships/image" Target="../media/image72.png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image" Target="../media/image71.png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image" Target="../media/image70.png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76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75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4.e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73.e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7.emf"/><Relationship Id="rId1" Type="http://schemas.openxmlformats.org/officeDocument/2006/relationships/oleObject" Target="../embeddings/oleObject56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9.e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78.emf"/><Relationship Id="rId1" Type="http://schemas.openxmlformats.org/officeDocument/2006/relationships/oleObject" Target="../embeddings/oleObject6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2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81.emf"/><Relationship Id="rId1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image" Target="../media/image83.png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173.xml"/><Relationship Id="rId27" Type="http://schemas.openxmlformats.org/officeDocument/2006/relationships/image" Target="../media/image4.png"/><Relationship Id="rId26" Type="http://schemas.openxmlformats.org/officeDocument/2006/relationships/tags" Target="../tags/tag172.xml"/><Relationship Id="rId25" Type="http://schemas.openxmlformats.org/officeDocument/2006/relationships/tags" Target="../tags/tag171.xml"/><Relationship Id="rId24" Type="http://schemas.openxmlformats.org/officeDocument/2006/relationships/tags" Target="../tags/tag170.xml"/><Relationship Id="rId23" Type="http://schemas.openxmlformats.org/officeDocument/2006/relationships/tags" Target="../tags/tag169.xml"/><Relationship Id="rId22" Type="http://schemas.openxmlformats.org/officeDocument/2006/relationships/tags" Target="../tags/tag168.xml"/><Relationship Id="rId21" Type="http://schemas.openxmlformats.org/officeDocument/2006/relationships/tags" Target="../tags/tag167.xml"/><Relationship Id="rId20" Type="http://schemas.openxmlformats.org/officeDocument/2006/relationships/image" Target="../media/image87.png"/><Relationship Id="rId2" Type="http://schemas.openxmlformats.org/officeDocument/2006/relationships/tags" Target="../tags/tag153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image" Target="../media/image86.png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image" Target="../media/image85.png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image" Target="../media/image84.png"/><Relationship Id="rId10" Type="http://schemas.openxmlformats.org/officeDocument/2006/relationships/tags" Target="../tags/tag160.xml"/><Relationship Id="rId1" Type="http://schemas.openxmlformats.org/officeDocument/2006/relationships/tags" Target="../tags/tag15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8.emf"/><Relationship Id="rId1" Type="http://schemas.openxmlformats.org/officeDocument/2006/relationships/oleObject" Target="../embeddings/oleObject65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9.emf"/><Relationship Id="rId1" Type="http://schemas.openxmlformats.org/officeDocument/2006/relationships/oleObject" Target="../embeddings/oleObject66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0.emf"/><Relationship Id="rId1" Type="http://schemas.openxmlformats.org/officeDocument/2006/relationships/oleObject" Target="../embeddings/oleObject67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1.emf"/><Relationship Id="rId1" Type="http://schemas.openxmlformats.org/officeDocument/2006/relationships/oleObject" Target="../embeddings/oleObject6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ouroboro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341120"/>
            <a:ext cx="6292850" cy="4862830"/>
          </a:xfrm>
          <a:prstGeom prst="rect">
            <a:avLst/>
          </a:prstGeom>
        </p:spPr>
      </p:pic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  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CE902C-A573-4A08-89AD-327A1FE9C8D1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78" y="260985"/>
            <a:ext cx="7993062" cy="1223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4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欢迎大家来到物理学的神奇世界！</a:t>
            </a:r>
            <a:endParaRPr lang="zh-CN" altLang="en-US" sz="4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72185" y="1484630"/>
            <a:ext cx="7349490" cy="1153795"/>
          </a:xfrm>
        </p:spPr>
        <p:txBody>
          <a:bodyPr/>
          <a:lstStyle/>
          <a:p>
            <a:r>
              <a:rPr lang="zh-CN" altLang="en-US" sz="6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大学物理</a:t>
            </a:r>
            <a:endParaRPr lang="zh-CN" altLang="en-US" sz="6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48255" y="3429000"/>
            <a:ext cx="4123690" cy="1938020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操宣敏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办公地址：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蒙民伟理工楼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307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邮箱：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caoxm@jnu.edu.cn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附录一 矢量</a:t>
            </a:r>
            <a:endParaRPr lang="zh-CN" altLang="en-US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74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51C4A50-169D-43CA-8386-A5E6C8ED4A1A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24075" y="2060575"/>
            <a:ext cx="4385310" cy="2896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lnSpc>
                <a:spcPct val="190000"/>
              </a:lnSpc>
              <a:buAutoNum type="arabicPeriod"/>
            </a:pPr>
            <a:r>
              <a:rPr lang="zh-CN" altLang="en-US" sz="2400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标量和矢量</a:t>
            </a:r>
            <a:endParaRPr lang="zh-CN" altLang="en-US" sz="2400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90000"/>
              </a:lnSpc>
              <a:buAutoNum type="arabicPeriod"/>
            </a:pPr>
            <a:r>
              <a:rPr lang="zh-CN" altLang="en-US" sz="2400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矢量合成的几何法和解析法</a:t>
            </a:r>
            <a:endParaRPr lang="zh-CN" altLang="en-US" sz="2400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90000"/>
              </a:lnSpc>
              <a:buAutoNum type="arabicPeriod"/>
            </a:pPr>
            <a:r>
              <a:rPr lang="zh-CN" altLang="en-US" sz="2400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矢量的标积和矢积</a:t>
            </a:r>
            <a:endParaRPr lang="zh-CN" altLang="en-US" sz="2400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indent="-457200">
              <a:lnSpc>
                <a:spcPct val="190000"/>
              </a:lnSpc>
              <a:buAutoNum type="arabicPeriod"/>
            </a:pPr>
            <a:r>
              <a:rPr lang="zh-CN" altLang="en-US" sz="2400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矢量的导数与积分 </a:t>
            </a:r>
            <a:endParaRPr lang="zh-CN" altLang="en-US" sz="2400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标量和矢量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22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908D7B4-4988-4326-890B-5694C5B7769E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98" name="Text Box 2"/>
          <p:cNvSpPr txBox="1">
            <a:spLocks noChangeArrowheads="1"/>
          </p:cNvSpPr>
          <p:nvPr/>
        </p:nvSpPr>
        <p:spPr bwMode="auto">
          <a:xfrm>
            <a:off x="441325" y="1773238"/>
            <a:ext cx="204311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标量</a:t>
            </a:r>
            <a:endParaRPr kumimoji="1"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395288" y="2708275"/>
            <a:ext cx="684053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只有大小，没有方向的量。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396875" y="3557588"/>
            <a:ext cx="5903913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表示：</a:t>
            </a: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数字（可带正负号）。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395288" y="4422775"/>
            <a:ext cx="5545137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加法：</a:t>
            </a: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代数和。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EEBED5-1217-4250-8F55-27642D232ABB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395288" y="1628775"/>
            <a:ext cx="6121400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定义：既有大小，又有方向的量。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395288" y="2276475"/>
            <a:ext cx="20891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表示：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151" name="Object 5"/>
          <p:cNvGraphicFramePr>
            <a:graphicFrameLocks noChangeAspect="1"/>
          </p:cNvGraphicFramePr>
          <p:nvPr/>
        </p:nvGraphicFramePr>
        <p:xfrm>
          <a:off x="1258888" y="2276475"/>
          <a:ext cx="7215187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文档" r:id="rId1" imgW="1979295" imgH="383540" progId="Word.Document.8">
                  <p:embed/>
                </p:oleObj>
              </mc:Choice>
              <mc:Fallback>
                <p:oleObj name="文档" r:id="rId1" imgW="1979295" imgH="3835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76475"/>
                        <a:ext cx="7215187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6"/>
          <p:cNvGraphicFramePr>
            <a:graphicFrameLocks noChangeAspect="1"/>
          </p:cNvGraphicFramePr>
          <p:nvPr/>
        </p:nvGraphicFramePr>
        <p:xfrm>
          <a:off x="1258888" y="3727450"/>
          <a:ext cx="74168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文档" r:id="rId3" imgW="2027555" imgH="390525" progId="Word.Document.8">
                  <p:embed/>
                </p:oleObj>
              </mc:Choice>
              <mc:Fallback>
                <p:oleObj name="文档" r:id="rId3" imgW="2027555" imgH="39052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27450"/>
                        <a:ext cx="7416800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7" name="Text Box 7"/>
          <p:cNvSpPr txBox="1">
            <a:spLocks noChangeArrowheads="1"/>
          </p:cNvSpPr>
          <p:nvPr/>
        </p:nvSpPr>
        <p:spPr bwMode="auto">
          <a:xfrm>
            <a:off x="468313" y="5070475"/>
            <a:ext cx="6408737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加法：平行四边形法则或三角形法则。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698" name="Text Box 2"/>
          <p:cNvSpPr txBox="1">
            <a:spLocks noChangeArrowheads="1"/>
          </p:cNvSpPr>
          <p:nvPr/>
        </p:nvSpPr>
        <p:spPr bwMode="auto">
          <a:xfrm>
            <a:off x="441325" y="1052513"/>
            <a:ext cx="204311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457200" indent="-457200"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矢量</a:t>
            </a:r>
            <a:endParaRPr kumimoji="1"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矢量代数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E7910E-2333-4D1B-B582-63E196E06F65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50900" y="64473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以下</a:t>
            </a:r>
            <a:r>
              <a:rPr lang="zh-CN" altLang="en-US" sz="2600" b="1" dirty="0">
                <a:solidFill>
                  <a:srgbClr val="000000"/>
                </a:solidFill>
              </a:rPr>
              <a:t>物理量</a:t>
            </a:r>
            <a:r>
              <a:rPr lang="zh-CN" altLang="en-US" sz="2600" dirty="0">
                <a:solidFill>
                  <a:srgbClr val="000000"/>
                </a:solidFill>
              </a:rPr>
              <a:t>是</a:t>
            </a:r>
            <a:r>
              <a:rPr lang="zh-CN" altLang="en-US" sz="2600" b="1" dirty="0">
                <a:solidFill>
                  <a:srgbClr val="000000"/>
                </a:solidFill>
              </a:rPr>
              <a:t>矢量</a:t>
            </a:r>
            <a:r>
              <a:rPr lang="zh-CN" altLang="en-US" sz="2600" dirty="0">
                <a:solidFill>
                  <a:srgbClr val="000000"/>
                </a:solidFill>
              </a:rPr>
              <a:t>的是（    ）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A</a:t>
            </a:r>
            <a:endParaRPr lang="en-US" altLang="zh-CN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3544870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B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4274915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C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501364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D</a:t>
            </a:r>
            <a:endParaRPr lang="en-US" altLang="zh-CN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4890889" y="570717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3" name="矩形 2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148064" y="279783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E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7" name="矩形 2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148064" y="3576852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F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29" name="矩形 2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148064" y="437535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G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1691680" y="2687620"/>
            <a:ext cx="4000500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速度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1691680" y="3340763"/>
            <a:ext cx="4000500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速率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1691680" y="4099838"/>
            <a:ext cx="4000500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位移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1691680" y="4792413"/>
            <a:ext cx="4000500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路程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5796136" y="2578118"/>
            <a:ext cx="2088232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电场强度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5" name="矩形 34"/>
          <p:cNvSpPr/>
          <p:nvPr>
            <p:custDataLst>
              <p:tags r:id="rId15"/>
            </p:custDataLst>
          </p:nvPr>
        </p:nvSpPr>
        <p:spPr>
          <a:xfrm>
            <a:off x="5797691" y="3389187"/>
            <a:ext cx="2088232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温度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5796136" y="4203909"/>
            <a:ext cx="2088232" cy="8572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</a:rPr>
              <a:t>质量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grpSp>
        <p:nvGrpSpPr>
          <p:cNvPr id="20" name="组合 19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ColorBlock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kern="1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kern="1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矢量合成的几何法和解析法</a:t>
            </a:r>
            <a:endParaRPr lang="zh-CN" altLang="en-US" kern="1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194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CB3561-0465-42B3-BE2B-9BE00340290E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198" name="Group 4"/>
          <p:cNvGrpSpPr/>
          <p:nvPr/>
        </p:nvGrpSpPr>
        <p:grpSpPr bwMode="auto">
          <a:xfrm>
            <a:off x="755650" y="1987233"/>
            <a:ext cx="7775575" cy="2546350"/>
            <a:chOff x="1008" y="2865"/>
            <a:chExt cx="2831" cy="927"/>
          </a:xfrm>
        </p:grpSpPr>
        <p:sp>
          <p:nvSpPr>
            <p:cNvPr id="160773" name="Rectangle 5"/>
            <p:cNvSpPr>
              <a:spLocks noChangeArrowheads="1"/>
            </p:cNvSpPr>
            <p:nvPr/>
          </p:nvSpPr>
          <p:spPr bwMode="auto">
            <a:xfrm>
              <a:off x="2256" y="3696"/>
              <a:ext cx="288" cy="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2700" tIns="12700" rIns="12700" bIns="12700"/>
            <a:lstStyle/>
            <a:p>
              <a:pPr algn="just" eaLnBrk="1" hangingPunct="1">
                <a:defRPr/>
              </a:pPr>
              <a:endParaRPr kumimoji="1" lang="zh-CN" alt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20" name="Line 6"/>
            <p:cNvSpPr>
              <a:spLocks noChangeShapeType="1"/>
            </p:cNvSpPr>
            <p:nvPr/>
          </p:nvSpPr>
          <p:spPr bwMode="auto">
            <a:xfrm flipV="1">
              <a:off x="1008" y="3360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21" name="Object 7"/>
            <p:cNvGraphicFramePr>
              <a:graphicFrameLocks noChangeAspect="1"/>
            </p:cNvGraphicFramePr>
            <p:nvPr/>
          </p:nvGraphicFramePr>
          <p:xfrm>
            <a:off x="1056" y="30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1" imgW="95885" imgH="123190" progId="Equation.3">
                    <p:embed/>
                  </p:oleObj>
                </mc:Choice>
                <mc:Fallback>
                  <p:oleObj name="公式" r:id="rId1" imgW="95885" imgH="12319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0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2" name="Line 8"/>
            <p:cNvSpPr>
              <a:spLocks noChangeShapeType="1"/>
            </p:cNvSpPr>
            <p:nvPr/>
          </p:nvSpPr>
          <p:spPr bwMode="auto">
            <a:xfrm flipV="1">
              <a:off x="1008" y="2976"/>
              <a:ext cx="288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23" name="Line 9"/>
            <p:cNvSpPr>
              <a:spLocks noChangeShapeType="1"/>
            </p:cNvSpPr>
            <p:nvPr/>
          </p:nvSpPr>
          <p:spPr bwMode="auto">
            <a:xfrm flipV="1">
              <a:off x="1296" y="297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24" name="Line 10"/>
            <p:cNvSpPr>
              <a:spLocks noChangeShapeType="1"/>
            </p:cNvSpPr>
            <p:nvPr/>
          </p:nvSpPr>
          <p:spPr bwMode="auto">
            <a:xfrm flipH="1">
              <a:off x="1632" y="2976"/>
              <a:ext cx="288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25" name="Line 11"/>
            <p:cNvSpPr>
              <a:spLocks noChangeShapeType="1"/>
            </p:cNvSpPr>
            <p:nvPr/>
          </p:nvSpPr>
          <p:spPr bwMode="auto">
            <a:xfrm flipV="1">
              <a:off x="1008" y="2976"/>
              <a:ext cx="912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26" name="Object 12"/>
            <p:cNvGraphicFramePr>
              <a:graphicFrameLocks noChangeAspect="1"/>
            </p:cNvGraphicFramePr>
            <p:nvPr/>
          </p:nvGraphicFramePr>
          <p:xfrm>
            <a:off x="1152" y="3504"/>
            <a:ext cx="37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3" imgW="424815" imgH="130175" progId="Equation.3">
                    <p:embed/>
                  </p:oleObj>
                </mc:Choice>
                <mc:Fallback>
                  <p:oleObj name="公式" r:id="rId3" imgW="424815" imgH="13017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504"/>
                          <a:ext cx="376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7" name="Line 13"/>
            <p:cNvSpPr>
              <a:spLocks noChangeShapeType="1"/>
            </p:cNvSpPr>
            <p:nvPr/>
          </p:nvSpPr>
          <p:spPr bwMode="auto">
            <a:xfrm flipV="1">
              <a:off x="2256" y="297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28" name="Object 14"/>
            <p:cNvGraphicFramePr>
              <a:graphicFrameLocks noChangeAspect="1"/>
            </p:cNvGraphicFramePr>
            <p:nvPr/>
          </p:nvGraphicFramePr>
          <p:xfrm>
            <a:off x="2064" y="3024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5" imgW="95885" imgH="123190" progId="Equation.3">
                    <p:embed/>
                  </p:oleObj>
                </mc:Choice>
                <mc:Fallback>
                  <p:oleObj name="公式" r:id="rId5" imgW="95885" imgH="12319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024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9" name="Line 15"/>
            <p:cNvSpPr>
              <a:spLocks noChangeShapeType="1"/>
            </p:cNvSpPr>
            <p:nvPr/>
          </p:nvSpPr>
          <p:spPr bwMode="auto">
            <a:xfrm flipV="1">
              <a:off x="1968" y="2976"/>
              <a:ext cx="288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30" name="Line 16"/>
            <p:cNvSpPr>
              <a:spLocks noChangeShapeType="1"/>
            </p:cNvSpPr>
            <p:nvPr/>
          </p:nvSpPr>
          <p:spPr bwMode="auto">
            <a:xfrm flipV="1">
              <a:off x="1968" y="2976"/>
              <a:ext cx="912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31" name="Object 17"/>
            <p:cNvGraphicFramePr>
              <a:graphicFrameLocks noChangeAspect="1"/>
            </p:cNvGraphicFramePr>
            <p:nvPr/>
          </p:nvGraphicFramePr>
          <p:xfrm>
            <a:off x="2216" y="3504"/>
            <a:ext cx="37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7" imgW="424815" imgH="130175" progId="Equation.3">
                    <p:embed/>
                  </p:oleObj>
                </mc:Choice>
                <mc:Fallback>
                  <p:oleObj name="公式" r:id="rId7" imgW="424815" imgH="13017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6" y="3504"/>
                          <a:ext cx="376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2" name="Object 18"/>
            <p:cNvGraphicFramePr>
              <a:graphicFrameLocks noChangeAspect="1"/>
            </p:cNvGraphicFramePr>
            <p:nvPr/>
          </p:nvGraphicFramePr>
          <p:xfrm>
            <a:off x="1392" y="3072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公式" r:id="rId9" imgW="102870" imgH="130175" progId="Equation.3">
                    <p:embed/>
                  </p:oleObj>
                </mc:Choice>
                <mc:Fallback>
                  <p:oleObj name="公式" r:id="rId9" imgW="102870" imgH="13017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072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3" name="Object 19"/>
            <p:cNvGraphicFramePr>
              <a:graphicFrameLocks noChangeAspect="1"/>
            </p:cNvGraphicFramePr>
            <p:nvPr/>
          </p:nvGraphicFramePr>
          <p:xfrm>
            <a:off x="1296" y="33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公式" r:id="rId11" imgW="95885" imgH="123190" progId="Equation.3">
                    <p:embed/>
                  </p:oleObj>
                </mc:Choice>
                <mc:Fallback>
                  <p:oleObj name="公式" r:id="rId11" imgW="95885" imgH="12319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3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4" name="Object 20"/>
            <p:cNvGraphicFramePr>
              <a:graphicFrameLocks noChangeAspect="1"/>
            </p:cNvGraphicFramePr>
            <p:nvPr/>
          </p:nvGraphicFramePr>
          <p:xfrm>
            <a:off x="2448" y="2865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公式" r:id="rId13" imgW="95885" imgH="123190" progId="Equation.3">
                    <p:embed/>
                  </p:oleObj>
                </mc:Choice>
                <mc:Fallback>
                  <p:oleObj name="公式" r:id="rId13" imgW="95885" imgH="12319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865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5" name="Object 21"/>
            <p:cNvGraphicFramePr>
              <a:graphicFrameLocks noChangeAspect="1"/>
            </p:cNvGraphicFramePr>
            <p:nvPr/>
          </p:nvGraphicFramePr>
          <p:xfrm>
            <a:off x="2400" y="3168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15" imgW="102870" imgH="130175" progId="Equation.3">
                    <p:embed/>
                  </p:oleObj>
                </mc:Choice>
                <mc:Fallback>
                  <p:oleObj name="公式" r:id="rId15" imgW="102870" imgH="13017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168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6" name="Object 22"/>
            <p:cNvGraphicFramePr>
              <a:graphicFrameLocks noChangeAspect="1"/>
            </p:cNvGraphicFramePr>
            <p:nvPr/>
          </p:nvGraphicFramePr>
          <p:xfrm>
            <a:off x="2976" y="3039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公式" r:id="rId17" imgW="95885" imgH="123190" progId="Equation.3">
                    <p:embed/>
                  </p:oleObj>
                </mc:Choice>
                <mc:Fallback>
                  <p:oleObj name="公式" r:id="rId17" imgW="95885" imgH="12319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039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7" name="Line 23"/>
            <p:cNvSpPr>
              <a:spLocks noChangeShapeType="1"/>
            </p:cNvSpPr>
            <p:nvPr/>
          </p:nvSpPr>
          <p:spPr bwMode="auto">
            <a:xfrm flipV="1">
              <a:off x="2976" y="2976"/>
              <a:ext cx="19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38" name="Line 24"/>
            <p:cNvSpPr>
              <a:spLocks noChangeShapeType="1"/>
            </p:cNvSpPr>
            <p:nvPr/>
          </p:nvSpPr>
          <p:spPr bwMode="auto">
            <a:xfrm>
              <a:off x="3456" y="2976"/>
              <a:ext cx="24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39" name="Object 25"/>
            <p:cNvGraphicFramePr>
              <a:graphicFrameLocks noChangeAspect="1"/>
            </p:cNvGraphicFramePr>
            <p:nvPr/>
          </p:nvGraphicFramePr>
          <p:xfrm>
            <a:off x="3264" y="2868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公式" r:id="rId19" imgW="95885" imgH="123190" progId="Equation.3">
                    <p:embed/>
                  </p:oleObj>
                </mc:Choice>
                <mc:Fallback>
                  <p:oleObj name="公式" r:id="rId19" imgW="95885" imgH="12319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868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0" name="Object 26"/>
            <p:cNvGraphicFramePr>
              <a:graphicFrameLocks noChangeAspect="1"/>
            </p:cNvGraphicFramePr>
            <p:nvPr/>
          </p:nvGraphicFramePr>
          <p:xfrm>
            <a:off x="3552" y="2928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公式" r:id="rId21" imgW="102870" imgH="130175" progId="Equation.3">
                    <p:embed/>
                  </p:oleObj>
                </mc:Choice>
                <mc:Fallback>
                  <p:oleObj name="公式" r:id="rId21" imgW="102870" imgH="13017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928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1" name="Line 27"/>
            <p:cNvSpPr>
              <a:spLocks noChangeShapeType="1"/>
            </p:cNvSpPr>
            <p:nvPr/>
          </p:nvSpPr>
          <p:spPr bwMode="auto">
            <a:xfrm>
              <a:off x="3168" y="2976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42" name="Line 28"/>
            <p:cNvSpPr>
              <a:spLocks noChangeShapeType="1"/>
            </p:cNvSpPr>
            <p:nvPr/>
          </p:nvSpPr>
          <p:spPr bwMode="auto">
            <a:xfrm>
              <a:off x="3696" y="3168"/>
              <a:ext cx="4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43" name="Line 29"/>
            <p:cNvSpPr>
              <a:spLocks noChangeShapeType="1"/>
            </p:cNvSpPr>
            <p:nvPr/>
          </p:nvSpPr>
          <p:spPr bwMode="auto">
            <a:xfrm>
              <a:off x="2976" y="3264"/>
              <a:ext cx="768" cy="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44" name="Object 30"/>
            <p:cNvGraphicFramePr>
              <a:graphicFrameLocks noChangeAspect="1"/>
            </p:cNvGraphicFramePr>
            <p:nvPr/>
          </p:nvGraphicFramePr>
          <p:xfrm>
            <a:off x="3744" y="3168"/>
            <a:ext cx="95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" name="公式" r:id="rId23" imgW="102870" imgH="123190" progId="Equation.3">
                    <p:embed/>
                  </p:oleObj>
                </mc:Choice>
                <mc:Fallback>
                  <p:oleObj name="公式" r:id="rId23" imgW="102870" imgH="12319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3168"/>
                          <a:ext cx="95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5" name="Object 31"/>
            <p:cNvGraphicFramePr>
              <a:graphicFrameLocks noChangeAspect="1"/>
            </p:cNvGraphicFramePr>
            <p:nvPr/>
          </p:nvGraphicFramePr>
          <p:xfrm>
            <a:off x="3264" y="3312"/>
            <a:ext cx="95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公式" r:id="rId25" imgW="102870" imgH="123190" progId="Equation.3">
                    <p:embed/>
                  </p:oleObj>
                </mc:Choice>
                <mc:Fallback>
                  <p:oleObj name="公式" r:id="rId25" imgW="102870" imgH="12319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3312"/>
                          <a:ext cx="95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6" name="Object 32"/>
            <p:cNvGraphicFramePr>
              <a:graphicFrameLocks noChangeAspect="1"/>
            </p:cNvGraphicFramePr>
            <p:nvPr/>
          </p:nvGraphicFramePr>
          <p:xfrm>
            <a:off x="2976" y="3504"/>
            <a:ext cx="67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公式" r:id="rId27" imgW="760095" imgH="130175" progId="Equation.3">
                    <p:embed/>
                  </p:oleObj>
                </mc:Choice>
                <mc:Fallback>
                  <p:oleObj name="公式" r:id="rId27" imgW="760095" imgH="13017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3504"/>
                          <a:ext cx="67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33"/>
          <p:cNvGrpSpPr/>
          <p:nvPr/>
        </p:nvGrpSpPr>
        <p:grpSpPr bwMode="auto">
          <a:xfrm>
            <a:off x="1979613" y="4940300"/>
            <a:ext cx="5897562" cy="1552136"/>
            <a:chOff x="480" y="2976"/>
            <a:chExt cx="2064" cy="543"/>
          </a:xfrm>
        </p:grpSpPr>
        <p:sp>
          <p:nvSpPr>
            <p:cNvPr id="8202" name="Line 35"/>
            <p:cNvSpPr>
              <a:spLocks noChangeShapeType="1"/>
            </p:cNvSpPr>
            <p:nvPr/>
          </p:nvSpPr>
          <p:spPr bwMode="auto">
            <a:xfrm flipV="1">
              <a:off x="1008" y="3360"/>
              <a:ext cx="528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03" name="Object 36"/>
            <p:cNvGraphicFramePr>
              <a:graphicFrameLocks noChangeAspect="1"/>
            </p:cNvGraphicFramePr>
            <p:nvPr/>
          </p:nvGraphicFramePr>
          <p:xfrm>
            <a:off x="1200" y="3120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" name="公式" r:id="rId29" imgW="95885" imgH="123190" progId="Equation.3">
                    <p:embed/>
                  </p:oleObj>
                </mc:Choice>
                <mc:Fallback>
                  <p:oleObj name="公式" r:id="rId29" imgW="95885" imgH="12319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120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4" name="Line 37"/>
            <p:cNvSpPr>
              <a:spLocks noChangeShapeType="1"/>
            </p:cNvSpPr>
            <p:nvPr/>
          </p:nvSpPr>
          <p:spPr bwMode="auto">
            <a:xfrm flipV="1">
              <a:off x="1008" y="2976"/>
              <a:ext cx="288" cy="384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05" name="Line 38"/>
            <p:cNvSpPr>
              <a:spLocks noChangeShapeType="1"/>
            </p:cNvSpPr>
            <p:nvPr/>
          </p:nvSpPr>
          <p:spPr bwMode="auto">
            <a:xfrm flipH="1" flipV="1">
              <a:off x="480" y="3360"/>
              <a:ext cx="528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prstDash val="dash"/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06" name="Object 39"/>
            <p:cNvGraphicFramePr>
              <a:graphicFrameLocks noChangeAspect="1"/>
            </p:cNvGraphicFramePr>
            <p:nvPr/>
          </p:nvGraphicFramePr>
          <p:xfrm>
            <a:off x="912" y="3072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公式" r:id="rId31" imgW="102870" imgH="130175" progId="Equation.3">
                    <p:embed/>
                  </p:oleObj>
                </mc:Choice>
                <mc:Fallback>
                  <p:oleObj name="公式" r:id="rId31" imgW="102870" imgH="13017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072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7" name="Object 40"/>
            <p:cNvGraphicFramePr>
              <a:graphicFrameLocks noChangeAspect="1"/>
            </p:cNvGraphicFramePr>
            <p:nvPr/>
          </p:nvGraphicFramePr>
          <p:xfrm>
            <a:off x="1296" y="33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" name="公式" r:id="rId33" imgW="95885" imgH="123190" progId="Equation.3">
                    <p:embed/>
                  </p:oleObj>
                </mc:Choice>
                <mc:Fallback>
                  <p:oleObj name="公式" r:id="rId33" imgW="95885" imgH="12319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3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8" name="Line 41"/>
            <p:cNvSpPr>
              <a:spLocks noChangeShapeType="1"/>
            </p:cNvSpPr>
            <p:nvPr/>
          </p:nvSpPr>
          <p:spPr bwMode="auto">
            <a:xfrm flipV="1">
              <a:off x="480" y="2976"/>
              <a:ext cx="288" cy="384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09" name="Line 42"/>
            <p:cNvSpPr>
              <a:spLocks noChangeShapeType="1"/>
            </p:cNvSpPr>
            <p:nvPr/>
          </p:nvSpPr>
          <p:spPr bwMode="auto">
            <a:xfrm>
              <a:off x="768" y="2976"/>
              <a:ext cx="528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10" name="Line 43"/>
            <p:cNvSpPr>
              <a:spLocks noChangeShapeType="1"/>
            </p:cNvSpPr>
            <p:nvPr/>
          </p:nvSpPr>
          <p:spPr bwMode="auto">
            <a:xfrm flipH="1" flipV="1">
              <a:off x="768" y="2976"/>
              <a:ext cx="24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11" name="Object 44"/>
            <p:cNvGraphicFramePr>
              <a:graphicFrameLocks noChangeAspect="1"/>
            </p:cNvGraphicFramePr>
            <p:nvPr/>
          </p:nvGraphicFramePr>
          <p:xfrm>
            <a:off x="689" y="3408"/>
            <a:ext cx="151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公式" r:id="rId35" imgW="164465" imgH="123190" progId="Equation.3">
                    <p:embed/>
                  </p:oleObj>
                </mc:Choice>
                <mc:Fallback>
                  <p:oleObj name="公式" r:id="rId35" imgW="164465" imgH="12319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" y="3408"/>
                          <a:ext cx="151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Line 45"/>
            <p:cNvSpPr>
              <a:spLocks noChangeShapeType="1"/>
            </p:cNvSpPr>
            <p:nvPr/>
          </p:nvSpPr>
          <p:spPr bwMode="auto">
            <a:xfrm>
              <a:off x="1584" y="3168"/>
              <a:ext cx="336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8213" name="Line 46"/>
            <p:cNvSpPr>
              <a:spLocks noChangeShapeType="1"/>
            </p:cNvSpPr>
            <p:nvPr/>
          </p:nvSpPr>
          <p:spPr bwMode="auto">
            <a:xfrm flipV="1">
              <a:off x="2016" y="3360"/>
              <a:ext cx="528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14" name="Object 47"/>
            <p:cNvGraphicFramePr>
              <a:graphicFrameLocks noChangeAspect="1"/>
            </p:cNvGraphicFramePr>
            <p:nvPr/>
          </p:nvGraphicFramePr>
          <p:xfrm>
            <a:off x="2024" y="3120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公式" r:id="rId37" imgW="95885" imgH="123190" progId="Equation.3">
                    <p:embed/>
                  </p:oleObj>
                </mc:Choice>
                <mc:Fallback>
                  <p:oleObj name="公式" r:id="rId37" imgW="95885" imgH="12319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4" y="3120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5" name="Line 48"/>
            <p:cNvSpPr>
              <a:spLocks noChangeShapeType="1"/>
            </p:cNvSpPr>
            <p:nvPr/>
          </p:nvSpPr>
          <p:spPr bwMode="auto">
            <a:xfrm flipV="1">
              <a:off x="2016" y="2976"/>
              <a:ext cx="288" cy="384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8216" name="Object 49"/>
            <p:cNvGraphicFramePr>
              <a:graphicFrameLocks noChangeAspect="1"/>
            </p:cNvGraphicFramePr>
            <p:nvPr/>
          </p:nvGraphicFramePr>
          <p:xfrm>
            <a:off x="2449" y="3096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公式" r:id="rId39" imgW="102870" imgH="130175" progId="Equation.3">
                    <p:embed/>
                  </p:oleObj>
                </mc:Choice>
                <mc:Fallback>
                  <p:oleObj name="公式" r:id="rId39" imgW="102870" imgH="13017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3096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50"/>
            <p:cNvGraphicFramePr>
              <a:graphicFrameLocks noChangeAspect="1"/>
            </p:cNvGraphicFramePr>
            <p:nvPr/>
          </p:nvGraphicFramePr>
          <p:xfrm>
            <a:off x="2208" y="33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公式" r:id="rId41" imgW="95885" imgH="123190" progId="Equation.3">
                    <p:embed/>
                  </p:oleObj>
                </mc:Choice>
                <mc:Fallback>
                  <p:oleObj name="公式" r:id="rId41" imgW="95885" imgH="12319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3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8" name="Line 51"/>
            <p:cNvSpPr>
              <a:spLocks noChangeShapeType="1"/>
            </p:cNvSpPr>
            <p:nvPr/>
          </p:nvSpPr>
          <p:spPr bwMode="auto">
            <a:xfrm flipH="1" flipV="1">
              <a:off x="2304" y="2976"/>
              <a:ext cx="24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8200" name="Text Box 52"/>
          <p:cNvSpPr txBox="1">
            <a:spLocks noChangeArrowheads="1"/>
          </p:cNvSpPr>
          <p:nvPr/>
        </p:nvSpPr>
        <p:spPr bwMode="auto">
          <a:xfrm>
            <a:off x="612140" y="1557020"/>
            <a:ext cx="302418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矢量加法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52"/>
          <p:cNvSpPr txBox="1">
            <a:spLocks noChangeArrowheads="1"/>
          </p:cNvSpPr>
          <p:nvPr/>
        </p:nvSpPr>
        <p:spPr bwMode="auto">
          <a:xfrm>
            <a:off x="631825" y="4220845"/>
            <a:ext cx="302418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矢量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减法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2469451" y="4328414"/>
                <a:ext cx="2242820" cy="3829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acc>
                        <m:accPr>
                          <m:chr m:val="⃑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+(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acc>
                        <m:accPr>
                          <m:chr m:val="⃑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451" y="4328414"/>
                <a:ext cx="2242820" cy="382905"/>
              </a:xfrm>
              <a:prstGeom prst="rect">
                <a:avLst/>
              </a:prstGeom>
              <a:blipFill rotWithShape="1">
                <a:blip r:embed="rId43"/>
                <a:stretch>
                  <a:fillRect l="-25" t="-66" r="2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9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0CDEFD-781A-4E14-A074-19DB7EBA258F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152400" y="617538"/>
            <a:ext cx="37719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矢量的分解 </a:t>
            </a:r>
            <a:endParaRPr kumimoji="1"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756285" y="1412558"/>
            <a:ext cx="770255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把一个矢量看成两个或两个以上的矢量相加。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797" name="Text Box 5"/>
          <p:cNvSpPr txBox="1">
            <a:spLocks noChangeArrowheads="1"/>
          </p:cNvSpPr>
          <p:nvPr/>
        </p:nvSpPr>
        <p:spPr bwMode="auto">
          <a:xfrm>
            <a:off x="323850" y="2622550"/>
            <a:ext cx="6553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一个矢量有无穷多种分解法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692275" y="3659188"/>
            <a:ext cx="6119813" cy="2865437"/>
            <a:chOff x="1008" y="2976"/>
            <a:chExt cx="1632" cy="764"/>
          </a:xfrm>
        </p:grpSpPr>
        <p:sp>
          <p:nvSpPr>
            <p:cNvPr id="161799" name="Rectangle 7"/>
            <p:cNvSpPr>
              <a:spLocks noChangeArrowheads="1"/>
            </p:cNvSpPr>
            <p:nvPr/>
          </p:nvSpPr>
          <p:spPr bwMode="auto">
            <a:xfrm>
              <a:off x="1728" y="3648"/>
              <a:ext cx="288" cy="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2700" tIns="12700" rIns="12700" bIns="12700"/>
            <a:lstStyle/>
            <a:p>
              <a:pPr algn="just" eaLnBrk="1" hangingPunct="1">
                <a:defRPr/>
              </a:pPr>
              <a:r>
                <a:rPr kumimoji="1"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矢量</a:t>
              </a:r>
              <a:r>
                <a:rPr kumimoji="1"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endParaRPr kumimoji="1"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226" name="Line 8"/>
            <p:cNvSpPr>
              <a:spLocks noChangeShapeType="1"/>
            </p:cNvSpPr>
            <p:nvPr/>
          </p:nvSpPr>
          <p:spPr bwMode="auto">
            <a:xfrm flipV="1">
              <a:off x="1008" y="3360"/>
              <a:ext cx="528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9227" name="Object 9"/>
            <p:cNvGraphicFramePr>
              <a:graphicFrameLocks noChangeAspect="1"/>
            </p:cNvGraphicFramePr>
            <p:nvPr/>
          </p:nvGraphicFramePr>
          <p:xfrm>
            <a:off x="1296" y="30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1" imgW="95885" imgH="123190" progId="Equation.3">
                    <p:embed/>
                  </p:oleObj>
                </mc:Choice>
                <mc:Fallback>
                  <p:oleObj name="公式" r:id="rId1" imgW="95885" imgH="12319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0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Line 10"/>
            <p:cNvSpPr>
              <a:spLocks noChangeShapeType="1"/>
            </p:cNvSpPr>
            <p:nvPr/>
          </p:nvSpPr>
          <p:spPr bwMode="auto">
            <a:xfrm flipV="1">
              <a:off x="1008" y="2976"/>
              <a:ext cx="288" cy="384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9229" name="Object 11"/>
            <p:cNvGraphicFramePr>
              <a:graphicFrameLocks noChangeAspect="1"/>
            </p:cNvGraphicFramePr>
            <p:nvPr/>
          </p:nvGraphicFramePr>
          <p:xfrm>
            <a:off x="1056" y="3072"/>
            <a:ext cx="95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3" imgW="102870" imgH="130175" progId="Equation.3">
                    <p:embed/>
                  </p:oleObj>
                </mc:Choice>
                <mc:Fallback>
                  <p:oleObj name="公式" r:id="rId3" imgW="102870" imgH="13017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072"/>
                          <a:ext cx="95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12"/>
            <p:cNvGraphicFramePr>
              <a:graphicFrameLocks noChangeAspect="1"/>
            </p:cNvGraphicFramePr>
            <p:nvPr/>
          </p:nvGraphicFramePr>
          <p:xfrm>
            <a:off x="1296" y="33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5" imgW="95885" imgH="123190" progId="Equation.3">
                    <p:embed/>
                  </p:oleObj>
                </mc:Choice>
                <mc:Fallback>
                  <p:oleObj name="公式" r:id="rId5" imgW="95885" imgH="12319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33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Line 13"/>
            <p:cNvSpPr>
              <a:spLocks noChangeShapeType="1"/>
            </p:cNvSpPr>
            <p:nvPr/>
          </p:nvSpPr>
          <p:spPr bwMode="auto">
            <a:xfrm flipV="1">
              <a:off x="1536" y="2976"/>
              <a:ext cx="288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232" name="Line 14"/>
            <p:cNvSpPr>
              <a:spLocks noChangeShapeType="1"/>
            </p:cNvSpPr>
            <p:nvPr/>
          </p:nvSpPr>
          <p:spPr bwMode="auto">
            <a:xfrm>
              <a:off x="1296" y="297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233" name="Line 15"/>
            <p:cNvSpPr>
              <a:spLocks noChangeShapeType="1"/>
            </p:cNvSpPr>
            <p:nvPr/>
          </p:nvSpPr>
          <p:spPr bwMode="auto">
            <a:xfrm flipV="1">
              <a:off x="1008" y="2976"/>
              <a:ext cx="816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234" name="Line 16"/>
            <p:cNvSpPr>
              <a:spLocks noChangeShapeType="1"/>
            </p:cNvSpPr>
            <p:nvPr/>
          </p:nvSpPr>
          <p:spPr bwMode="auto">
            <a:xfrm flipV="1">
              <a:off x="2112" y="3360"/>
              <a:ext cx="528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9235" name="Object 17"/>
            <p:cNvGraphicFramePr>
              <a:graphicFrameLocks noChangeAspect="1"/>
            </p:cNvGraphicFramePr>
            <p:nvPr/>
          </p:nvGraphicFramePr>
          <p:xfrm>
            <a:off x="2256" y="3072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7" imgW="95885" imgH="123190" progId="Equation.3">
                    <p:embed/>
                  </p:oleObj>
                </mc:Choice>
                <mc:Fallback>
                  <p:oleObj name="公式" r:id="rId7" imgW="95885" imgH="12319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3072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6" name="Line 18"/>
            <p:cNvSpPr>
              <a:spLocks noChangeShapeType="1"/>
            </p:cNvSpPr>
            <p:nvPr/>
          </p:nvSpPr>
          <p:spPr bwMode="auto">
            <a:xfrm flipV="1">
              <a:off x="2112" y="2976"/>
              <a:ext cx="0" cy="384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9237" name="Object 19"/>
            <p:cNvGraphicFramePr>
              <a:graphicFrameLocks noChangeAspect="1"/>
            </p:cNvGraphicFramePr>
            <p:nvPr/>
          </p:nvGraphicFramePr>
          <p:xfrm>
            <a:off x="2304" y="3360"/>
            <a:ext cx="11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公式" r:id="rId9" imgW="123190" imgH="150495" progId="Equation.3">
                    <p:embed/>
                  </p:oleObj>
                </mc:Choice>
                <mc:Fallback>
                  <p:oleObj name="公式" r:id="rId9" imgW="123190" imgH="15049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360"/>
                          <a:ext cx="11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8" name="Line 20"/>
            <p:cNvSpPr>
              <a:spLocks noChangeShapeType="1"/>
            </p:cNvSpPr>
            <p:nvPr/>
          </p:nvSpPr>
          <p:spPr bwMode="auto">
            <a:xfrm flipV="1">
              <a:off x="2640" y="2976"/>
              <a:ext cx="0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>
              <a:off x="2112" y="297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9240" name="Line 22"/>
            <p:cNvSpPr>
              <a:spLocks noChangeShapeType="1"/>
            </p:cNvSpPr>
            <p:nvPr/>
          </p:nvSpPr>
          <p:spPr bwMode="auto">
            <a:xfrm flipV="1">
              <a:off x="2112" y="2976"/>
              <a:ext cx="528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9241" name="Object 23"/>
            <p:cNvGraphicFramePr>
              <a:graphicFrameLocks noChangeAspect="1"/>
            </p:cNvGraphicFramePr>
            <p:nvPr/>
          </p:nvGraphicFramePr>
          <p:xfrm>
            <a:off x="1968" y="3072"/>
            <a:ext cx="11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公式" r:id="rId11" imgW="123190" imgH="164465" progId="Equation.3">
                    <p:embed/>
                  </p:oleObj>
                </mc:Choice>
                <mc:Fallback>
                  <p:oleObj name="公式" r:id="rId11" imgW="123190" imgH="16446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3072"/>
                          <a:ext cx="11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2" name="Object 24"/>
            <p:cNvGraphicFramePr>
              <a:graphicFrameLocks noChangeAspect="1"/>
            </p:cNvGraphicFramePr>
            <p:nvPr/>
          </p:nvGraphicFramePr>
          <p:xfrm>
            <a:off x="1104" y="3504"/>
            <a:ext cx="41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公式" r:id="rId13" imgW="465455" imgH="130175" progId="Equation.3">
                    <p:embed/>
                  </p:oleObj>
                </mc:Choice>
                <mc:Fallback>
                  <p:oleObj name="公式" r:id="rId13" imgW="465455" imgH="13017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504"/>
                          <a:ext cx="416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3" name="Object 25"/>
            <p:cNvGraphicFramePr>
              <a:graphicFrameLocks noChangeAspect="1"/>
            </p:cNvGraphicFramePr>
            <p:nvPr/>
          </p:nvGraphicFramePr>
          <p:xfrm>
            <a:off x="2112" y="3504"/>
            <a:ext cx="47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15" imgW="534035" imgH="164465" progId="Equation.3">
                    <p:embed/>
                  </p:oleObj>
                </mc:Choice>
                <mc:Fallback>
                  <p:oleObj name="公式" r:id="rId15" imgW="534035" imgH="16446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3504"/>
                          <a:ext cx="472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1DFE12-DF49-4E73-A09A-B76B6B797FFF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250825" y="822325"/>
            <a:ext cx="73914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矢量的正交分解 </a:t>
            </a:r>
            <a:endParaRPr kumimoji="1"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245" name="Object 3"/>
          <p:cNvGraphicFramePr>
            <a:graphicFrameLocks noChangeAspect="1"/>
          </p:cNvGraphicFramePr>
          <p:nvPr/>
        </p:nvGraphicFramePr>
        <p:xfrm>
          <a:off x="846138" y="1484313"/>
          <a:ext cx="31496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904240" imgH="177800" progId="Equation.3">
                  <p:embed/>
                </p:oleObj>
              </mc:Choice>
              <mc:Fallback>
                <p:oleObj name="公式" r:id="rId1" imgW="904240" imgH="17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1484313"/>
                        <a:ext cx="31496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0" y="2897188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2821" name="Object 5"/>
          <p:cNvGraphicFramePr>
            <a:graphicFrameLocks noChangeAspect="1"/>
          </p:cNvGraphicFramePr>
          <p:nvPr/>
        </p:nvGraphicFramePr>
        <p:xfrm>
          <a:off x="755650" y="2395538"/>
          <a:ext cx="3467100" cy="326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226185" imgH="1164590" progId="Equation.3">
                  <p:embed/>
                </p:oleObj>
              </mc:Choice>
              <mc:Fallback>
                <p:oleObj name="公式" r:id="rId3" imgW="1226185" imgH="11645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395538"/>
                        <a:ext cx="3467100" cy="326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8" name="Group 6"/>
          <p:cNvGrpSpPr/>
          <p:nvPr/>
        </p:nvGrpSpPr>
        <p:grpSpPr bwMode="auto">
          <a:xfrm>
            <a:off x="4067175" y="836613"/>
            <a:ext cx="4943475" cy="5199062"/>
            <a:chOff x="3080" y="944"/>
            <a:chExt cx="1518" cy="1597"/>
          </a:xfrm>
        </p:grpSpPr>
        <p:sp>
          <p:nvSpPr>
            <p:cNvPr id="162823" name="Rectangle 7"/>
            <p:cNvSpPr>
              <a:spLocks noChangeArrowheads="1"/>
            </p:cNvSpPr>
            <p:nvPr/>
          </p:nvSpPr>
          <p:spPr bwMode="auto">
            <a:xfrm>
              <a:off x="3608" y="2449"/>
              <a:ext cx="288" cy="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2700" tIns="12700" rIns="12700" bIns="12700"/>
            <a:lstStyle/>
            <a:p>
              <a:pPr algn="just" eaLnBrk="1" hangingPunct="1">
                <a:defRPr/>
              </a:pPr>
              <a:r>
                <a:rPr kumimoji="1"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矢量</a:t>
              </a:r>
              <a:r>
                <a:rPr kumimoji="1"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</a:t>
              </a:r>
              <a:endParaRPr kumimoji="1"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250" name="Line 8"/>
            <p:cNvSpPr>
              <a:spLocks noChangeShapeType="1"/>
            </p:cNvSpPr>
            <p:nvPr/>
          </p:nvSpPr>
          <p:spPr bwMode="auto">
            <a:xfrm flipV="1">
              <a:off x="3560" y="1917"/>
              <a:ext cx="960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10251" name="Object 9"/>
            <p:cNvGraphicFramePr>
              <a:graphicFrameLocks noChangeAspect="1"/>
            </p:cNvGraphicFramePr>
            <p:nvPr/>
          </p:nvGraphicFramePr>
          <p:xfrm>
            <a:off x="3686" y="1677"/>
            <a:ext cx="88" cy="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5" imgW="95885" imgH="123190" progId="Equation.3">
                    <p:embed/>
                  </p:oleObj>
                </mc:Choice>
                <mc:Fallback>
                  <p:oleObj name="公式" r:id="rId5" imgW="95885" imgH="12319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1677"/>
                          <a:ext cx="88" cy="1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2" name="Line 10"/>
            <p:cNvSpPr>
              <a:spLocks noChangeShapeType="1"/>
            </p:cNvSpPr>
            <p:nvPr/>
          </p:nvSpPr>
          <p:spPr bwMode="auto">
            <a:xfrm flipV="1">
              <a:off x="3560" y="1101"/>
              <a:ext cx="0" cy="816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3" name="Line 11"/>
            <p:cNvSpPr>
              <a:spLocks noChangeShapeType="1"/>
            </p:cNvSpPr>
            <p:nvPr/>
          </p:nvSpPr>
          <p:spPr bwMode="auto">
            <a:xfrm flipH="1">
              <a:off x="3128" y="1917"/>
              <a:ext cx="432" cy="432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4" name="Line 12"/>
            <p:cNvSpPr>
              <a:spLocks noChangeShapeType="1"/>
            </p:cNvSpPr>
            <p:nvPr/>
          </p:nvSpPr>
          <p:spPr bwMode="auto">
            <a:xfrm flipV="1">
              <a:off x="3560" y="1677"/>
              <a:ext cx="336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5" name="Line 13"/>
            <p:cNvSpPr>
              <a:spLocks noChangeShapeType="1"/>
            </p:cNvSpPr>
            <p:nvPr/>
          </p:nvSpPr>
          <p:spPr bwMode="auto">
            <a:xfrm>
              <a:off x="3560" y="1389"/>
              <a:ext cx="62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6" name="Line 14"/>
            <p:cNvSpPr>
              <a:spLocks noChangeShapeType="1"/>
            </p:cNvSpPr>
            <p:nvPr/>
          </p:nvSpPr>
          <p:spPr bwMode="auto">
            <a:xfrm flipH="1">
              <a:off x="3272" y="1389"/>
              <a:ext cx="288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7" name="Line 15"/>
            <p:cNvSpPr>
              <a:spLocks noChangeShapeType="1"/>
            </p:cNvSpPr>
            <p:nvPr/>
          </p:nvSpPr>
          <p:spPr bwMode="auto">
            <a:xfrm>
              <a:off x="3272" y="1677"/>
              <a:ext cx="624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8" name="Line 16"/>
            <p:cNvSpPr>
              <a:spLocks noChangeShapeType="1"/>
            </p:cNvSpPr>
            <p:nvPr/>
          </p:nvSpPr>
          <p:spPr bwMode="auto">
            <a:xfrm>
              <a:off x="3560" y="1389"/>
              <a:ext cx="336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59" name="Line 17"/>
            <p:cNvSpPr>
              <a:spLocks noChangeShapeType="1"/>
            </p:cNvSpPr>
            <p:nvPr/>
          </p:nvSpPr>
          <p:spPr bwMode="auto">
            <a:xfrm>
              <a:off x="3272" y="1677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0" name="Line 18"/>
            <p:cNvSpPr>
              <a:spLocks noChangeShapeType="1"/>
            </p:cNvSpPr>
            <p:nvPr/>
          </p:nvSpPr>
          <p:spPr bwMode="auto">
            <a:xfrm>
              <a:off x="3896" y="1677"/>
              <a:ext cx="0" cy="528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1" name="Line 19"/>
            <p:cNvSpPr>
              <a:spLocks noChangeShapeType="1"/>
            </p:cNvSpPr>
            <p:nvPr/>
          </p:nvSpPr>
          <p:spPr bwMode="auto">
            <a:xfrm>
              <a:off x="3272" y="2205"/>
              <a:ext cx="62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2" name="Line 20"/>
            <p:cNvSpPr>
              <a:spLocks noChangeShapeType="1"/>
            </p:cNvSpPr>
            <p:nvPr/>
          </p:nvSpPr>
          <p:spPr bwMode="auto">
            <a:xfrm flipH="1">
              <a:off x="3896" y="1917"/>
              <a:ext cx="288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3" name="Line 21"/>
            <p:cNvSpPr>
              <a:spLocks noChangeShapeType="1"/>
            </p:cNvSpPr>
            <p:nvPr/>
          </p:nvSpPr>
          <p:spPr bwMode="auto">
            <a:xfrm>
              <a:off x="4184" y="1389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4" name="Line 22"/>
            <p:cNvSpPr>
              <a:spLocks noChangeShapeType="1"/>
            </p:cNvSpPr>
            <p:nvPr/>
          </p:nvSpPr>
          <p:spPr bwMode="auto">
            <a:xfrm flipH="1">
              <a:off x="3272" y="1917"/>
              <a:ext cx="288" cy="288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5" name="Line 23"/>
            <p:cNvSpPr>
              <a:spLocks noChangeShapeType="1"/>
            </p:cNvSpPr>
            <p:nvPr/>
          </p:nvSpPr>
          <p:spPr bwMode="auto">
            <a:xfrm flipV="1">
              <a:off x="3560" y="1917"/>
              <a:ext cx="624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6" name="Line 24"/>
            <p:cNvSpPr>
              <a:spLocks noChangeShapeType="1"/>
            </p:cNvSpPr>
            <p:nvPr/>
          </p:nvSpPr>
          <p:spPr bwMode="auto">
            <a:xfrm flipV="1">
              <a:off x="3560" y="1389"/>
              <a:ext cx="0" cy="528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7" name="Line 25"/>
            <p:cNvSpPr>
              <a:spLocks noChangeShapeType="1"/>
            </p:cNvSpPr>
            <p:nvPr/>
          </p:nvSpPr>
          <p:spPr bwMode="auto">
            <a:xfrm>
              <a:off x="3560" y="1917"/>
              <a:ext cx="336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8" name="Line 26"/>
            <p:cNvSpPr>
              <a:spLocks noChangeShapeType="1"/>
            </p:cNvSpPr>
            <p:nvPr/>
          </p:nvSpPr>
          <p:spPr bwMode="auto">
            <a:xfrm flipH="1">
              <a:off x="3896" y="1389"/>
              <a:ext cx="288" cy="2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69" name="Arc 27"/>
            <p:cNvSpPr/>
            <p:nvPr/>
          </p:nvSpPr>
          <p:spPr bwMode="auto">
            <a:xfrm rot="10800000" flipH="1" flipV="1">
              <a:off x="3560" y="1822"/>
              <a:ext cx="90" cy="48"/>
            </a:xfrm>
            <a:custGeom>
              <a:avLst/>
              <a:gdLst>
                <a:gd name="T0" fmla="*/ 0 w 20198"/>
                <a:gd name="T1" fmla="*/ 0 h 21600"/>
                <a:gd name="T2" fmla="*/ 0 w 20198"/>
                <a:gd name="T3" fmla="*/ 0 h 21600"/>
                <a:gd name="T4" fmla="*/ 0 w 20198"/>
                <a:gd name="T5" fmla="*/ 0 h 21600"/>
                <a:gd name="T6" fmla="*/ 0 60000 65536"/>
                <a:gd name="T7" fmla="*/ 0 60000 65536"/>
                <a:gd name="T8" fmla="*/ 0 60000 65536"/>
                <a:gd name="T9" fmla="*/ 0 w 20198"/>
                <a:gd name="T10" fmla="*/ 0 h 21600"/>
                <a:gd name="T11" fmla="*/ 20198 w 2019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98" h="21600" fill="none" extrusionOk="0">
                  <a:moveTo>
                    <a:pt x="-1" y="0"/>
                  </a:moveTo>
                  <a:cubicBezTo>
                    <a:pt x="8976" y="0"/>
                    <a:pt x="17016" y="5551"/>
                    <a:pt x="20198" y="13944"/>
                  </a:cubicBezTo>
                </a:path>
                <a:path w="20198" h="21600" stroke="0" extrusionOk="0">
                  <a:moveTo>
                    <a:pt x="-1" y="0"/>
                  </a:moveTo>
                  <a:cubicBezTo>
                    <a:pt x="8976" y="0"/>
                    <a:pt x="17016" y="5551"/>
                    <a:pt x="20198" y="1394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70" name="Arc 28"/>
            <p:cNvSpPr/>
            <p:nvPr/>
          </p:nvSpPr>
          <p:spPr bwMode="auto">
            <a:xfrm>
              <a:off x="3656" y="1869"/>
              <a:ext cx="48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71" name="Arc 29"/>
            <p:cNvSpPr/>
            <p:nvPr/>
          </p:nvSpPr>
          <p:spPr bwMode="auto">
            <a:xfrm rot="10800000" flipH="1">
              <a:off x="3512" y="1869"/>
              <a:ext cx="95" cy="96"/>
            </a:xfrm>
            <a:custGeom>
              <a:avLst/>
              <a:gdLst>
                <a:gd name="T0" fmla="*/ 0 w 21433"/>
                <a:gd name="T1" fmla="*/ 0 h 21600"/>
                <a:gd name="T2" fmla="*/ 0 w 21433"/>
                <a:gd name="T3" fmla="*/ 0 h 21600"/>
                <a:gd name="T4" fmla="*/ 0 w 21433"/>
                <a:gd name="T5" fmla="*/ 0 h 21600"/>
                <a:gd name="T6" fmla="*/ 0 60000 65536"/>
                <a:gd name="T7" fmla="*/ 0 60000 65536"/>
                <a:gd name="T8" fmla="*/ 0 60000 65536"/>
                <a:gd name="T9" fmla="*/ 0 w 21433"/>
                <a:gd name="T10" fmla="*/ 0 h 21600"/>
                <a:gd name="T11" fmla="*/ 21433 w 2143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33" h="21600" fill="none" extrusionOk="0">
                  <a:moveTo>
                    <a:pt x="-1" y="0"/>
                  </a:moveTo>
                  <a:cubicBezTo>
                    <a:pt x="10893" y="0"/>
                    <a:pt x="20082" y="8111"/>
                    <a:pt x="21433" y="18920"/>
                  </a:cubicBezTo>
                </a:path>
                <a:path w="21433" h="21600" stroke="0" extrusionOk="0">
                  <a:moveTo>
                    <a:pt x="-1" y="0"/>
                  </a:moveTo>
                  <a:cubicBezTo>
                    <a:pt x="10893" y="0"/>
                    <a:pt x="20082" y="8111"/>
                    <a:pt x="21433" y="1892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10272" name="Object 30"/>
            <p:cNvGraphicFramePr>
              <a:graphicFrameLocks noChangeAspect="1"/>
            </p:cNvGraphicFramePr>
            <p:nvPr/>
          </p:nvGraphicFramePr>
          <p:xfrm>
            <a:off x="3476" y="1857"/>
            <a:ext cx="88" cy="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7" imgW="95885" imgH="81915" progId="Equation.3">
                    <p:embed/>
                  </p:oleObj>
                </mc:Choice>
                <mc:Fallback>
                  <p:oleObj name="公式" r:id="rId7" imgW="95885" imgH="8191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" y="1857"/>
                          <a:ext cx="88" cy="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3" name="Object 31"/>
            <p:cNvGraphicFramePr>
              <a:graphicFrameLocks noChangeAspect="1"/>
            </p:cNvGraphicFramePr>
            <p:nvPr/>
          </p:nvGraphicFramePr>
          <p:xfrm>
            <a:off x="3710" y="1815"/>
            <a:ext cx="76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9" imgW="102870" imgH="130175" progId="Equation.3">
                    <p:embed/>
                  </p:oleObj>
                </mc:Choice>
                <mc:Fallback>
                  <p:oleObj name="公式" r:id="rId9" imgW="102870" imgH="13017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1815"/>
                          <a:ext cx="76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32"/>
            <p:cNvGraphicFramePr>
              <a:graphicFrameLocks noChangeAspect="1"/>
            </p:cNvGraphicFramePr>
            <p:nvPr/>
          </p:nvGraphicFramePr>
          <p:xfrm>
            <a:off x="3596" y="1743"/>
            <a:ext cx="79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公式" r:id="rId11" imgW="81915" imgH="102870" progId="Equation.3">
                    <p:embed/>
                  </p:oleObj>
                </mc:Choice>
                <mc:Fallback>
                  <p:oleObj name="公式" r:id="rId11" imgW="81915" imgH="10287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1743"/>
                          <a:ext cx="79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5" name="Object 33"/>
            <p:cNvGraphicFramePr>
              <a:graphicFrameLocks noChangeAspect="1"/>
            </p:cNvGraphicFramePr>
            <p:nvPr/>
          </p:nvGraphicFramePr>
          <p:xfrm>
            <a:off x="3380" y="2073"/>
            <a:ext cx="11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公式" r:id="rId13" imgW="123190" imgH="150495" progId="Equation.3">
                    <p:embed/>
                  </p:oleObj>
                </mc:Choice>
                <mc:Fallback>
                  <p:oleObj name="公式" r:id="rId13" imgW="123190" imgH="15049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0" y="2073"/>
                          <a:ext cx="11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6" name="Object 34"/>
            <p:cNvGraphicFramePr>
              <a:graphicFrameLocks noChangeAspect="1"/>
            </p:cNvGraphicFramePr>
            <p:nvPr/>
          </p:nvGraphicFramePr>
          <p:xfrm>
            <a:off x="4028" y="1773"/>
            <a:ext cx="11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公式" r:id="rId15" imgW="123190" imgH="164465" progId="Equation.3">
                    <p:embed/>
                  </p:oleObj>
                </mc:Choice>
                <mc:Fallback>
                  <p:oleObj name="公式" r:id="rId15" imgW="123190" imgH="16446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8" y="1773"/>
                          <a:ext cx="11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7" name="Object 35"/>
            <p:cNvGraphicFramePr>
              <a:graphicFrameLocks noChangeAspect="1"/>
            </p:cNvGraphicFramePr>
            <p:nvPr/>
          </p:nvGraphicFramePr>
          <p:xfrm>
            <a:off x="3560" y="1461"/>
            <a:ext cx="111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公式" r:id="rId17" imgW="123190" imgH="150495" progId="Equation.3">
                    <p:embed/>
                  </p:oleObj>
                </mc:Choice>
                <mc:Fallback>
                  <p:oleObj name="公式" r:id="rId17" imgW="123190" imgH="150495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461"/>
                          <a:ext cx="111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8" name="Line 36"/>
            <p:cNvSpPr>
              <a:spLocks noChangeShapeType="1"/>
            </p:cNvSpPr>
            <p:nvPr/>
          </p:nvSpPr>
          <p:spPr bwMode="auto">
            <a:xfrm>
              <a:off x="3560" y="1917"/>
              <a:ext cx="240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79" name="Line 37"/>
            <p:cNvSpPr>
              <a:spLocks noChangeShapeType="1"/>
            </p:cNvSpPr>
            <p:nvPr/>
          </p:nvSpPr>
          <p:spPr bwMode="auto">
            <a:xfrm flipH="1">
              <a:off x="3464" y="1917"/>
              <a:ext cx="96" cy="96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0280" name="Line 38"/>
            <p:cNvSpPr>
              <a:spLocks noChangeShapeType="1"/>
            </p:cNvSpPr>
            <p:nvPr/>
          </p:nvSpPr>
          <p:spPr bwMode="auto">
            <a:xfrm flipV="1">
              <a:off x="3560" y="1677"/>
              <a:ext cx="0" cy="24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10281" name="Object 39"/>
            <p:cNvGraphicFramePr>
              <a:graphicFrameLocks noChangeAspect="1"/>
            </p:cNvGraphicFramePr>
            <p:nvPr/>
          </p:nvGraphicFramePr>
          <p:xfrm>
            <a:off x="3392" y="1905"/>
            <a:ext cx="7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公式" r:id="rId19" imgW="75565" imgH="130175" progId="Equation.3">
                    <p:embed/>
                  </p:oleObj>
                </mc:Choice>
                <mc:Fallback>
                  <p:oleObj name="公式" r:id="rId19" imgW="75565" imgH="130175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1905"/>
                          <a:ext cx="7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2" name="Object 40"/>
            <p:cNvGraphicFramePr>
              <a:graphicFrameLocks noChangeAspect="1"/>
            </p:cNvGraphicFramePr>
            <p:nvPr/>
          </p:nvGraphicFramePr>
          <p:xfrm>
            <a:off x="3752" y="1917"/>
            <a:ext cx="79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公式" r:id="rId21" imgW="81915" imgH="150495" progId="Equation.3">
                    <p:embed/>
                  </p:oleObj>
                </mc:Choice>
                <mc:Fallback>
                  <p:oleObj name="公式" r:id="rId21" imgW="81915" imgH="150495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" y="1917"/>
                          <a:ext cx="79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3" name="Object 41"/>
            <p:cNvGraphicFramePr>
              <a:graphicFrameLocks noChangeAspect="1"/>
            </p:cNvGraphicFramePr>
            <p:nvPr/>
          </p:nvGraphicFramePr>
          <p:xfrm>
            <a:off x="3464" y="1677"/>
            <a:ext cx="79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公式" r:id="rId23" imgW="81915" imgH="137160" progId="Equation.3">
                    <p:embed/>
                  </p:oleObj>
                </mc:Choice>
                <mc:Fallback>
                  <p:oleObj name="公式" r:id="rId23" imgW="81915" imgH="13716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4" y="1677"/>
                          <a:ext cx="79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2858" name="Text Box 42"/>
            <p:cNvSpPr txBox="1">
              <a:spLocks noChangeArrowheads="1"/>
            </p:cNvSpPr>
            <p:nvPr/>
          </p:nvSpPr>
          <p:spPr bwMode="auto">
            <a:xfrm>
              <a:off x="3080" y="2301"/>
              <a:ext cx="192" cy="1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  <a:endParaRPr kumimoji="1" lang="en-US" altLang="zh-CN" sz="28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859" name="Text Box 43"/>
            <p:cNvSpPr txBox="1">
              <a:spLocks noChangeArrowheads="1"/>
            </p:cNvSpPr>
            <p:nvPr/>
          </p:nvSpPr>
          <p:spPr bwMode="auto">
            <a:xfrm>
              <a:off x="4454" y="1869"/>
              <a:ext cx="144" cy="1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  <a:endParaRPr kumimoji="1" lang="en-US" altLang="zh-CN" sz="28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860" name="Text Box 44"/>
            <p:cNvSpPr txBox="1">
              <a:spLocks noChangeArrowheads="1"/>
            </p:cNvSpPr>
            <p:nvPr/>
          </p:nvSpPr>
          <p:spPr bwMode="auto">
            <a:xfrm>
              <a:off x="3512" y="944"/>
              <a:ext cx="192" cy="1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800" i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  <a:endParaRPr kumimoji="1" lang="en-US" altLang="zh-CN" sz="28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a typeface="楷体_GB2312" pitchFamily="49" charset="-122"/>
              </a:rPr>
              <a:t>矢量代数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126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9AB287-C78D-4255-9762-584B688D63F6}" type="slidenum">
              <a:rPr lang="en-US" altLang="zh-CN"/>
            </a:fld>
            <a:endParaRPr lang="en-US" altLang="zh-CN"/>
          </a:p>
        </p:txBody>
      </p:sp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396240" y="1196658"/>
            <a:ext cx="705643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矢量和（差）的正交分量表示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9" name="Object 3"/>
          <p:cNvGraphicFramePr>
            <a:graphicFrameLocks noChangeAspect="1"/>
          </p:cNvGraphicFramePr>
          <p:nvPr/>
        </p:nvGraphicFramePr>
        <p:xfrm>
          <a:off x="684213" y="2781300"/>
          <a:ext cx="8928100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文档" r:id="rId1" imgW="2362835" imgH="575310" progId="Word.Document.8">
                  <p:embed/>
                </p:oleObj>
              </mc:Choice>
              <mc:Fallback>
                <p:oleObj name="文档" r:id="rId1" imgW="2362835" imgH="57531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81300"/>
                        <a:ext cx="8928100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矢量代数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E7910E-2333-4D1B-B582-63E196E06F65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600" dirty="0">
                    <a:solidFill>
                      <a:srgbClr val="000000"/>
                    </a:solidFill>
                  </a:rPr>
                  <a:t>已知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𝐶</m:t>
                        </m:r>
                      </m:e>
                    </m:acc>
                    <m:r>
                      <a:rPr lang="zh-CN" altLang="en-US" sz="2600" dirty="0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en-US" altLang="zh-CN" sz="2600" i="1" dirty="0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dirty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，以下图示正确的是（         ）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25530" y="27748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A</a:t>
            </a:r>
            <a:endParaRPr lang="en-US" altLang="zh-CN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25530" y="445923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B</a:t>
            </a:r>
            <a:endParaRPr lang="en-US" altLang="zh-CN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291427" y="281366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C</a:t>
            </a:r>
            <a:endParaRPr lang="en-US" altLang="zh-CN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291427" y="455849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D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8"/>
            </p:custDataLst>
          </p:nvPr>
        </p:nvSpPr>
        <p:spPr>
          <a:xfrm>
            <a:off x="3563888" y="5782041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700901" y="2618295"/>
            <a:ext cx="1637324" cy="1068155"/>
            <a:chOff x="-1030286" y="3603737"/>
            <a:chExt cx="2504884" cy="1392666"/>
          </a:xfrm>
        </p:grpSpPr>
        <p:sp>
          <p:nvSpPr>
            <p:cNvPr id="23" name="Line 6"/>
            <p:cNvSpPr>
              <a:spLocks noChangeShapeType="1"/>
            </p:cNvSpPr>
            <p:nvPr/>
          </p:nvSpPr>
          <p:spPr bwMode="auto">
            <a:xfrm flipV="1">
              <a:off x="-1030286" y="4658537"/>
              <a:ext cx="17138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98450" y="3867437"/>
              <a:ext cx="241699" cy="304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" name="Line 8"/>
            <p:cNvSpPr>
              <a:spLocks noChangeShapeType="1"/>
            </p:cNvSpPr>
            <p:nvPr/>
          </p:nvSpPr>
          <p:spPr bwMode="auto">
            <a:xfrm flipV="1">
              <a:off x="-1030286" y="3603737"/>
              <a:ext cx="791016" cy="105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6" name="Line 9"/>
            <p:cNvSpPr>
              <a:spLocks noChangeShapeType="1"/>
            </p:cNvSpPr>
            <p:nvPr/>
          </p:nvSpPr>
          <p:spPr bwMode="auto">
            <a:xfrm flipV="1">
              <a:off x="-239270" y="3603737"/>
              <a:ext cx="1450196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H="1">
              <a:off x="683582" y="3603737"/>
              <a:ext cx="791016" cy="1054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 flipV="1">
              <a:off x="-1030286" y="3603737"/>
              <a:ext cx="2504884" cy="1054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29" name="图片 28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02" y="3867437"/>
              <a:ext cx="260925" cy="329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0" name="图片 29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39270" y="4691500"/>
              <a:ext cx="241699" cy="304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31" name="组合 30"/>
          <p:cNvGrpSpPr/>
          <p:nvPr/>
        </p:nvGrpSpPr>
        <p:grpSpPr>
          <a:xfrm>
            <a:off x="1542326" y="4080224"/>
            <a:ext cx="1915489" cy="1045417"/>
            <a:chOff x="1606434" y="3298834"/>
            <a:chExt cx="2504884" cy="1359703"/>
          </a:xfrm>
        </p:grpSpPr>
        <p:sp>
          <p:nvSpPr>
            <p:cNvPr id="32" name="Line 13"/>
            <p:cNvSpPr>
              <a:spLocks noChangeShapeType="1"/>
            </p:cNvSpPr>
            <p:nvPr/>
          </p:nvSpPr>
          <p:spPr bwMode="auto">
            <a:xfrm flipV="1">
              <a:off x="2397450" y="3603737"/>
              <a:ext cx="17138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33" name="图片 3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0106" y="3735587"/>
              <a:ext cx="241699" cy="304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" name="Line 15"/>
            <p:cNvSpPr>
              <a:spLocks noChangeShapeType="1"/>
            </p:cNvSpPr>
            <p:nvPr/>
          </p:nvSpPr>
          <p:spPr bwMode="auto">
            <a:xfrm flipV="1">
              <a:off x="1606434" y="3603737"/>
              <a:ext cx="791016" cy="105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 flipV="1">
              <a:off x="1606434" y="3603737"/>
              <a:ext cx="2504884" cy="10548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36" name="图片 3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4794" y="3298834"/>
              <a:ext cx="241699" cy="3049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7" name="图片 36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2958" y="4131137"/>
              <a:ext cx="260925" cy="329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38" name="组合 37"/>
          <p:cNvGrpSpPr/>
          <p:nvPr/>
        </p:nvGrpSpPr>
        <p:grpSpPr>
          <a:xfrm>
            <a:off x="6187132" y="2420888"/>
            <a:ext cx="1508679" cy="1449234"/>
            <a:chOff x="5963686" y="5551401"/>
            <a:chExt cx="1508679" cy="1449234"/>
          </a:xfrm>
        </p:grpSpPr>
        <p:sp>
          <p:nvSpPr>
            <p:cNvPr id="39" name="Line 46"/>
            <p:cNvSpPr>
              <a:spLocks noChangeShapeType="1"/>
            </p:cNvSpPr>
            <p:nvPr/>
          </p:nvSpPr>
          <p:spPr bwMode="auto">
            <a:xfrm flipV="1">
              <a:off x="5963686" y="6649046"/>
              <a:ext cx="1508679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40" name="图片 39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6544" y="5963018"/>
              <a:ext cx="251447" cy="317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" name="Line 48"/>
            <p:cNvSpPr>
              <a:spLocks noChangeShapeType="1"/>
            </p:cNvSpPr>
            <p:nvPr/>
          </p:nvSpPr>
          <p:spPr bwMode="auto">
            <a:xfrm flipV="1">
              <a:off x="5963686" y="5551401"/>
              <a:ext cx="822916" cy="1097645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42" name="图片 41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0917" y="5894415"/>
              <a:ext cx="271448" cy="343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43" name="图片 42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2296" y="6683347"/>
              <a:ext cx="251447" cy="317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4" name="Line 51"/>
            <p:cNvSpPr>
              <a:spLocks noChangeShapeType="1"/>
            </p:cNvSpPr>
            <p:nvPr/>
          </p:nvSpPr>
          <p:spPr bwMode="auto">
            <a:xfrm flipH="1" flipV="1">
              <a:off x="6786602" y="5551401"/>
              <a:ext cx="685763" cy="10976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6165279" y="4129642"/>
            <a:ext cx="1508679" cy="1449234"/>
            <a:chOff x="5963686" y="5551401"/>
            <a:chExt cx="1508679" cy="1449234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 flipV="1">
              <a:off x="5963686" y="6649046"/>
              <a:ext cx="1508679" cy="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47" name="图片 4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6544" y="5963018"/>
              <a:ext cx="251447" cy="317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8" name="Line 48"/>
            <p:cNvSpPr>
              <a:spLocks noChangeShapeType="1"/>
            </p:cNvSpPr>
            <p:nvPr/>
          </p:nvSpPr>
          <p:spPr bwMode="auto">
            <a:xfrm flipV="1">
              <a:off x="5963686" y="5551401"/>
              <a:ext cx="822916" cy="1097645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pic>
          <p:nvPicPr>
            <p:cNvPr id="49" name="图片 48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0917" y="5894415"/>
              <a:ext cx="271448" cy="343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0" name="图片 49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2296" y="6683347"/>
              <a:ext cx="251447" cy="317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" name="Line 51"/>
            <p:cNvSpPr>
              <a:spLocks noChangeShapeType="1"/>
            </p:cNvSpPr>
            <p:nvPr/>
          </p:nvSpPr>
          <p:spPr bwMode="auto">
            <a:xfrm flipH="1" flipV="1">
              <a:off x="6786602" y="5551401"/>
              <a:ext cx="685763" cy="10976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矢量的标积和矢积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14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3F1BE1-E51A-40F6-967B-E2070911EA69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469900" y="2136775"/>
            <a:ext cx="4262120" cy="513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定义：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229" name="Text Box 5"/>
          <p:cNvSpPr txBox="1">
            <a:spLocks noChangeArrowheads="1"/>
          </p:cNvSpPr>
          <p:nvPr/>
        </p:nvSpPr>
        <p:spPr bwMode="auto">
          <a:xfrm>
            <a:off x="456248" y="1484630"/>
            <a:ext cx="3675062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矢量乘以标量 </a:t>
            </a:r>
            <a:endParaRPr kumimoji="1"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230" name="Text Box 6"/>
          <p:cNvSpPr txBox="1">
            <a:spLocks noChangeArrowheads="1"/>
          </p:cNvSpPr>
          <p:nvPr/>
        </p:nvSpPr>
        <p:spPr bwMode="auto">
          <a:xfrm>
            <a:off x="539750" y="4436428"/>
            <a:ext cx="426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性质：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0" y="3149600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1692275" y="1989138"/>
          <a:ext cx="15843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21945" imgH="130175" progId="Equation.3">
                  <p:embed/>
                </p:oleObj>
              </mc:Choice>
              <mc:Fallback>
                <p:oleObj name="公式" r:id="rId1" imgW="321945" imgH="13017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989138"/>
                        <a:ext cx="158432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1403033" y="2915603"/>
          <a:ext cx="6264275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616710" imgH="342265" progId="Equation.3">
                  <p:embed/>
                </p:oleObj>
              </mc:Choice>
              <mc:Fallback>
                <p:oleObj name="公式" r:id="rId3" imgW="1616710" imgH="3422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033" y="2915603"/>
                        <a:ext cx="6264275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0" y="3135313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1403350" y="4941888"/>
          <a:ext cx="388778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876935" imgH="150495" progId="Equation.3">
                  <p:embed/>
                </p:oleObj>
              </mc:Choice>
              <mc:Fallback>
                <p:oleObj name="公式" r:id="rId5" imgW="876935" imgH="1504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941888"/>
                        <a:ext cx="388778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39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31FF88-B4F5-4C63-B674-7A0F4C7826AD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300038" y="546100"/>
            <a:ext cx="405606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矢量的标积 </a:t>
            </a:r>
            <a:endParaRPr kumimoji="1"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395923" y="1700213"/>
            <a:ext cx="426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定义：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447675" y="2324100"/>
            <a:ext cx="426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性质：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1692275" y="2565400"/>
          <a:ext cx="5040313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文档" r:id="rId1" imgW="1459230" imgH="623570" progId="Word.Document.8">
                  <p:embed/>
                </p:oleObj>
              </mc:Choice>
              <mc:Fallback>
                <p:oleObj name="文档" r:id="rId1" imgW="1459230" imgH="62357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565400"/>
                        <a:ext cx="5040313" cy="219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466725" y="4638675"/>
            <a:ext cx="6553200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矢量的标积的正交分量表示：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1549400" y="5343525"/>
          <a:ext cx="49672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91895" imgH="177800" progId="Equation.3">
                  <p:embed/>
                </p:oleObj>
              </mc:Choice>
              <mc:Fallback>
                <p:oleObj name="公式" r:id="rId3" imgW="1191895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5343525"/>
                        <a:ext cx="4967288" cy="7493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8"/>
          <p:cNvGraphicFramePr>
            <a:graphicFrameLocks noChangeAspect="1"/>
          </p:cNvGraphicFramePr>
          <p:nvPr/>
        </p:nvGraphicFramePr>
        <p:xfrm>
          <a:off x="1692275" y="1700213"/>
          <a:ext cx="35274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904240" imgH="157480" progId="Equation.3">
                  <p:embed/>
                </p:oleObj>
              </mc:Choice>
              <mc:Fallback>
                <p:oleObj name="公式" r:id="rId5" imgW="904240" imgH="15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00213"/>
                        <a:ext cx="3527425" cy="6381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9"/>
          <p:cNvGraphicFramePr>
            <a:graphicFrameLocks noChangeAspect="1"/>
          </p:cNvGraphicFramePr>
          <p:nvPr/>
        </p:nvGraphicFramePr>
        <p:xfrm>
          <a:off x="5580063" y="1773238"/>
          <a:ext cx="18002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7" imgW="479425" imgH="150495" progId="Equation.3">
                  <p:embed/>
                </p:oleObj>
              </mc:Choice>
              <mc:Fallback>
                <p:oleObj name="公式" r:id="rId7" imgW="479425" imgH="1504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773238"/>
                        <a:ext cx="18002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2" name="Object 10"/>
          <p:cNvGraphicFramePr>
            <a:graphicFrameLocks noChangeAspect="1"/>
          </p:cNvGraphicFramePr>
          <p:nvPr/>
        </p:nvGraphicFramePr>
        <p:xfrm>
          <a:off x="5651500" y="4005263"/>
          <a:ext cx="3189288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9" imgW="924560" imgH="342265" progId="Equation.3">
                  <p:embed/>
                </p:oleObj>
              </mc:Choice>
              <mc:Fallback>
                <p:oleObj name="公式" r:id="rId9" imgW="924560" imgH="34226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005263"/>
                        <a:ext cx="3189288" cy="11747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bldLvl="0" animBg="1" autoUpdateAnimBg="0"/>
      <p:bldP spid="166918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FA2BCE-6577-4D4B-91EB-79E1B06B6C23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38" name="Rectangle 2"/>
          <p:cNvSpPr>
            <a:spLocks noChangeArrowheads="1"/>
          </p:cNvSpPr>
          <p:nvPr/>
        </p:nvSpPr>
        <p:spPr bwMode="auto">
          <a:xfrm>
            <a:off x="371475" y="617538"/>
            <a:ext cx="362426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矢量的矢积 </a:t>
            </a:r>
            <a:endParaRPr kumimoji="1" lang="zh-CN" altLang="en-US" sz="32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592138" y="1772920"/>
            <a:ext cx="426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定义：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592138" y="3702050"/>
            <a:ext cx="42672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性质：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0" y="3125788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68" name="Rectangle 6"/>
          <p:cNvSpPr>
            <a:spLocks noChangeArrowheads="1"/>
          </p:cNvSpPr>
          <p:nvPr/>
        </p:nvSpPr>
        <p:spPr bwMode="auto">
          <a:xfrm>
            <a:off x="0" y="3149600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369" name="Object 7"/>
          <p:cNvGraphicFramePr>
            <a:graphicFrameLocks noChangeAspect="1"/>
          </p:cNvGraphicFramePr>
          <p:nvPr/>
        </p:nvGraphicFramePr>
        <p:xfrm>
          <a:off x="1835150" y="1773238"/>
          <a:ext cx="6265863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746885" imgH="541020" progId="Equation.3">
                  <p:embed/>
                </p:oleObj>
              </mc:Choice>
              <mc:Fallback>
                <p:oleObj name="公式" r:id="rId1" imgW="1746885" imgH="5410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773238"/>
                        <a:ext cx="6265863" cy="19700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1763713" y="4149725"/>
          <a:ext cx="6334125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文档" r:id="rId3" imgW="1718945" imgH="760095" progId="Word.Document.8">
                  <p:embed/>
                </p:oleObj>
              </mc:Choice>
              <mc:Fallback>
                <p:oleObj name="文档" r:id="rId3" imgW="1718945" imgH="760095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149725"/>
                        <a:ext cx="6334125" cy="285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9"/>
          <p:cNvSpPr>
            <a:spLocks noChangeArrowheads="1"/>
          </p:cNvSpPr>
          <p:nvPr/>
        </p:nvSpPr>
        <p:spPr bwMode="auto">
          <a:xfrm>
            <a:off x="0" y="3116263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372" name="Object 10"/>
          <p:cNvGraphicFramePr>
            <a:graphicFrameLocks noChangeAspect="1"/>
          </p:cNvGraphicFramePr>
          <p:nvPr/>
        </p:nvGraphicFramePr>
        <p:xfrm>
          <a:off x="4984750" y="332740"/>
          <a:ext cx="3116263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1452800" imgH="17678400" progId="Equation.DSMT4">
                  <p:embed/>
                </p:oleObj>
              </mc:Choice>
              <mc:Fallback>
                <p:oleObj name="Equation" r:id="rId5" imgW="41452800" imgH="17678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332740"/>
                        <a:ext cx="3116263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矢量代数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E7910E-2333-4D1B-B582-63E196E06F65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以下关于矢量的运算错误的是（       ）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A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B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C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D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7092280" y="515719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>
                <p:custDataLst>
                  <p:tags r:id="rId7"/>
                </p:custDataLst>
              </p:nvPr>
            </p:nvSpPr>
            <p:spPr>
              <a:xfrm>
                <a:off x="1907704" y="2678906"/>
                <a:ext cx="4000500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2400" i="1" dirty="0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dirty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400" i="0" dirty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altLang="en-US" sz="2400" i="1" dirty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dirty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907704" y="2678906"/>
                <a:ext cx="4000500" cy="857250"/>
              </a:xfrm>
              <a:prstGeom prst="rect">
                <a:avLst/>
              </a:prstGeom>
              <a:blipFill rotWithShape="1">
                <a:blip r:embed="rId9"/>
                <a:stretch>
                  <a:fillRect l="-4" t="-56" r="4" b="5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>
                <p:custDataLst>
                  <p:tags r:id="rId10"/>
                </p:custDataLst>
              </p:nvPr>
            </p:nvSpPr>
            <p:spPr>
              <a:xfrm>
                <a:off x="2034576" y="3529004"/>
                <a:ext cx="4000500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2034576" y="3529004"/>
                <a:ext cx="4000500" cy="857250"/>
              </a:xfrm>
              <a:prstGeom prst="rect">
                <a:avLst/>
              </a:prstGeom>
              <a:blipFill rotWithShape="1">
                <a:blip r:embed="rId12"/>
                <a:stretch>
                  <a:fillRect l="-1" t="-36" r="1" b="3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>
                <p:custDataLst>
                  <p:tags r:id="rId13"/>
                </p:custDataLst>
              </p:nvPr>
            </p:nvSpPr>
            <p:spPr>
              <a:xfrm>
                <a:off x="2034576" y="4379102"/>
                <a:ext cx="4000500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2034576" y="4379102"/>
                <a:ext cx="4000500" cy="857250"/>
              </a:xfrm>
              <a:prstGeom prst="rect">
                <a:avLst/>
              </a:prstGeom>
              <a:blipFill rotWithShape="1">
                <a:blip r:embed="rId15"/>
                <a:stretch>
                  <a:fillRect l="-1" t="-17" r="1" b="17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>
                <p:custDataLst>
                  <p:tags r:id="rId16"/>
                </p:custDataLst>
              </p:nvPr>
            </p:nvSpPr>
            <p:spPr>
              <a:xfrm>
                <a:off x="1979712" y="5229200"/>
                <a:ext cx="4572000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×</m:t>
                      </m:r>
                      <m:d>
                        <m:d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ea typeface="宋体" panose="02010600030101010101" pitchFamily="2" charset="-122"/>
                              <a:cs typeface="DejaVu Math TeX Gyre" panose="02000503000000000000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 smtClean="0">
                                  <a:solidFill>
                                    <a:srgbClr val="000000"/>
                                  </a:solidFill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𝐶</m:t>
                          </m:r>
                        </m:e>
                      </m:acc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宋体" panose="02010600030101010101" pitchFamily="2" charset="-122"/>
                          <a:cs typeface="DejaVu Math TeX Gyre" panose="02000503000000000000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accPr>
                        <m:e>
                          <m: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1979712" y="5229200"/>
                <a:ext cx="4572000" cy="857250"/>
              </a:xfrm>
              <a:prstGeom prst="rect">
                <a:avLst/>
              </a:prstGeom>
              <a:blipFill rotWithShape="1">
                <a:blip r:embed="rId18"/>
                <a:stretch>
                  <a:fillRect l="-9" t="-1330" r="9" b="-1262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kern="1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矢量的导数与积分 </a:t>
            </a:r>
            <a:endParaRPr lang="zh-CN" altLang="en-US" kern="1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467995" y="2493010"/>
            <a:ext cx="8227060" cy="163957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矢量与变量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之间存在一定的关系，如果当变量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取定某个值后，矢量有唯一确定的值（大小和方向）与之对应，则称为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的矢量函数，即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A=A(t)   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10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97E879-24D9-4E4D-A349-14A950CC5B55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395288" y="1700213"/>
            <a:ext cx="309721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矢量函数</a:t>
            </a:r>
            <a:endParaRPr kumimoji="1"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3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2F2ED0-C2C8-4D3D-A3D5-B751F0218D45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395288" y="617538"/>
            <a:ext cx="439261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矢量函数的导数</a:t>
            </a:r>
            <a:endParaRPr kumimoji="1"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467678" y="1828800"/>
            <a:ext cx="259238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kumimoji="1"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438" name="Object 4"/>
          <p:cNvGraphicFramePr>
            <a:graphicFrameLocks noChangeAspect="1"/>
          </p:cNvGraphicFramePr>
          <p:nvPr/>
        </p:nvGraphicFramePr>
        <p:xfrm>
          <a:off x="1476375" y="1557338"/>
          <a:ext cx="561657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452245" imgH="267335" progId="Equation.3">
                  <p:embed/>
                </p:oleObj>
              </mc:Choice>
              <mc:Fallback>
                <p:oleObj name="公式" r:id="rId1" imgW="1452245" imgH="2673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557338"/>
                        <a:ext cx="5616575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9" name="Group 5"/>
          <p:cNvGrpSpPr/>
          <p:nvPr/>
        </p:nvGrpSpPr>
        <p:grpSpPr bwMode="auto">
          <a:xfrm>
            <a:off x="2268538" y="2565400"/>
            <a:ext cx="5073650" cy="4171950"/>
            <a:chOff x="999" y="1843"/>
            <a:chExt cx="1724" cy="1417"/>
          </a:xfrm>
        </p:grpSpPr>
        <p:sp>
          <p:nvSpPr>
            <p:cNvPr id="172038" name="Rectangle 6"/>
            <p:cNvSpPr>
              <a:spLocks noChangeArrowheads="1"/>
            </p:cNvSpPr>
            <p:nvPr/>
          </p:nvSpPr>
          <p:spPr bwMode="auto">
            <a:xfrm>
              <a:off x="1527" y="3168"/>
              <a:ext cx="288" cy="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2700" tIns="12700" rIns="12700" bIns="12700"/>
            <a:lstStyle/>
            <a:p>
              <a:pPr algn="just" eaLnBrk="1" hangingPunct="1">
                <a:defRPr/>
              </a:pPr>
              <a:r>
                <a:rPr kumimoji="1"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矢量</a:t>
              </a:r>
              <a:r>
                <a:rPr kumimoji="1"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10</a:t>
              </a:r>
              <a:endParaRPr kumimoji="1"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441" name="Line 7"/>
            <p:cNvSpPr>
              <a:spLocks noChangeShapeType="1"/>
            </p:cNvSpPr>
            <p:nvPr/>
          </p:nvSpPr>
          <p:spPr bwMode="auto">
            <a:xfrm flipV="1">
              <a:off x="1383" y="2784"/>
              <a:ext cx="816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442" name="Line 8"/>
            <p:cNvSpPr>
              <a:spLocks noChangeShapeType="1"/>
            </p:cNvSpPr>
            <p:nvPr/>
          </p:nvSpPr>
          <p:spPr bwMode="auto">
            <a:xfrm flipV="1">
              <a:off x="1383" y="1968"/>
              <a:ext cx="0" cy="816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443" name="Line 9"/>
            <p:cNvSpPr>
              <a:spLocks noChangeShapeType="1"/>
            </p:cNvSpPr>
            <p:nvPr/>
          </p:nvSpPr>
          <p:spPr bwMode="auto">
            <a:xfrm flipH="1">
              <a:off x="1095" y="2784"/>
              <a:ext cx="288" cy="288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72042" name="Text Box 10"/>
            <p:cNvSpPr txBox="1">
              <a:spLocks noChangeArrowheads="1"/>
            </p:cNvSpPr>
            <p:nvPr/>
          </p:nvSpPr>
          <p:spPr bwMode="auto">
            <a:xfrm>
              <a:off x="999" y="3024"/>
              <a:ext cx="192" cy="1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 i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  <a:endParaRPr kumimoji="1" lang="en-US" altLang="zh-CN" sz="24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2043" name="Text Box 11"/>
            <p:cNvSpPr txBox="1">
              <a:spLocks noChangeArrowheads="1"/>
            </p:cNvSpPr>
            <p:nvPr/>
          </p:nvSpPr>
          <p:spPr bwMode="auto">
            <a:xfrm>
              <a:off x="2151" y="2736"/>
              <a:ext cx="144" cy="1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 i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  <a:endParaRPr kumimoji="1" lang="en-US" altLang="zh-CN" sz="24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2044" name="Text Box 12"/>
            <p:cNvSpPr txBox="1">
              <a:spLocks noChangeArrowheads="1"/>
            </p:cNvSpPr>
            <p:nvPr/>
          </p:nvSpPr>
          <p:spPr bwMode="auto">
            <a:xfrm>
              <a:off x="1335" y="1843"/>
              <a:ext cx="192" cy="1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sz="2400" i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  <a:endParaRPr kumimoji="1" lang="en-US" altLang="zh-CN" sz="2400" i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7" name="Line 13"/>
            <p:cNvSpPr>
              <a:spLocks noChangeShapeType="1"/>
            </p:cNvSpPr>
            <p:nvPr/>
          </p:nvSpPr>
          <p:spPr bwMode="auto">
            <a:xfrm flipV="1">
              <a:off x="1383" y="2544"/>
              <a:ext cx="576" cy="240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 flipV="1">
              <a:off x="1383" y="2160"/>
              <a:ext cx="384" cy="624"/>
            </a:xfrm>
            <a:prstGeom prst="line">
              <a:avLst/>
            </a:prstGeom>
            <a:noFill/>
            <a:ln w="19050">
              <a:solidFill>
                <a:srgbClr val="006666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18449" name="Line 15"/>
            <p:cNvSpPr>
              <a:spLocks noChangeShapeType="1"/>
            </p:cNvSpPr>
            <p:nvPr/>
          </p:nvSpPr>
          <p:spPr bwMode="auto">
            <a:xfrm flipH="1" flipV="1">
              <a:off x="1767" y="2160"/>
              <a:ext cx="192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18450" name="Object 16"/>
            <p:cNvGraphicFramePr>
              <a:graphicFrameLocks noChangeAspect="1"/>
            </p:cNvGraphicFramePr>
            <p:nvPr/>
          </p:nvGraphicFramePr>
          <p:xfrm>
            <a:off x="1911" y="2580"/>
            <a:ext cx="328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3" imgW="369570" imgH="150495" progId="Equation.3">
                    <p:embed/>
                  </p:oleObj>
                </mc:Choice>
                <mc:Fallback>
                  <p:oleObj name="公式" r:id="rId3" imgW="369570" imgH="15049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" y="2580"/>
                          <a:ext cx="328" cy="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17"/>
            <p:cNvGraphicFramePr>
              <a:graphicFrameLocks noChangeAspect="1"/>
            </p:cNvGraphicFramePr>
            <p:nvPr/>
          </p:nvGraphicFramePr>
          <p:xfrm>
            <a:off x="1583" y="1990"/>
            <a:ext cx="53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5" imgW="602615" imgH="157480" progId="Equation.3">
                    <p:embed/>
                  </p:oleObj>
                </mc:Choice>
                <mc:Fallback>
                  <p:oleObj name="公式" r:id="rId5" imgW="602615" imgH="15748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3" y="1990"/>
                          <a:ext cx="536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18"/>
            <p:cNvGraphicFramePr>
              <a:graphicFrameLocks noChangeAspect="1"/>
            </p:cNvGraphicFramePr>
            <p:nvPr/>
          </p:nvGraphicFramePr>
          <p:xfrm>
            <a:off x="1900" y="2262"/>
            <a:ext cx="82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公式" r:id="rId7" imgW="931545" imgH="157480" progId="Equation.3">
                    <p:embed/>
                  </p:oleObj>
                </mc:Choice>
                <mc:Fallback>
                  <p:oleObj name="公式" r:id="rId7" imgW="931545" imgH="15748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" y="2262"/>
                          <a:ext cx="82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3" name="Object 19"/>
            <p:cNvGraphicFramePr>
              <a:graphicFrameLocks noChangeAspect="1"/>
            </p:cNvGraphicFramePr>
            <p:nvPr/>
          </p:nvGraphicFramePr>
          <p:xfrm>
            <a:off x="1383" y="2784"/>
            <a:ext cx="95" cy="1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公式" r:id="rId9" imgW="102870" imgH="109855" progId="Equation.3">
                    <p:embed/>
                  </p:oleObj>
                </mc:Choice>
                <mc:Fallback>
                  <p:oleObj name="公式" r:id="rId9" imgW="102870" imgH="10985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784"/>
                          <a:ext cx="95" cy="1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AAF86C-61AD-4548-A428-BC89FCAD4E9C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46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2052293" y="692778"/>
          <a:ext cx="5591175" cy="417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2451100" imgH="1828800" progId="Word.Document.8">
                  <p:embed/>
                </p:oleObj>
              </mc:Choice>
              <mc:Fallback>
                <p:oleObj name="Document" r:id="rId1" imgW="2451100" imgH="18288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293" y="692778"/>
                        <a:ext cx="5591175" cy="4170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395288" y="606425"/>
            <a:ext cx="259238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</a:rPr>
              <a:t>性质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395288" y="4416425"/>
            <a:ext cx="5400675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矢量函数导数的正交分量表示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0" y="3049588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9464" name="Object 6"/>
          <p:cNvGraphicFramePr>
            <a:graphicFrameLocks noChangeAspect="1"/>
          </p:cNvGraphicFramePr>
          <p:nvPr/>
        </p:nvGraphicFramePr>
        <p:xfrm>
          <a:off x="1189038" y="5137150"/>
          <a:ext cx="431958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177925" imgH="273685" progId="Equation.3">
                  <p:embed/>
                </p:oleObj>
              </mc:Choice>
              <mc:Fallback>
                <p:oleObj name="公式" r:id="rId3" imgW="1177925" imgH="2736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5137150"/>
                        <a:ext cx="4319587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D762EA-898E-4ABF-BB60-1925E0A512D4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323850" y="1484313"/>
            <a:ext cx="431958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矢量函数的积分 </a:t>
            </a:r>
            <a:endParaRPr kumimoji="1"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466725" y="2276475"/>
            <a:ext cx="2592388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 </a:t>
            </a:r>
            <a:endParaRPr kumimoji="1"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55254" y="2852936"/>
            <a:ext cx="8064896" cy="3270960"/>
          </a:xfrm>
          <a:prstGeom prst="rect">
            <a:avLst/>
          </a:prstGeom>
          <a:blipFill rotWithShape="0">
            <a:blip r:embed="rId1"/>
            <a:stretch>
              <a:fillRect l="-1209"/>
            </a:stretch>
          </a:blipFill>
        </p:spPr>
        <p:txBody>
          <a:bodyPr/>
          <a:lstStyle/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07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781437-DD1B-4F29-B60C-7F394EB4B684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396875" y="4437063"/>
            <a:ext cx="5111750" cy="5219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矢量函数积分的正交分量表示 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0" y="3111500"/>
            <a:ext cx="309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510" name="Object 4"/>
          <p:cNvGraphicFramePr>
            <a:graphicFrameLocks noChangeAspect="1"/>
          </p:cNvGraphicFramePr>
          <p:nvPr/>
        </p:nvGraphicFramePr>
        <p:xfrm>
          <a:off x="1187450" y="5300663"/>
          <a:ext cx="71294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664335" imgH="184785" progId="Equation.3">
                  <p:embed/>
                </p:oleObj>
              </mc:Choice>
              <mc:Fallback>
                <p:oleObj name="公式" r:id="rId1" imgW="1664335" imgH="1847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300663"/>
                        <a:ext cx="71294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395288" y="620713"/>
            <a:ext cx="2592387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性质</a:t>
            </a:r>
            <a:endParaRPr kumimoji="1" lang="zh-CN" altLang="en-US" sz="2800" b="1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512" name="Object 6"/>
          <p:cNvGraphicFramePr>
            <a:graphicFrameLocks noChangeAspect="1"/>
          </p:cNvGraphicFramePr>
          <p:nvPr/>
        </p:nvGraphicFramePr>
        <p:xfrm>
          <a:off x="-174625" y="769938"/>
          <a:ext cx="7258050" cy="349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文档" r:id="rId3" imgW="2342515" imgH="1130300" progId="Word.Document.8">
                  <p:embed/>
                </p:oleObj>
              </mc:Choice>
              <mc:Fallback>
                <p:oleObj name="文档" r:id="rId3" imgW="2342515" imgH="113030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74625" y="769938"/>
                        <a:ext cx="7258050" cy="349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矢量代数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E7910E-2333-4D1B-B582-63E196E06F65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srgbClr val="000000"/>
                    </a:solidFill>
                  </a:rPr>
                  <a:t>已知矢量函数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，以下关于它们的导数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zh-CN" altLang="en-US" sz="2600" i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’</m:t>
                    </m:r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的说法正确的是（     ）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A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B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C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D</a:t>
            </a:r>
            <a:endParaRPr lang="en-US" altLang="zh-CN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8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>
                <p:custDataLst>
                  <p:tags r:id="rId9"/>
                </p:custDataLst>
              </p:nvPr>
            </p:nvSpPr>
            <p:spPr>
              <a:xfrm>
                <a:off x="1813994" y="2636912"/>
                <a:ext cx="7078486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zh-CN" altLang="en-US" sz="2600" i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’</m:t>
                    </m:r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相同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813994" y="2636912"/>
                <a:ext cx="7078486" cy="857250"/>
              </a:xfrm>
              <a:prstGeom prst="rect">
                <a:avLst/>
              </a:prstGeom>
              <a:blipFill rotWithShape="1">
                <a:blip r:embed="rId11"/>
                <a:stretch>
                  <a:fillRect l="-6" t="-46" r="8" b="4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813994" y="3511600"/>
                <a:ext cx="7078486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zh-CN" altLang="en-US" sz="2600" i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’</m:t>
                    </m:r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垂直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1813994" y="3511600"/>
                <a:ext cx="7078486" cy="857250"/>
              </a:xfrm>
              <a:prstGeom prst="rect">
                <a:avLst/>
              </a:prstGeom>
              <a:blipFill rotWithShape="1">
                <a:blip r:embed="rId14"/>
                <a:stretch>
                  <a:fillRect l="-6" t="-6" r="8" b="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>
                <p:custDataLst>
                  <p:tags r:id="rId15"/>
                </p:custDataLst>
              </p:nvPr>
            </p:nvSpPr>
            <p:spPr>
              <a:xfrm>
                <a:off x="1813994" y="4386288"/>
                <a:ext cx="6296287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zh-CN" altLang="en-US" sz="2600" i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’</m:t>
                    </m:r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的方向仅取决于与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1813994" y="4386288"/>
                <a:ext cx="6296287" cy="857250"/>
              </a:xfrm>
              <a:prstGeom prst="rect">
                <a:avLst/>
              </a:prstGeom>
              <a:blipFill rotWithShape="1">
                <a:blip r:embed="rId17"/>
                <a:stretch>
                  <a:fillRect l="-7" t="-40" r="1" b="4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>
                <p:custDataLst>
                  <p:tags r:id="rId18"/>
                </p:custDataLst>
              </p:nvPr>
            </p:nvSpPr>
            <p:spPr>
              <a:xfrm>
                <a:off x="1828557" y="5260976"/>
                <a:ext cx="6296287" cy="85725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r>
                      <a:rPr lang="zh-CN" altLang="en-US" sz="2600" i="1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宋体" panose="02010600030101010101" pitchFamily="2" charset="-122"/>
                        <a:cs typeface="DejaVu Math TeX Gyre" panose="02000503000000000000" charset="0"/>
                      </a:rPr>
                      <m:t>’</m:t>
                    </m:r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600" dirty="0">
                    <a:solidFill>
                      <a:srgbClr val="000000"/>
                    </a:solidFill>
                  </a:rPr>
                  <a:t>的方向和大小均有关系</a:t>
                </a:r>
                <a:endParaRPr lang="zh-CN" altLang="en-US" sz="26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557" y="5260976"/>
                <a:ext cx="6296287" cy="857250"/>
              </a:xfrm>
              <a:prstGeom prst="rect">
                <a:avLst/>
              </a:prstGeom>
              <a:blipFill rotWithShape="1">
                <a:blip r:embed="rId20"/>
                <a:stretch>
                  <a:fillRect l="-6" t="-1333" b="-148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/>
          <p:cNvGrpSpPr/>
          <p:nvPr>
            <p:custDataLst>
              <p:tags r:id="rId2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ColorBlock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TypeText"/>
            <p:cNvSpPr txBox="1"/>
            <p:nvPr>
              <p:custDataLst>
                <p:tags r:id="rId2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sym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2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44F3F20-824E-445B-B9BA-A903AE118F1E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532" name="Object 2"/>
          <p:cNvGraphicFramePr>
            <a:graphicFrameLocks noChangeAspect="1"/>
          </p:cNvGraphicFramePr>
          <p:nvPr/>
        </p:nvGraphicFramePr>
        <p:xfrm>
          <a:off x="298450" y="2133600"/>
          <a:ext cx="8666163" cy="287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2520315" imgH="835660" progId="Word.Document.8">
                  <p:embed/>
                </p:oleObj>
              </mc:Choice>
              <mc:Fallback>
                <p:oleObj name="Document" r:id="rId1" imgW="2520315" imgH="83566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2133600"/>
                        <a:ext cx="8666163" cy="287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ea typeface="楷体_GB2312" pitchFamily="49" charset="-122"/>
              </a:rPr>
              <a:t>矢量代数</a:t>
            </a:r>
            <a:endParaRPr lang="zh-CN" altLang="en-US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23555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92B275-7974-4DC9-BFE0-854CA17771D9}" type="slidenum">
              <a:rPr lang="en-US" altLang="zh-CN"/>
            </a:fld>
            <a:endParaRPr lang="en-US" altLang="zh-CN"/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319088" y="882650"/>
          <a:ext cx="9221787" cy="564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文档" r:id="rId1" imgW="2828925" imgH="1732915" progId="Word.Document.8">
                  <p:embed/>
                </p:oleObj>
              </mc:Choice>
              <mc:Fallback>
                <p:oleObj name="文档" r:id="rId1" imgW="2828925" imgH="17329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882650"/>
                        <a:ext cx="9221787" cy="564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79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6F4B2C-CD16-4516-B463-478C3CFD1AF5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323850" y="1916113"/>
          <a:ext cx="8569325" cy="354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2664460" imgH="1096010" progId="Word.Document.8">
                  <p:embed/>
                </p:oleObj>
              </mc:Choice>
              <mc:Fallback>
                <p:oleObj name="Document" r:id="rId1" imgW="2664460" imgH="10960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916113"/>
                        <a:ext cx="8569325" cy="354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页脚占位符 1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rPr>
              <a:t>矢量代数</a:t>
            </a:r>
            <a:endParaRPr lang="zh-CN" altLang="en-US"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03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2A1389-B58D-41C8-8BC4-4A4CB0CCE7CA}" type="slidenum">
              <a:rPr lang="en-US" altLang="zh-CN">
                <a:latin typeface="微软雅黑" panose="020B0503020204020204" charset="-122"/>
                <a:ea typeface="微软雅黑" panose="020B0503020204020204" charset="-122"/>
              </a:rPr>
            </a:fld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5604" name="Object 2"/>
          <p:cNvGraphicFramePr>
            <a:graphicFrameLocks noChangeAspect="1"/>
          </p:cNvGraphicFramePr>
          <p:nvPr/>
        </p:nvGraphicFramePr>
        <p:xfrm>
          <a:off x="363538" y="1976438"/>
          <a:ext cx="9032875" cy="368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文档" r:id="rId1" imgW="2986405" imgH="1212215" progId="Word.Document.8">
                  <p:embed/>
                </p:oleObj>
              </mc:Choice>
              <mc:Fallback>
                <p:oleObj name="文档" r:id="rId1" imgW="2986405" imgH="121221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1976438"/>
                        <a:ext cx="9032875" cy="368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4.xml><?xml version="1.0" encoding="utf-8"?>
<p:tagLst xmlns:p="http://schemas.openxmlformats.org/presentationml/2006/main">
  <p:tag name="RAINPROBLEM" val="ProblemBody"/>
</p:tagLst>
</file>

<file path=ppt/tags/tag9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9.xml><?xml version="1.0" encoding="utf-8"?>
<p:tagLst xmlns:p="http://schemas.openxmlformats.org/presentationml/2006/main">
  <p:tag name="RAINPROBLEM" val="ProblemSubmit"/>
  <p:tag name="RAINPROBLEMTYPE" val="MultipleChoiceMA"/>
</p:tagLst>
</file>

<file path=ppt/tags/tag10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1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3.xml><?xml version="1.0" encoding="utf-8"?>
<p:tagLst xmlns:p="http://schemas.openxmlformats.org/presentationml/2006/main">
  <p:tag name="RAINPROBLEM" val="ProblemItem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Item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" val="ProblemSetting"/>
  <p:tag name="RAINPROBLEMTYPE" val="MultipleChoiceMA"/>
</p:tagLst>
</file>

<file path=ppt/tags/tag116.xml><?xml version="1.0" encoding="utf-8"?>
<p:tagLst xmlns:p="http://schemas.openxmlformats.org/presentationml/2006/main">
  <p:tag name="RAINPROBLEM" val="MultipleChoiceMA"/>
  <p:tag name="PROBLEMSCORE" val="2.0"/>
  <p:tag name="PROBLEMSCORE_HALF" val="1.0"/>
</p:tagLst>
</file>

<file path=ppt/tags/tag117.xml><?xml version="1.0" encoding="utf-8"?>
<p:tagLst xmlns:p="http://schemas.openxmlformats.org/presentationml/2006/main">
  <p:tag name="RAINPROBLEM" val="ProblemBody"/>
</p:tagLst>
</file>

<file path=ppt/tags/tag118.xml><?xml version="1.0" encoding="utf-8"?>
<p:tagLst xmlns:p="http://schemas.openxmlformats.org/presentationml/2006/main">
  <p:tag name="RAINPROBLEM" val="ProblemBody"/>
</p:tagLst>
</file>

<file path=ppt/tags/tag1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p="http://schemas.openxmlformats.org/presentationml/2006/main">
  <p:tag name="RAINPROBLEM" val="ProblemSubmit"/>
  <p:tag name="RAINPROBLEMTYPE" val="MultipleChoice"/>
</p:tagLst>
</file>

<file path=ppt/tags/tag124.xml><?xml version="1.0" encoding="utf-8"?>
<p:tagLst xmlns:p="http://schemas.openxmlformats.org/presentationml/2006/main">
  <p:tag name="RAINPROBLEMTYPE" val="ProblemTypeMarker"/>
</p:tagLst>
</file>

<file path=ppt/tags/tag125.xml><?xml version="1.0" encoding="utf-8"?>
<p:tagLst xmlns:p="http://schemas.openxmlformats.org/presentationml/2006/main">
  <p:tag name="RAINPROBLEMTYPE" val="ProblemTypeMarker"/>
</p:tagLst>
</file>

<file path=ppt/tags/tag126.xml><?xml version="1.0" encoding="utf-8"?>
<p:tagLst xmlns:p="http://schemas.openxmlformats.org/presentationml/2006/main">
  <p:tag name="RAINPROBLEMTYPE" val="ProblemTypeMarker"/>
</p:tagLst>
</file>

<file path=ppt/tags/tag127.xml><?xml version="1.0" encoding="utf-8"?>
<p:tagLst xmlns:p="http://schemas.openxmlformats.org/presentationml/2006/main">
  <p:tag name="RAINPROBLEMTYPE" val="ProblemTypeMarker"/>
</p:tagLst>
</file>

<file path=ppt/tags/tag128.xml><?xml version="1.0" encoding="utf-8"?>
<p:tagLst xmlns:p="http://schemas.openxmlformats.org/presentationml/2006/main">
  <p:tag name="RAINPROBLEMTYPE" val="ProblemTypeMarker"/>
</p:tagLst>
</file>

<file path=ppt/tags/tag129.xml><?xml version="1.0" encoding="utf-8"?>
<p:tagLst xmlns:p="http://schemas.openxmlformats.org/presentationml/2006/main">
  <p:tag name="RAINPROBLEM" val="ProblemSetting"/>
  <p:tag name="RAINPROBLEMTYPE" val="MultipleChoice"/>
</p:tagLst>
</file>

<file path=ppt/tags/tag130.xml><?xml version="1.0" encoding="utf-8"?>
<p:tagLst xmlns:p="http://schemas.openxmlformats.org/presentationml/2006/main">
  <p:tag name="RAINPROBLEM" val="MultipleChoice"/>
  <p:tag name="PROBLEMSCORE" val="1.0"/>
</p:tagLst>
</file>

<file path=ppt/tags/tag131.xml><?xml version="1.0" encoding="utf-8"?>
<p:tagLst xmlns:p="http://schemas.openxmlformats.org/presentationml/2006/main">
  <p:tag name="RAINPROBLEM" val="ProblemBody"/>
</p:tagLst>
</file>

<file path=ppt/tags/tag1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p="http://schemas.openxmlformats.org/presentationml/2006/main">
  <p:tag name="RAINPROBLEM" val="ProblemSubmit"/>
  <p:tag name="RAINPROBLEMTYPE" val="MultipleChoice"/>
</p:tagLst>
</file>

<file path=ppt/tags/tag137.xml><?xml version="1.0" encoding="utf-8"?>
<p:tagLst xmlns:p="http://schemas.openxmlformats.org/presentationml/2006/main">
  <p:tag name="RAINPROBLEM" val="ProblemItem"/>
</p:tagLst>
</file>

<file path=ppt/tags/tag138.xml><?xml version="1.0" encoding="utf-8"?>
<p:tagLst xmlns:p="http://schemas.openxmlformats.org/presentationml/2006/main">
  <p:tag name="RAINPROBLEM" val="ProblemItem"/>
</p:tagLst>
</file>

<file path=ppt/tags/tag139.xml><?xml version="1.0" encoding="utf-8"?>
<p:tagLst xmlns:p="http://schemas.openxmlformats.org/presentationml/2006/main">
  <p:tag name="RAINPROBLEM" val="ProblemItem"/>
</p:tagLst>
</file>

<file path=ppt/tags/tag140.xml><?xml version="1.0" encoding="utf-8"?>
<p:tagLst xmlns:p="http://schemas.openxmlformats.org/presentationml/2006/main">
  <p:tag name="RAINPROBLEM" val="ProblemItem"/>
</p:tagLst>
</file>

<file path=ppt/tags/tag141.xml><?xml version="1.0" encoding="utf-8"?>
<p:tagLst xmlns:p="http://schemas.openxmlformats.org/presentationml/2006/main">
  <p:tag name="RAINPROBLEM" val="ProblemItem"/>
</p:tagLst>
</file>

<file path=ppt/tags/tag142.xml><?xml version="1.0" encoding="utf-8"?>
<p:tagLst xmlns:p="http://schemas.openxmlformats.org/presentationml/2006/main">
  <p:tag name="RAINPROBLEM" val="ProblemItem"/>
</p:tagLst>
</file>

<file path=ppt/tags/tag143.xml><?xml version="1.0" encoding="utf-8"?>
<p:tagLst xmlns:p="http://schemas.openxmlformats.org/presentationml/2006/main">
  <p:tag name="RAINPROBLEM" val="ProblemItem"/>
</p:tagLst>
</file>

<file path=ppt/tags/tag144.xml><?xml version="1.0" encoding="utf-8"?>
<p:tagLst xmlns:p="http://schemas.openxmlformats.org/presentationml/2006/main">
  <p:tag name="RAINPROBLEM" val="ProblemItem"/>
</p:tagLst>
</file>

<file path=ppt/tags/tag145.xml><?xml version="1.0" encoding="utf-8"?>
<p:tagLst xmlns:p="http://schemas.openxmlformats.org/presentationml/2006/main">
  <p:tag name="RAINPROBLEMTYPE" val="ProblemTypeMarker"/>
</p:tagLst>
</file>

<file path=ppt/tags/tag146.xml><?xml version="1.0" encoding="utf-8"?>
<p:tagLst xmlns:p="http://schemas.openxmlformats.org/presentationml/2006/main">
  <p:tag name="RAINPROBLEMTYPE" val="ProblemTypeMarker"/>
</p:tagLst>
</file>

<file path=ppt/tags/tag147.xml><?xml version="1.0" encoding="utf-8"?>
<p:tagLst xmlns:p="http://schemas.openxmlformats.org/presentationml/2006/main">
  <p:tag name="RAINPROBLEMTYPE" val="ProblemTypeMarker"/>
</p:tagLst>
</file>

<file path=ppt/tags/tag148.xml><?xml version="1.0" encoding="utf-8"?>
<p:tagLst xmlns:p="http://schemas.openxmlformats.org/presentationml/2006/main">
  <p:tag name="RAINPROBLEMTYPE" val="ProblemTypeMarker"/>
</p:tagLst>
</file>

<file path=ppt/tags/tag149.xml><?xml version="1.0" encoding="utf-8"?>
<p:tagLst xmlns:p="http://schemas.openxmlformats.org/presentationml/2006/main">
  <p:tag name="RAINPROBLEMTYPE" val="ProblemTypeMarker"/>
</p:tagLst>
</file>

<file path=ppt/tags/tag150.xml><?xml version="1.0" encoding="utf-8"?>
<p:tagLst xmlns:p="http://schemas.openxmlformats.org/presentationml/2006/main">
  <p:tag name="RAINPROBLEM" val="ProblemSetting"/>
  <p:tag name="RAINPROBLEMTYPE" val="MultipleChoice"/>
</p:tagLst>
</file>

<file path=ppt/tags/tag151.xml><?xml version="1.0" encoding="utf-8"?>
<p:tagLst xmlns:p="http://schemas.openxmlformats.org/presentationml/2006/main">
  <p:tag name="RAINPROBLEM" val="MultipleChoice"/>
  <p:tag name="PROBLEMSCORE" val="1.0"/>
</p:tagLst>
</file>

<file path=ppt/tags/tag152.xml><?xml version="1.0" encoding="utf-8"?>
<p:tagLst xmlns:p="http://schemas.openxmlformats.org/presentationml/2006/main">
  <p:tag name="RAINPROBLEM" val="ProblemBody"/>
</p:tagLst>
</file>

<file path=ppt/tags/tag153.xml><?xml version="1.0" encoding="utf-8"?>
<p:tagLst xmlns:p="http://schemas.openxmlformats.org/presentationml/2006/main">
  <p:tag name="RAINPROBLEM" val="ProblemBody"/>
</p:tagLst>
</file>

<file path=ppt/tags/tag15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58.xml><?xml version="1.0" encoding="utf-8"?>
<p:tagLst xmlns:p="http://schemas.openxmlformats.org/presentationml/2006/main">
  <p:tag name="RAINPROBLEM" val="ProblemSubmit"/>
  <p:tag name="RAINPROBLEMTYPE" val="MultipleChoice"/>
</p:tagLst>
</file>

<file path=ppt/tags/tag159.xml><?xml version="1.0" encoding="utf-8"?>
<p:tagLst xmlns:p="http://schemas.openxmlformats.org/presentationml/2006/main">
  <p:tag name="RAINPROBLEM" val="ProblemItem"/>
</p:tagLst>
</file>

<file path=ppt/tags/tag160.xml><?xml version="1.0" encoding="utf-8"?>
<p:tagLst xmlns:p="http://schemas.openxmlformats.org/presentationml/2006/main">
  <p:tag name="RAINPROBLEM" val="ProblemItem"/>
</p:tagLst>
</file>

<file path=ppt/tags/tag161.xml><?xml version="1.0" encoding="utf-8"?>
<p:tagLst xmlns:p="http://schemas.openxmlformats.org/presentationml/2006/main">
  <p:tag name="RAINPROBLEM" val="ProblemItem"/>
</p:tagLst>
</file>

<file path=ppt/tags/tag162.xml><?xml version="1.0" encoding="utf-8"?>
<p:tagLst xmlns:p="http://schemas.openxmlformats.org/presentationml/2006/main">
  <p:tag name="RAINPROBLEM" val="ProblemItem"/>
</p:tagLst>
</file>

<file path=ppt/tags/tag163.xml><?xml version="1.0" encoding="utf-8"?>
<p:tagLst xmlns:p="http://schemas.openxmlformats.org/presentationml/2006/main">
  <p:tag name="RAINPROBLEM" val="ProblemItem"/>
</p:tagLst>
</file>

<file path=ppt/tags/tag164.xml><?xml version="1.0" encoding="utf-8"?>
<p:tagLst xmlns:p="http://schemas.openxmlformats.org/presentationml/2006/main">
  <p:tag name="RAINPROBLEM" val="ProblemItem"/>
</p:tagLst>
</file>

<file path=ppt/tags/tag165.xml><?xml version="1.0" encoding="utf-8"?>
<p:tagLst xmlns:p="http://schemas.openxmlformats.org/presentationml/2006/main">
  <p:tag name="RAINPROBLEM" val="ProblemItem"/>
</p:tagLst>
</file>

<file path=ppt/tags/tag166.xml><?xml version="1.0" encoding="utf-8"?>
<p:tagLst xmlns:p="http://schemas.openxmlformats.org/presentationml/2006/main">
  <p:tag name="RAINPROBLEM" val="ProblemItem"/>
</p:tagLst>
</file>

<file path=ppt/tags/tag167.xml><?xml version="1.0" encoding="utf-8"?>
<p:tagLst xmlns:p="http://schemas.openxmlformats.org/presentationml/2006/main">
  <p:tag name="RAINPROBLEMTYPE" val="ProblemTypeMarker"/>
</p:tagLst>
</file>

<file path=ppt/tags/tag168.xml><?xml version="1.0" encoding="utf-8"?>
<p:tagLst xmlns:p="http://schemas.openxmlformats.org/presentationml/2006/main">
  <p:tag name="RAINPROBLEMTYPE" val="ProblemTypeMarker"/>
</p:tagLst>
</file>

<file path=ppt/tags/tag169.xml><?xml version="1.0" encoding="utf-8"?>
<p:tagLst xmlns:p="http://schemas.openxmlformats.org/presentationml/2006/main">
  <p:tag name="RAINPROBLEMTYPE" val="ProblemTypeMarker"/>
</p:tagLst>
</file>

<file path=ppt/tags/tag170.xml><?xml version="1.0" encoding="utf-8"?>
<p:tagLst xmlns:p="http://schemas.openxmlformats.org/presentationml/2006/main">
  <p:tag name="RAINPROBLEMTYPE" val="ProblemTypeMarker"/>
</p:tagLst>
</file>

<file path=ppt/tags/tag171.xml><?xml version="1.0" encoding="utf-8"?>
<p:tagLst xmlns:p="http://schemas.openxmlformats.org/presentationml/2006/main">
  <p:tag name="RAINPROBLEMTYPE" val="ProblemTypeMarker"/>
</p:tagLst>
</file>

<file path=ppt/tags/tag172.xml><?xml version="1.0" encoding="utf-8"?>
<p:tagLst xmlns:p="http://schemas.openxmlformats.org/presentationml/2006/main">
  <p:tag name="RAINPROBLEM" val="ProblemSetting"/>
  <p:tag name="RAINPROBLEMTYPE" val="MultipleChoice"/>
</p:tagLst>
</file>

<file path=ppt/tags/tag173.xml><?xml version="1.0" encoding="utf-8"?>
<p:tagLst xmlns:p="http://schemas.openxmlformats.org/presentationml/2006/main">
  <p:tag name="RAINPROBLEM" val="MultipleChoice"/>
  <p:tag name="PROBLEMSCORE" val="1.0"/>
</p:tagLst>
</file>

<file path=ppt/tags/tag174.xml><?xml version="1.0" encoding="utf-8"?>
<p:tagLst xmlns:p="http://schemas.openxmlformats.org/presentationml/2006/main">
  <p:tag name="commondata" val="eyJoZGlkIjoiMmViYTNjZDI4YTJhNDI2NzFlOWE4MWQ5MTY5Y2JkN2QifQ==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WPS 演示</Application>
  <PresentationFormat>全屏显示(4:3)</PresentationFormat>
  <Paragraphs>311</Paragraphs>
  <Slides>25</Slides>
  <Notes>0</Notes>
  <HiddenSlides>4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68</vt:i4>
      </vt:variant>
      <vt:variant>
        <vt:lpstr>幻灯片标题</vt:lpstr>
      </vt:variant>
      <vt:variant>
        <vt:i4>25</vt:i4>
      </vt:variant>
    </vt:vector>
  </HeadingPairs>
  <TitlesOfParts>
    <vt:vector size="107" baseType="lpstr">
      <vt:lpstr>Arial</vt:lpstr>
      <vt:lpstr>宋体</vt:lpstr>
      <vt:lpstr>Wingdings</vt:lpstr>
      <vt:lpstr>楷体_GB2312</vt:lpstr>
      <vt:lpstr>新宋体</vt:lpstr>
      <vt:lpstr>Wingdings</vt:lpstr>
      <vt:lpstr>微软雅黑</vt:lpstr>
      <vt:lpstr>Times New Roman</vt:lpstr>
      <vt:lpstr>黑体</vt:lpstr>
      <vt:lpstr>DejaVu Math TeX Gyre</vt:lpstr>
      <vt:lpstr>Arial Unicode MS</vt:lpstr>
      <vt:lpstr>Cambria Math</vt:lpstr>
      <vt:lpstr>自定义设计方案</vt:lpstr>
      <vt:lpstr>1_自定义设计方案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欢迎大家来到物理学的神奇世界！</vt:lpstr>
      <vt:lpstr>大学物理</vt:lpstr>
      <vt:lpstr>附录一 矢量</vt:lpstr>
      <vt:lpstr>1. 标量和矢量</vt:lpstr>
      <vt:lpstr>PowerPoint 演示文稿</vt:lpstr>
      <vt:lpstr>PowerPoint 演示文稿</vt:lpstr>
      <vt:lpstr>2. 矢量合成的几何法和解析法</vt:lpstr>
      <vt:lpstr>PowerPoint 演示文稿</vt:lpstr>
      <vt:lpstr>PowerPoint 演示文稿</vt:lpstr>
      <vt:lpstr>PowerPoint 演示文稿</vt:lpstr>
      <vt:lpstr>PowerPoint 演示文稿</vt:lpstr>
      <vt:lpstr>3. 矢量的标积和矢积</vt:lpstr>
      <vt:lpstr>PowerPoint 演示文稿</vt:lpstr>
      <vt:lpstr>PowerPoint 演示文稿</vt:lpstr>
      <vt:lpstr>PowerPoint 演示文稿</vt:lpstr>
      <vt:lpstr>矢量的导数与积分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江南大学理学院物理系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刘慧娟</dc:creator>
  <cp:lastModifiedBy>user</cp:lastModifiedBy>
  <cp:revision>150</cp:revision>
  <dcterms:created xsi:type="dcterms:W3CDTF">2025-03-02T14:39:00Z</dcterms:created>
  <dcterms:modified xsi:type="dcterms:W3CDTF">2025-03-06T01:40:04Z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CEA50C96C61F45589D25CA87467D07D3_12</vt:lpwstr>
  </property>
  <property fmtid="{D5CDD505-2E9C-101B-9397-08002B2CF9AE}" pid="3" name="KSOProductBuildVer">
    <vt:lpwstr>2052-12.1.0.17827</vt:lpwstr>
  </property>
</Properties>
</file>